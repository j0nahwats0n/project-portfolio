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3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7" r:id="rId35"/>
    <p:sldId id="290" r:id="rId36"/>
    <p:sldId id="289" r:id="rId37"/>
  </p:sldIdLst>
  <p:sldSz cx="9144000" cy="6858000" type="screen4x3"/>
  <p:notesSz cx="7023100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jHVHUs6CqNFIgGESNMhgMqd12o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48F040-0A8B-4E72-A747-29BAFFFC2B0B}">
  <a:tblStyle styleId="{E148F040-0A8B-4E72-A747-29BAFFFC2B0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F1E6"/>
          </a:solidFill>
        </a:fill>
      </a:tcStyle>
    </a:wholeTbl>
    <a:band1H>
      <a:tcTxStyle/>
      <a:tcStyle>
        <a:tcBdr/>
        <a:fill>
          <a:solidFill>
            <a:srgbClr val="F9E2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9E2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81365"/>
  </p:normalViewPr>
  <p:slideViewPr>
    <p:cSldViewPr snapToGrid="0">
      <p:cViewPr varScale="1">
        <p:scale>
          <a:sx n="86" d="100"/>
          <a:sy n="86" d="100"/>
        </p:scale>
        <p:origin x="188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8132" y="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specify majors</a:t>
            </a:r>
            <a:endParaRPr/>
          </a:p>
        </p:txBody>
      </p:sp>
      <p:sp>
        <p:nvSpPr>
          <p:cNvPr id="115" name="Google Shape;115;p1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Clarify what ACHA-NCHA means</a:t>
            </a: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4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6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7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7h-8h is optimal range... 28.8% in poor, 36.8% in fair, 48.4% in good, 58.7% in very good, 60.8% in excellent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Suboptimal range 6h or less...  63.5% in poor,  57.2% in fair,  46.5% in good, 35.8% in very good, 33.2% in excellent</a:t>
            </a:r>
            <a:endParaRPr/>
          </a:p>
        </p:txBody>
      </p:sp>
      <p:sp>
        <p:nvSpPr>
          <p:cNvPr id="264" name="Google Shape;264;p17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 spacing 1.15 and 12 after for each slide</a:t>
            </a:r>
            <a:endParaRPr/>
          </a:p>
        </p:txBody>
      </p:sp>
      <p:sp>
        <p:nvSpPr>
          <p:cNvPr id="273" name="Google Shape;273;p18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9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7h-8h is optimal range... 37.7% in not, 40.5% in rarely, 46.3% in sometimes, 53.8% in often, 54.8% in very resilient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Suboptimal range 6h or less... 54.2% in not, 52.4% in rarely, 48% in sometimes, 41% in often,  39.9% in very resilient</a:t>
            </a:r>
            <a:endParaRPr/>
          </a:p>
        </p:txBody>
      </p:sp>
      <p:sp>
        <p:nvSpPr>
          <p:cNvPr id="283" name="Google Shape;283;p19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20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0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1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 stress actually produces better results than no stress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7-8 hours optimal group – 63.7% at low stress vs 38.7% at high stress, whereas 6hrs or less (suboptimal) is around 10% at low stress compared to nearly 30% at high stress</a:t>
            </a:r>
            <a:endParaRPr/>
          </a:p>
        </p:txBody>
      </p:sp>
      <p:sp>
        <p:nvSpPr>
          <p:cNvPr id="302" name="Google Shape;302;p21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2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graph displays the percentage students without each diagnosis who reported insomnia, compared to the percentage of students with that diagnosis who reported insomnia.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So, for example, </a:t>
            </a: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among students with ADHD, 20% have insomnia and 80% do not, whereas only 5% of students without-ADHD have insomnia.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indicates that insomnia frequently co-occurs with other mental or behavioral health disorders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Anxiety: Students with anxiety are 9 times more likely to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have insomnia</a:t>
            </a:r>
            <a:endParaRPr lang="en-US" sz="1200" b="0" i="0" u="none" strike="noStrike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Depression: 8.5 times more likely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Substance: 5 times more likely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Apnea/ADHD/Academic: 4 times more likely</a:t>
            </a:r>
          </a:p>
        </p:txBody>
      </p:sp>
      <p:sp>
        <p:nvSpPr>
          <p:cNvPr id="311" name="Google Shape;311;p22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3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3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9d644c6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ad9d644c69_0_13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ad9d644c69_0_13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2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Talk about hole between 6-7 hours, talk about not including over 9 hours, and talk about why this is “optimal” sleep</a:t>
            </a:r>
            <a:endParaRPr/>
          </a:p>
        </p:txBody>
      </p:sp>
      <p:sp>
        <p:nvSpPr>
          <p:cNvPr id="341" name="Google Shape;341;p24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5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we have the data used for testing (20%) – the model had 3,275 true negatives, 5,628 false negatives, 9,278 true positives, and 2,254 false positives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 TO THE MODEL BUILDING AND TESTING SECTION OF THE PHYSICAL REPORT FOR FORMULAS AND MORE INFORMATION</a:t>
            </a:r>
            <a:endParaRPr dirty="0"/>
          </a:p>
        </p:txBody>
      </p:sp>
      <p:sp>
        <p:nvSpPr>
          <p:cNvPr id="350" name="Google Shape;350;p25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6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of these scores are calculated with the correlation matrix</a:t>
            </a:r>
            <a:endParaRPr/>
          </a:p>
        </p:txBody>
      </p:sp>
      <p:sp>
        <p:nvSpPr>
          <p:cNvPr id="360" name="Google Shape;360;p26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7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each increase in stress level (no/low/moderate/high stress), the odds of optimal sleep decrease by 26%.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each improvement in self-reported overall health rating (poor/fair/good/very good/excellent), the odds of optimal sleep increase by 22%.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expected relationship was that the odds of optimal sleep were reduced by 15% when diagnosed insomnia was present.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However, an unexpected relationship was the presence of diagnosed anxiety in students showing, 14% higher odds of obtaining optimal sleep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7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d9d644c6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ad9d644c69_0_5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ad9d644c69_0_5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2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8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8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9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9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30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0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d8ce504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g3ad8ce5045d_0_0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Caring for humanity and the world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project helps improve student well-being by identifying sleep risks which promotes appropriate support and responsible health decisions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throughout a lifetime: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shows questioning and adaptation in refining and exploring data and research as well as remaining open to new findings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Thinking critically: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applies analytical reasoning to evaluate predictors, recognize limitations, identify unexpected results, and propose evidence-based solutions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Crossing boundaries and disciplines: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demonstrates interdisciplinary thinking by merging elements of psychology, public health, statistics, and education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creativity: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uses creative visualization and model design choices to identify patterns, interpret complex behaviors, and propose innovation in future research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g3ad8ce5045d_0_0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2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31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more references, please refer to my report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5" name="Google Shape;435;p31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32:notes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EVERYONE FOR COMING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AFTER QUESTIONS, INTODUCE ANTHONY “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“Finding the Net: A Predictive Look at NHL Shooting Performance” – 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Anthony Mollica”</a:t>
            </a:r>
            <a:endParaRPr dirty="0"/>
          </a:p>
        </p:txBody>
      </p:sp>
      <p:sp>
        <p:nvSpPr>
          <p:cNvPr id="426" name="Google Shape;426;p32:notes"/>
          <p:cNvSpPr txBox="1">
            <a:spLocks noGrp="1"/>
          </p:cNvSpPr>
          <p:nvPr>
            <p:ph type="sldNum" idx="12"/>
          </p:nvPr>
        </p:nvSpPr>
        <p:spPr>
          <a:xfrm>
            <a:off x="3978132" y="8842031"/>
            <a:ext cx="3043343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25" tIns="46200" rIns="92425" bIns="462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6"/>
          <p:cNvSpPr txBox="1"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Times New Roman"/>
              <a:buNone/>
              <a:defRPr sz="4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6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5"/>
          <p:cNvSpPr txBox="1"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Times New Roman"/>
              <a:buNone/>
              <a:defRPr sz="4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35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8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Times New Roman"/>
              <a:buNone/>
              <a:defRPr sz="47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0" rIns="4570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1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37084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marL="914400" lvl="1" indent="-36576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body" idx="2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7084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marL="914400" lvl="1" indent="-36576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40"/>
              <a:buNone/>
              <a:defRPr sz="2300" b="1" cap="none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body" idx="2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5052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body" idx="3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40"/>
              <a:buNone/>
              <a:defRPr sz="2300" b="1" cap="none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body" idx="4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5052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3"/>
          <p:cNvSpPr txBox="1"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Times New Roman"/>
              <a:buNone/>
              <a:defRPr sz="2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body" idx="1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91160" algn="l"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marL="914400" lvl="1" indent="-388619" algn="l"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body" idx="2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43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3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43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4"/>
          <p:cNvSpPr txBox="1"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0" tIns="45700" rIns="4570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Times New Roman"/>
              <a:buNone/>
              <a:defRPr sz="2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4"/>
          <p:cNvSpPr>
            <a:spLocks noGrp="1"/>
          </p:cNvSpPr>
          <p:nvPr>
            <p:ph type="pic" idx="2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BABABB"/>
          </a:solidFill>
          <a:ln>
            <a:noFill/>
          </a:ln>
        </p:spPr>
      </p:sp>
      <p:sp>
        <p:nvSpPr>
          <p:cNvPr id="92" name="Google Shape;92;p44"/>
          <p:cNvSpPr txBox="1">
            <a:spLocks noGrp="1"/>
          </p:cNvSpPr>
          <p:nvPr>
            <p:ph type="body" idx="1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44"/>
          <p:cNvSpPr txBox="1">
            <a:spLocks noGrp="1"/>
          </p:cNvSpPr>
          <p:nvPr>
            <p:ph type="dt" idx="10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4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4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4"/>
          <p:cNvSpPr txBox="1">
            <a:spLocks noGrp="1"/>
          </p:cNvSpPr>
          <p:nvPr>
            <p:ph type="ftr" idx="11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4"/>
          <p:cNvSpPr txBox="1">
            <a:spLocks noGrp="1"/>
          </p:cNvSpPr>
          <p:nvPr>
            <p:ph type="sldNum" idx="12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5"/>
          <p:cNvSpPr txBox="1">
            <a:spLocks noGrp="1"/>
          </p:cNvSpPr>
          <p:nvPr>
            <p:ph type="body" idx="1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1" name="Google Shape;101;p45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5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6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6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6"/>
          <p:cNvSpPr txBox="1">
            <a:spLocks noGrp="1"/>
          </p:cNvSpPr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6"/>
          <p:cNvSpPr txBox="1">
            <a:spLocks noGrp="1"/>
          </p:cNvSpPr>
          <p:nvPr>
            <p:ph type="body" idx="1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lvl="0" indent="-32004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marL="914400" lvl="1" indent="-331469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6"/>
          <p:cNvSpPr txBox="1">
            <a:spLocks noGrp="1"/>
          </p:cNvSpPr>
          <p:nvPr>
            <p:ph type="ftr" idx="11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4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Times New Roman"/>
              <a:buNone/>
              <a:defRPr sz="45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marR="0" lvl="0" indent="-3911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86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4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4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3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Times New Roman"/>
              <a:buNone/>
              <a:defRPr sz="45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>
            <a:lvl1pPr marL="457200" marR="0" lvl="0" indent="-3911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86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ftr" idx="11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ctrTitle"/>
          </p:nvPr>
        </p:nvSpPr>
        <p:spPr>
          <a:xfrm>
            <a:off x="533400" y="1812865"/>
            <a:ext cx="8077200" cy="193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 b="0"/>
              <a:t>Sleep Health in College Students:</a:t>
            </a:r>
            <a:br>
              <a:rPr lang="en-US" sz="3600" b="0"/>
            </a:br>
            <a:r>
              <a:rPr lang="en-US" sz="3600" b="0"/>
              <a:t>A Multivariable Predictive Modeling Analysis 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0" y="3745297"/>
            <a:ext cx="914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Jonah Watson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</a:t>
            </a:r>
            <a:r>
              <a:rPr lang="en-US" sz="24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Yasser Alginahi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December 8, 2025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192819" y="5562600"/>
            <a:ext cx="8493981" cy="11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800"/>
              <a:buFont typeface="Times New Roman"/>
              <a:buNone/>
            </a:pPr>
            <a:endParaRPr sz="2800" b="0" i="0" u="none" strike="noStrike" cap="none">
              <a:solidFill>
                <a:srgbClr val="BEE1E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7499"/>
            <a:ext cx="1651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 descr="A logo with colorful columns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0"/>
            <a:ext cx="1828800" cy="181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Presentation Content</a:t>
            </a:r>
            <a:endParaRPr/>
          </a:p>
        </p:txBody>
      </p:sp>
      <p:sp>
        <p:nvSpPr>
          <p:cNvPr id="128" name="Google Shape;128;p2"/>
          <p:cNvSpPr txBox="1">
            <a:spLocks noGrp="1"/>
          </p:cNvSpPr>
          <p:nvPr>
            <p:ph type="body" idx="1"/>
          </p:nvPr>
        </p:nvSpPr>
        <p:spPr>
          <a:xfrm>
            <a:off x="457200" y="1686798"/>
            <a:ext cx="8229600" cy="492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Project Overview 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Model Building &amp; Testing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Results &amp; Discussion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Conclusion &amp; Connection to Ribbons of Excellence</a:t>
            </a:r>
            <a:endParaRPr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dirty="0"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60"/>
              <a:buChar char="◼"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Acknowledgements</a:t>
            </a:r>
            <a:endParaRPr dirty="0"/>
          </a:p>
          <a:p>
            <a:pPr marL="118871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SzPts val="1920"/>
              <a:buNone/>
            </a:pPr>
            <a:endParaRPr sz="2400" dirty="0"/>
          </a:p>
        </p:txBody>
      </p:sp>
      <p:sp>
        <p:nvSpPr>
          <p:cNvPr id="129" name="Google Shape;129;p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2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8328" y="155448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266700" y="150876"/>
            <a:ext cx="8610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/>
          </a:p>
        </p:txBody>
      </p:sp>
      <p:sp>
        <p:nvSpPr>
          <p:cNvPr id="137" name="Google Shape;137;p3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Sleep is very important to every single human being, and so learning how to get the most out of sleep is also important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College students balance classes, studying, athletics, working, partying, and other hobbies, jeopardizing sleep quality</a:t>
            </a:r>
            <a:endParaRPr/>
          </a:p>
        </p:txBody>
      </p:sp>
      <p:pic>
        <p:nvPicPr>
          <p:cNvPr id="138" name="Google Shape;138;p3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>
            <a:spLocks noGrp="1"/>
          </p:cNvSpPr>
          <p:nvPr>
            <p:ph type="title"/>
          </p:nvPr>
        </p:nvSpPr>
        <p:spPr>
          <a:xfrm>
            <a:off x="453243" y="150876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Introduction &amp; Motivation</a:t>
            </a:r>
            <a:endParaRPr/>
          </a:p>
        </p:txBody>
      </p:sp>
      <p:sp>
        <p:nvSpPr>
          <p:cNvPr id="144" name="Google Shape;144;p4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research serves to raise awareness and expand understanding of what predicts sleep quality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research also serves to both contribute new findings and reinforce previous findings to further the research on sleep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Personally, I was interested in investigating what improved or diminished sleep quality, especially among college students</a:t>
            </a:r>
            <a:endParaRPr/>
          </a:p>
        </p:txBody>
      </p:sp>
      <p:pic>
        <p:nvPicPr>
          <p:cNvPr id="146" name="Google Shape;146;p4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1548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57200" y="152400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 fontScale="97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266700" y="1828800"/>
            <a:ext cx="8610600" cy="449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 lnSpcReduction="10000"/>
          </a:bodyPr>
          <a:lstStyle/>
          <a:p>
            <a:pPr marL="438912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comprehensive review of relevant literature on sleep was created before performing firsthand data analysis</a:t>
            </a:r>
            <a:endParaRPr/>
          </a:p>
          <a:p>
            <a:pPr marL="438912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will be discussed further later in the ”Results &amp; Discussion” section</a:t>
            </a:r>
            <a:endParaRPr/>
          </a:p>
          <a:p>
            <a:pPr marL="438912" lvl="0" indent="-32004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Main ideas:</a:t>
            </a:r>
            <a:endParaRPr/>
          </a:p>
          <a:p>
            <a:pPr marL="731520" lvl="1" indent="-274319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Sleep affects, and is affected by, a large and varied group of factors</a:t>
            </a:r>
            <a:endParaRPr/>
          </a:p>
          <a:p>
            <a:pPr marL="731520" lvl="1" indent="-274319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7-9 hours of sleep seems to be the most optimal range for college students (aligns with the healthiest predictors and healthiest consequences of sleep)</a:t>
            </a:r>
            <a:endParaRPr/>
          </a:p>
        </p:txBody>
      </p:sp>
      <p:pic>
        <p:nvPicPr>
          <p:cNvPr id="154" name="Google Shape;154;p5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was purchased from the ACHA-NCHA spring 2024 survey (103,639 survey responses from American college students)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process of working through the data is shown on the next slide</a:t>
            </a:r>
            <a:endParaRPr/>
          </a:p>
          <a:p>
            <a:pPr marL="438912" lvl="0" indent="-19812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6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8328" y="152400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type="title"/>
          </p:nvPr>
        </p:nvSpPr>
        <p:spPr>
          <a:xfrm>
            <a:off x="457200" y="118872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 (Pipeline)</a:t>
            </a:r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7"/>
          <p:cNvSpPr txBox="1">
            <a:spLocks noGrp="1"/>
          </p:cNvSpPr>
          <p:nvPr>
            <p:ph type="body" idx="1"/>
          </p:nvPr>
        </p:nvSpPr>
        <p:spPr>
          <a:xfrm>
            <a:off x="457200" y="1735698"/>
            <a:ext cx="8229600" cy="458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118871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lvl="0" indent="-1981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lvl="0" indent="-1981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7" descr="A diagram of data visualizatio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416" y="2975521"/>
            <a:ext cx="9153525" cy="35776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/>
          <p:nvPr/>
        </p:nvSpPr>
        <p:spPr>
          <a:xfrm>
            <a:off x="457200" y="182880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Nearly all of the processes in the pipeline were completed using the Python programming language and its libraries</a:t>
            </a:r>
            <a:endParaRPr/>
          </a:p>
          <a:p>
            <a:pPr marL="438912" marR="0" lvl="0" indent="-19812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7" descr="A logo with a door and a brick wall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457200" y="116401"/>
            <a:ext cx="6705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200"/>
              <a:buFont typeface="Times New Roman"/>
              <a:buNone/>
            </a:pPr>
            <a:r>
              <a:rPr lang="en-US" sz="3200"/>
              <a:t>Methodology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200"/>
              <a:buFont typeface="Times New Roman"/>
              <a:buNone/>
            </a:pPr>
            <a:r>
              <a:rPr lang="en-US" sz="2800"/>
              <a:t>(Data Collection &amp; Profiling)</a:t>
            </a:r>
            <a:endParaRPr sz="2800"/>
          </a:p>
        </p:txBody>
      </p:sp>
      <p:sp>
        <p:nvSpPr>
          <p:cNvPr id="180" name="Google Shape;180;p8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8"/>
          <p:cNvSpPr txBox="1">
            <a:spLocks noGrp="1"/>
          </p:cNvSpPr>
          <p:nvPr>
            <p:ph type="body" idx="1"/>
          </p:nvPr>
        </p:nvSpPr>
        <p:spPr>
          <a:xfrm>
            <a:off x="457200" y="1735700"/>
            <a:ext cx="8305800" cy="4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 previously stated, the data represents 103,639 American college students, representing 154 higher education institutions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Roughly 42 different feature columns were used (around 20 questions total) for demographics and analysis</a:t>
            </a:r>
            <a:endParaRPr/>
          </a:p>
          <a:p>
            <a:pPr marL="438912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next two slides will display tables of the 20 features that were most essential to the upcoming data analysis section</a:t>
            </a:r>
            <a:endParaRPr/>
          </a:p>
        </p:txBody>
      </p:sp>
      <p:pic>
        <p:nvPicPr>
          <p:cNvPr id="182" name="Google Shape;182;p8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8328" y="155448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2057400" y="118872"/>
            <a:ext cx="66294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(List of Most Important Variables)</a:t>
            </a:r>
            <a:endParaRPr sz="2800"/>
          </a:p>
        </p:txBody>
      </p:sp>
      <p:sp>
        <p:nvSpPr>
          <p:cNvPr id="189" name="Google Shape;189;p9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0" name="Google Shape;190;p9"/>
          <p:cNvGraphicFramePr/>
          <p:nvPr/>
        </p:nvGraphicFramePr>
        <p:xfrm>
          <a:off x="457200" y="1935479"/>
          <a:ext cx="8229600" cy="397774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Self-reported overall health rating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time spent to fall asleep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amount of weeknight sleep (last 2 weeks)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amount of weekend night sleep (last 2 weeks)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N3Q20D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a victim of sexual assault? (last 12 months)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N3Q20F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a victim of rape? (last 12 months)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N3Q20G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a victim of stalking? (last 12 months)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N3Q42B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student’s ability to bounce back from illness, injury, or hardship (resilience)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N3Q48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Overall stress level (last 30 days)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1" name="Google Shape;191;p9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314975" y="73150"/>
            <a:ext cx="71700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>
              <a:solidFill>
                <a:srgbClr val="FFC7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(List of Most Important Variables Cont</a:t>
            </a:r>
            <a:r>
              <a:rPr lang="en-US" sz="28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lang="en-US" sz="2800" b="1" i="0" u="none" strike="noStrike" cap="none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sz="2800"/>
          </a:p>
        </p:txBody>
      </p:sp>
      <p:graphicFrame>
        <p:nvGraphicFramePr>
          <p:cNvPr id="199" name="Google Shape;199;p10"/>
          <p:cNvGraphicFramePr/>
          <p:nvPr>
            <p:extLst>
              <p:ext uri="{D42A27DB-BD31-4B8C-83A1-F6EECF244321}">
                <p14:modId xmlns:p14="http://schemas.microsoft.com/office/powerpoint/2010/main" val="2534328291"/>
              </p:ext>
            </p:extLst>
          </p:nvPr>
        </p:nvGraphicFramePr>
        <p:xfrm>
          <a:off x="457200" y="1752600"/>
          <a:ext cx="8229600" cy="461783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ADD/ADHD?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alcohol or drug abuse/addiction?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anxiety?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N3Q65A15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depression?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insomnia?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N3Q65A35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the student been diagnosed with sleep apnea?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N3Q65Y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much have the diagnosed conditions affected academics? (last 30 days)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RKESSLER6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Kessler-6 score for mental distress (0-12 negative for mental distress, 13-24 positive)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RULS3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UCLA Loneliness Scale (3-5 negative for loneliness, 6-9 positive)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DIENER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Diener Flourishing Scale (8–56; higher = greater well-being)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00" name="Google Shape;200;p10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4978" y="132448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2057400" y="124320"/>
            <a:ext cx="6675550" cy="1305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Cleaning &amp; Preprocessing)</a:t>
            </a:r>
            <a:endParaRPr sz="2800"/>
          </a:p>
        </p:txBody>
      </p:sp>
      <p:sp>
        <p:nvSpPr>
          <p:cNvPr id="208" name="Google Shape;208;p11"/>
          <p:cNvSpPr txBox="1"/>
          <p:nvPr/>
        </p:nvSpPr>
        <p:spPr>
          <a:xfrm>
            <a:off x="364898" y="2133600"/>
            <a:ext cx="8398101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118871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 txBox="1">
            <a:spLocks noGrp="1"/>
          </p:cNvSpPr>
          <p:nvPr>
            <p:ph type="body" idx="1"/>
          </p:nvPr>
        </p:nvSpPr>
        <p:spPr>
          <a:xfrm>
            <a:off x="457200" y="1735700"/>
            <a:ext cx="8229600" cy="2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lvl="0" indent="-32004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Several rounds of data cleaning were performed</a:t>
            </a:r>
            <a:endParaRPr/>
          </a:p>
          <a:p>
            <a:pPr marL="438912" lvl="0" indent="-32004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20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These rounds of cleaning included...</a:t>
            </a:r>
            <a:endParaRPr/>
          </a:p>
          <a:p>
            <a:pPr marL="731520" lvl="1" indent="-274319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Removal of irrelevant variables</a:t>
            </a:r>
            <a:endParaRPr/>
          </a:p>
          <a:p>
            <a:pPr marL="731520" lvl="1" indent="-274319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Removal of duplicate rows</a:t>
            </a:r>
            <a:endParaRPr/>
          </a:p>
          <a:p>
            <a:pPr marL="731520" lvl="1" indent="-274319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Recoding of categorial answers into numerical answers (for analysis)</a:t>
            </a:r>
            <a:endParaRPr/>
          </a:p>
          <a:p>
            <a:pPr marL="457200" lvl="1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449148" y="4386693"/>
            <a:ext cx="8229600" cy="18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next two slides will display relevant demographic information</a:t>
            </a:r>
            <a:endParaRPr/>
          </a:p>
        </p:txBody>
      </p:sp>
      <p:pic>
        <p:nvPicPr>
          <p:cNvPr id="211" name="Google Shape;211;p11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2"/>
          <p:cNvSpPr txBox="1">
            <a:spLocks noGrp="1"/>
          </p:cNvSpPr>
          <p:nvPr>
            <p:ph type="body" idx="1"/>
          </p:nvPr>
        </p:nvSpPr>
        <p:spPr>
          <a:xfrm>
            <a:off x="457200" y="1735700"/>
            <a:ext cx="8305800" cy="4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118871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lvl="0" indent="-1981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/>
          </a:p>
        </p:txBody>
      </p:sp>
      <p:sp>
        <p:nvSpPr>
          <p:cNvPr id="219" name="Google Shape;219;p12"/>
          <p:cNvSpPr txBox="1">
            <a:spLocks noGrp="1"/>
          </p:cNvSpPr>
          <p:nvPr>
            <p:ph type="title"/>
          </p:nvPr>
        </p:nvSpPr>
        <p:spPr>
          <a:xfrm>
            <a:off x="457200" y="150813"/>
            <a:ext cx="6781800" cy="125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 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(Key Demographics)</a:t>
            </a:r>
            <a:endParaRPr sz="2800"/>
          </a:p>
        </p:txBody>
      </p:sp>
      <p:graphicFrame>
        <p:nvGraphicFramePr>
          <p:cNvPr id="220" name="Google Shape;220;p12"/>
          <p:cNvGraphicFramePr/>
          <p:nvPr/>
        </p:nvGraphicFramePr>
        <p:xfrm>
          <a:off x="457200" y="1752600"/>
          <a:ext cx="8229600" cy="111255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Sex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72,586 (70.9%)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29,775 (29.1%)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1" name="Google Shape;221;p12"/>
          <p:cNvGraphicFramePr/>
          <p:nvPr/>
        </p:nvGraphicFramePr>
        <p:xfrm>
          <a:off x="457200" y="2973790"/>
          <a:ext cx="8229600" cy="37085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Age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AE6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A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2" name="Google Shape;222;p12"/>
          <p:cNvGraphicFramePr/>
          <p:nvPr/>
        </p:nvGraphicFramePr>
        <p:xfrm>
          <a:off x="446903" y="3462900"/>
          <a:ext cx="8229600" cy="296680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267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in School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Freshman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20,832 (20.7%)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Sophomore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17,239 (17.1%)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Junior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20,600 (20.5%)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Senior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15,796 (15.7%)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US" sz="1800" b="0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Year Undergraduate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4,779 (4.7%)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Master’s Student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13,646 (13.6%)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Doctorate Student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8,198 (8.1%)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23" name="Google Shape;223;p12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8328" y="155448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sp>
        <p:nvSpPr>
          <p:cNvPr id="232" name="Google Shape;232;p14"/>
          <p:cNvSpPr txBox="1"/>
          <p:nvPr/>
        </p:nvSpPr>
        <p:spPr>
          <a:xfrm>
            <a:off x="364898" y="1683687"/>
            <a:ext cx="8573362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section of the presentation will contain the most relevant findings from exploratory data analysis and visualization</a:t>
            </a:r>
            <a:endParaRPr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findings and visualization helped inform the model development and testing, which will be discussed later</a:t>
            </a:r>
            <a:endParaRPr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step in the analysis process was comparing sleeping behaviors, demographics, and other data to pick out prominent correlations</a:t>
            </a:r>
            <a:endParaRPr/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/>
          </p:nvPr>
        </p:nvSpPr>
        <p:spPr>
          <a:xfrm>
            <a:off x="1828799" y="139148"/>
            <a:ext cx="65492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(Key Demographics Cont’d)</a:t>
            </a:r>
            <a:endParaRPr sz="2800"/>
          </a:p>
        </p:txBody>
      </p:sp>
      <p:graphicFrame>
        <p:nvGraphicFramePr>
          <p:cNvPr id="240" name="Google Shape;240;p13"/>
          <p:cNvGraphicFramePr/>
          <p:nvPr/>
        </p:nvGraphicFramePr>
        <p:xfrm>
          <a:off x="315937" y="1698087"/>
          <a:ext cx="8229600" cy="313951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38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Race/Ethnicity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62,857 (60.6%)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Hispanic/Latina/Latino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19,120 (18.4%)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Asian/Asian American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17,425 (16.8%)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Black/African American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6,920 (6.7%)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Biracial/Multiracial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5,183 (5%)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 (includes Pacific Islander, Middle-Eastern, etc)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4,954 (4.8%)</a:t>
                      </a:r>
                      <a:endParaRPr sz="1800" b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1" name="Google Shape;241;p13"/>
          <p:cNvGraphicFramePr/>
          <p:nvPr/>
        </p:nvGraphicFramePr>
        <p:xfrm>
          <a:off x="315937" y="4605214"/>
          <a:ext cx="8229600" cy="1854250"/>
        </p:xfrm>
        <a:graphic>
          <a:graphicData uri="http://schemas.openxmlformats.org/drawingml/2006/table">
            <a:tbl>
              <a:tblPr firstRow="1" bandRow="1">
                <a:noFill/>
                <a:tableStyleId>{E148F040-0A8B-4E72-A747-29BAFFFC2B0B}</a:tableStyleId>
              </a:tblPr>
              <a:tblGrid>
                <a:gridCol w="231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 GPA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63,718 (63.7%)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29,899 (29.9%)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5,841 (5.8%)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D/F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551 (0.6%)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2" name="Google Shape;242;p13" descr="A logo with a door and a brick wal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50876"/>
            <a:ext cx="1143000" cy="113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5"/>
          <p:cNvSpPr txBox="1">
            <a:spLocks noGrp="1"/>
          </p:cNvSpPr>
          <p:nvPr>
            <p:ph type="title"/>
          </p:nvPr>
        </p:nvSpPr>
        <p:spPr>
          <a:xfrm>
            <a:off x="1676399" y="139148"/>
            <a:ext cx="67016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sp>
        <p:nvSpPr>
          <p:cNvPr id="250" name="Google Shape;250;p15"/>
          <p:cNvSpPr txBox="1"/>
          <p:nvPr/>
        </p:nvSpPr>
        <p:spPr>
          <a:xfrm>
            <a:off x="372949" y="1859279"/>
            <a:ext cx="8398101" cy="411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Females take around 7% longer to fall asleep than males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 students slept longest, Black/African American students slept shortest</a:t>
            </a:r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fall asleep increased consistently as GPA decreased (students with an A GPA fell asleep fastest)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sleep decreased consistently as GPA decreased (students with an A GPA slept longest)</a:t>
            </a:r>
            <a:endParaRPr dirty="0"/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" y="2286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6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pic>
        <p:nvPicPr>
          <p:cNvPr id="260" name="Google Shape;260;p16" descr="A graph with brown square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334" y="1503150"/>
            <a:ext cx="6803417" cy="535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7" descr="A chart of different colo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76" y="1574799"/>
            <a:ext cx="8994424" cy="530933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7"/>
          <p:cNvSpPr txBox="1">
            <a:spLocks noGrp="1"/>
          </p:cNvSpPr>
          <p:nvPr>
            <p:ph type="title"/>
          </p:nvPr>
        </p:nvSpPr>
        <p:spPr>
          <a:xfrm>
            <a:off x="1676399" y="139148"/>
            <a:ext cx="67016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pic>
        <p:nvPicPr>
          <p:cNvPr id="269" name="Google Shape;26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" y="2286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3700"/>
          </a:p>
        </p:txBody>
      </p:sp>
      <p:sp>
        <p:nvSpPr>
          <p:cNvPr id="278" name="Google Shape;278;p18"/>
          <p:cNvSpPr txBox="1"/>
          <p:nvPr/>
        </p:nvSpPr>
        <p:spPr>
          <a:xfrm>
            <a:off x="364898" y="1683687"/>
            <a:ext cx="8573362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1981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372940" y="1683687"/>
            <a:ext cx="8398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708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22% of students reported experiencing negative academic side effects from sleeping difficulties</a:t>
            </a:r>
            <a:endParaRPr sz="2400" dirty="0"/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who feel engaged and interested in daily activities are 14% more likely to sleep optimally than students who are not as engaged.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36.7% of students with serious psychological distress get optimal sleep, compared to 55.7% of students without distress.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2400"/>
              <a:buFont typeface="Times New Roman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46.9% of lonely students get optimal sleep, while 56.6% of students who are not lonely achieve optimal sleep.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9" descr="A graph of different colo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1" y="1579875"/>
            <a:ext cx="8951977" cy="5278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9"/>
          <p:cNvSpPr txBox="1">
            <a:spLocks noGrp="1"/>
          </p:cNvSpPr>
          <p:nvPr>
            <p:ph type="title"/>
          </p:nvPr>
        </p:nvSpPr>
        <p:spPr>
          <a:xfrm>
            <a:off x="1676399" y="139148"/>
            <a:ext cx="67016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pic>
        <p:nvPicPr>
          <p:cNvPr id="288" name="Google Shape;28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" y="2286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sp>
        <p:nvSpPr>
          <p:cNvPr id="297" name="Google Shape;297;p20"/>
          <p:cNvSpPr txBox="1"/>
          <p:nvPr/>
        </p:nvSpPr>
        <p:spPr>
          <a:xfrm>
            <a:off x="364898" y="1683687"/>
            <a:ext cx="8573362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1981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317390" y="1607487"/>
            <a:ext cx="8398101" cy="411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708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with sexual assault trauma get around 15 less minutes of sleep per night than those without</a:t>
            </a:r>
            <a:endParaRPr sz="2400" dirty="0"/>
          </a:p>
          <a:p>
            <a:pPr marL="438912" marR="0" lvl="0" indent="-3708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with stalking trauma get around 25 less minutes of sleep per night than those without</a:t>
            </a:r>
            <a:endParaRPr sz="2400" dirty="0"/>
          </a:p>
          <a:p>
            <a:pPr marL="438912" marR="0" lvl="0" indent="-3708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with rape trauma get around 30 less minutes of sleep per night than those without (6h 27m per night vs 6h 57m)</a:t>
            </a:r>
            <a:endParaRPr sz="2400" dirty="0"/>
          </a:p>
          <a:p>
            <a:pPr marL="438912" marR="0" lvl="0" indent="-2184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198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1" descr="A chart of different colo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03325"/>
            <a:ext cx="9143999" cy="52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1"/>
          <p:cNvSpPr txBox="1">
            <a:spLocks noGrp="1"/>
          </p:cNvSpPr>
          <p:nvPr>
            <p:ph type="title"/>
          </p:nvPr>
        </p:nvSpPr>
        <p:spPr>
          <a:xfrm>
            <a:off x="1676399" y="139148"/>
            <a:ext cx="67016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pic>
        <p:nvPicPr>
          <p:cNvPr id="307" name="Google Shape;30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" y="2286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2" descr="A graph of a number of blue and gray ba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" y="1607487"/>
            <a:ext cx="8974912" cy="494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2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Methodology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(Data Analysis &amp; Visualization)</a:t>
            </a:r>
            <a:endParaRPr sz="2800"/>
          </a:p>
        </p:txBody>
      </p:sp>
      <p:sp>
        <p:nvSpPr>
          <p:cNvPr id="317" name="Google Shape;317;p22"/>
          <p:cNvSpPr txBox="1"/>
          <p:nvPr/>
        </p:nvSpPr>
        <p:spPr>
          <a:xfrm>
            <a:off x="364898" y="1683687"/>
            <a:ext cx="8573362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1981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1676399" y="139148"/>
            <a:ext cx="6701691" cy="121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Model Building &amp; Testing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372949" y="1859279"/>
            <a:ext cx="8398101" cy="411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198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" y="2286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372911" y="1628399"/>
            <a:ext cx="8398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708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next step after exploratory data analysis (EDA) and visualization is building and testing a model</a:t>
            </a:r>
            <a:endParaRPr sz="2400"/>
          </a:p>
          <a:p>
            <a:pPr marL="438912" marR="0" lvl="0" indent="-3708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EDA and visualization phase reveals relationships between variables and lays out a foundation to build a more accurate and reliable model</a:t>
            </a:r>
            <a:endParaRPr sz="2400"/>
          </a:p>
          <a:p>
            <a:pPr marL="220472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2184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d9d644c69_0_13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g3ad9d644c69_0_13"/>
          <p:cNvSpPr txBox="1">
            <a:spLocks noGrp="1"/>
          </p:cNvSpPr>
          <p:nvPr>
            <p:ph type="title"/>
          </p:nvPr>
        </p:nvSpPr>
        <p:spPr>
          <a:xfrm>
            <a:off x="788724" y="139160"/>
            <a:ext cx="67017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Model Building &amp; Testing</a:t>
            </a:r>
            <a:endParaRPr/>
          </a:p>
        </p:txBody>
      </p:sp>
      <p:sp>
        <p:nvSpPr>
          <p:cNvPr id="335" name="Google Shape;335;g3ad9d644c69_0_13"/>
          <p:cNvSpPr txBox="1"/>
          <p:nvPr/>
        </p:nvSpPr>
        <p:spPr>
          <a:xfrm>
            <a:off x="372949" y="1859279"/>
            <a:ext cx="8398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198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g3ad9d644c69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2095" y="199063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ad9d644c69_0_13"/>
          <p:cNvSpPr txBox="1"/>
          <p:nvPr/>
        </p:nvSpPr>
        <p:spPr>
          <a:xfrm>
            <a:off x="372911" y="1628399"/>
            <a:ext cx="8398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model I created was a linear regression model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predicted the amount of sleep a student got based off their stress level, mental health diagnoses, and other factors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was less accurate than I hoped for, so I created another model...</a:t>
            </a:r>
            <a:endParaRPr sz="24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0472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21844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4"/>
          <p:cNvSpPr txBox="1">
            <a:spLocks noGrp="1"/>
          </p:cNvSpPr>
          <p:nvPr>
            <p:ph type="title"/>
          </p:nvPr>
        </p:nvSpPr>
        <p:spPr>
          <a:xfrm>
            <a:off x="1788700" y="-117348"/>
            <a:ext cx="68124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Model Building &amp; Testing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(Logistic Regression)</a:t>
            </a:r>
            <a:endParaRPr sz="2800"/>
          </a:p>
        </p:txBody>
      </p:sp>
      <p:sp>
        <p:nvSpPr>
          <p:cNvPr id="345" name="Google Shape;345;p24"/>
          <p:cNvSpPr txBox="1"/>
          <p:nvPr/>
        </p:nvSpPr>
        <p:spPr>
          <a:xfrm>
            <a:off x="76200" y="1751820"/>
            <a:ext cx="8991600" cy="3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linear regression models are focused on predicting, logistic regression models are focused on classifying</a:t>
            </a:r>
            <a:endParaRPr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approach pivoted from predicting how much sleep a student gets, to classifying whether a student is an optimal sleeper</a:t>
            </a:r>
            <a:endParaRPr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do this, I divided students into two groups:</a:t>
            </a:r>
            <a:endParaRPr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Optimal: students who reported getting 7-9 hours of sleep per night on average</a:t>
            </a:r>
            <a:endParaRPr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Suboptimal: students who reported getting 6 or less hours of sleep per night on average</a:t>
            </a:r>
            <a:endParaRPr/>
          </a:p>
        </p:txBody>
      </p:sp>
      <p:pic>
        <p:nvPicPr>
          <p:cNvPr id="346" name="Google Shape;34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5" descr="A diagram of a sleep mode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37744"/>
            <a:ext cx="8824339" cy="510882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372949" y="1859279"/>
            <a:ext cx="8398101" cy="411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198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6920" y="181763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5"/>
          <p:cNvSpPr txBox="1"/>
          <p:nvPr/>
        </p:nvSpPr>
        <p:spPr>
          <a:xfrm>
            <a:off x="372962" y="-88011"/>
            <a:ext cx="68124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 &amp; Testing</a:t>
            </a:r>
            <a:endParaRPr sz="3600" b="1">
              <a:solidFill>
                <a:srgbClr val="FFC7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(Logistic Regression)</a:t>
            </a: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372949" y="1859279"/>
            <a:ext cx="8398101" cy="411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1981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1662100" y="-89507"/>
            <a:ext cx="71088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 &amp; Testing</a:t>
            </a:r>
            <a:endParaRPr sz="3600" b="1">
              <a:solidFill>
                <a:srgbClr val="FFC7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 b="1">
                <a:solidFill>
                  <a:srgbClr val="FFC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(Logistic Regression)</a:t>
            </a:r>
            <a:endParaRPr sz="2800"/>
          </a:p>
        </p:txBody>
      </p:sp>
      <p:pic>
        <p:nvPicPr>
          <p:cNvPr id="365" name="Google Shape;36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020" y="180241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6" descr="A table with text and numb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468" y="1567661"/>
            <a:ext cx="8022928" cy="530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7"/>
          <p:cNvSpPr txBox="1">
            <a:spLocks noGrp="1"/>
          </p:cNvSpPr>
          <p:nvPr>
            <p:ph type="title"/>
          </p:nvPr>
        </p:nvSpPr>
        <p:spPr>
          <a:xfrm>
            <a:off x="486769" y="-117335"/>
            <a:ext cx="68124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Model Building &amp; Testing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(Logistic Regression)</a:t>
            </a:r>
            <a:endParaRPr sz="2800"/>
          </a:p>
        </p:txBody>
      </p:sp>
      <p:pic>
        <p:nvPicPr>
          <p:cNvPr id="374" name="Google Shape;37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1114" y="152413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A table of numbers and symbol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94120"/>
            <a:ext cx="8785860" cy="488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ad9d644c69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25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ad9d644c69_0_5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g3ad9d644c69_0_5"/>
          <p:cNvSpPr txBox="1">
            <a:spLocks noGrp="1"/>
          </p:cNvSpPr>
          <p:nvPr>
            <p:ph type="title"/>
          </p:nvPr>
        </p:nvSpPr>
        <p:spPr>
          <a:xfrm>
            <a:off x="1209575" y="0"/>
            <a:ext cx="80133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Model Building &amp; Testing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2800"/>
              <a:t>(Additional Testing)</a:t>
            </a:r>
            <a:endParaRPr sz="3600"/>
          </a:p>
        </p:txBody>
      </p:sp>
      <p:sp>
        <p:nvSpPr>
          <p:cNvPr id="384" name="Google Shape;384;g3ad9d644c69_0_5"/>
          <p:cNvSpPr txBox="1"/>
          <p:nvPr/>
        </p:nvSpPr>
        <p:spPr>
          <a:xfrm>
            <a:off x="372950" y="1683673"/>
            <a:ext cx="8398200" cy="4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708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Both a decision tree and a random forest model were also tested</a:t>
            </a:r>
            <a:endParaRPr sz="2400"/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models are often used to attempt to capture non-linear relationships, where the rate of change is not constant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decision tree model scored 60.4% accuracy and the random forest model scored 60.1%, compared to the stronger 61.5% from logistic regression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8912" marR="0" lvl="0" indent="-3708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2400"/>
              <a:buFont typeface="Times New Roman"/>
              <a:buChar char="◼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other metrics were also all similar or weaker to those of the logistic regression model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8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Results &amp; Discussion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205740" y="1683687"/>
            <a:ext cx="8862060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had the strongest negative relationship with optimal sleep</a:t>
            </a:r>
            <a:endParaRPr dirty="0"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 of how stress affects sleep is reinforced by parallel findings from many previous studies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Insomnia has strong patterns of comorbidity with mental health disorders and a strong negative relationship on sleep</a:t>
            </a:r>
            <a:endParaRPr dirty="0"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idea is reinforced by many studies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Self-reported overall health ratings also had a strong relationship with sleep optimality, a generalized and logical concept  </a:t>
            </a:r>
            <a:endParaRPr dirty="0"/>
          </a:p>
          <a:p>
            <a:pPr marL="118871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396" y="762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9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Results &amp; Discussion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205740" y="1683687"/>
            <a:ext cx="8862060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presence of anxiety and depression unexpectedly raised the odds of optimal sleep by 14% and 3%, respectively</a:t>
            </a:r>
            <a:endParaRPr dirty="0"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findings diverge from previous studies and my own analysis, as anxiety and depression were often shown to jeopardize sleep quality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Loneliness, lower resilience, ADHD, substance use, sleep apnea, and traumatic factors all contributed to jeopardized sleep quality</a:t>
            </a:r>
            <a:endParaRPr dirty="0"/>
          </a:p>
          <a:p>
            <a:pPr marL="731520" marR="0" lvl="1" indent="-27431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findings align with much, if not all the literature reviewed for this study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62% model accuracy indicates that there are many other contributors to sleep duration outside of those included in this study</a:t>
            </a:r>
            <a:endParaRPr dirty="0"/>
          </a:p>
          <a:p>
            <a:pPr marL="438912" marR="0" lvl="0" indent="-1981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25" y="162775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350520" y="-29289"/>
            <a:ext cx="80133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Conclusion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205740" y="1683687"/>
            <a:ext cx="8862060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1981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0" y="1683687"/>
            <a:ext cx="9067800" cy="509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200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◼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study’s focus shifted from a broad examination of sleep quality factors to identifying predictors of optimal vs. suboptimal sleep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◼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(62% accuracy) showed that stress, insomnia, and lower overall health were the strongest negative predictors of optimal sleep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◼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Insomnia showed strong comorbidity with mental health conditions</a:t>
            </a:r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◼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limitations include the data being self-reported and cross-sectional, a lack of variables such as caffeine use and screen time, and missing sleep-duration categories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600"/>
              <a:buFont typeface="Noto Sans Symbols"/>
              <a:buChar char="◼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is especially important for students, institutions, and researchers, as it supports efforts for future research and education on stress management, sleep hygiene, and disorder comorbidity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g3ad8ce5045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6200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ad8ce5045d_0_0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g3ad8ce5045d_0_0"/>
          <p:cNvSpPr txBox="1">
            <a:spLocks noGrp="1"/>
          </p:cNvSpPr>
          <p:nvPr>
            <p:ph type="title"/>
          </p:nvPr>
        </p:nvSpPr>
        <p:spPr>
          <a:xfrm>
            <a:off x="350524" y="-29300"/>
            <a:ext cx="6860700" cy="1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200"/>
              <a:t>Connection to Ribbons of Excellence</a:t>
            </a:r>
            <a:endParaRPr sz="3200"/>
          </a:p>
        </p:txBody>
      </p:sp>
      <p:sp>
        <p:nvSpPr>
          <p:cNvPr id="411" name="Google Shape;411;g3ad8ce5045d_0_0"/>
          <p:cNvSpPr txBox="1"/>
          <p:nvPr/>
        </p:nvSpPr>
        <p:spPr>
          <a:xfrm>
            <a:off x="205740" y="1683687"/>
            <a:ext cx="8862000" cy="50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1981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g3ad8ce5045d_0_0"/>
          <p:cNvSpPr txBox="1"/>
          <p:nvPr/>
        </p:nvSpPr>
        <p:spPr>
          <a:xfrm>
            <a:off x="0" y="1531950"/>
            <a:ext cx="9144000" cy="53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38912" marR="0" lvl="0" indent="-33909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900"/>
              <a:buFont typeface="Noto Sans Symbols"/>
              <a:buChar char="◼"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121;p1" descr="A logo with colorful columns and text&#10;&#10;AI-generated content may be incorrect.">
            <a:extLst>
              <a:ext uri="{FF2B5EF4-FFF2-40B4-BE49-F238E27FC236}">
                <a16:creationId xmlns:a16="http://schemas.microsoft.com/office/drawing/2014/main" id="{F8366D7B-B629-3BBE-D72C-B17A87E83D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679"/>
          <a:stretch>
            <a:fillRect/>
          </a:stretch>
        </p:blipFill>
        <p:spPr>
          <a:xfrm>
            <a:off x="2780676" y="2204563"/>
            <a:ext cx="3582648" cy="358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10" y="181224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1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31"/>
          <p:cNvSpPr txBox="1">
            <a:spLocks noGrp="1"/>
          </p:cNvSpPr>
          <p:nvPr>
            <p:ph type="title"/>
          </p:nvPr>
        </p:nvSpPr>
        <p:spPr>
          <a:xfrm>
            <a:off x="60960" y="152400"/>
            <a:ext cx="9144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Times New Roman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188512" y="2365512"/>
            <a:ext cx="89154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/>
          </a:bodyPr>
          <a:lstStyle/>
          <a:p>
            <a:pPr marL="457200" marR="0" lvl="0" indent="-3149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226557" y="1581066"/>
            <a:ext cx="8573362" cy="5124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 lnSpcReduction="10000"/>
          </a:bodyPr>
          <a:lstStyle/>
          <a:p>
            <a:pPr marL="438912" marR="0" lvl="0" indent="-32004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◼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Deliens, B. Deforche, I. De Bourdeaudhuij, and P. Clarys, “Determinants of physical activity and sedentary behaviour in university students: a qualitative study using focus group discussions,” BMC public health, vol. 15, no. 1, p. 201, 2015.</a:t>
            </a:r>
            <a:endParaRPr/>
          </a:p>
          <a:p>
            <a:pPr marL="438912" marR="0" lvl="0" indent="-32004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◼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J. Taylor, A. D. Bramoweth, E. A. Grieser, J. I. Tatum, and B. M. Roane, “Epidemiology of insomnia in college students: relationship with mental health, quality of life, and substance use difficulties,” Behavior therapy, vol. 44, no. 3, pp. 339–348, 2013.</a:t>
            </a:r>
            <a:endParaRPr/>
          </a:p>
          <a:p>
            <a:pPr marL="438912" marR="0" lvl="0" indent="-32004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◼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Upright, T. Esslinger, and W. Hays, “Health issues affecting college student’s academic performance,” Kentucky Association of Health, Physical Education, Recreation and Dance, vol. 51, no. 2, pp. 30–36, 2014.</a:t>
            </a:r>
            <a:endParaRPr/>
          </a:p>
          <a:p>
            <a:pPr marL="438912" marR="0" lvl="0" indent="-32004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◼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D. Hershner and R. D. Chervin, “Causes and consequences of sleepiness among college students,” Nature and science of sleep, pp. 73–84, 2014.</a:t>
            </a:r>
            <a:endParaRPr/>
          </a:p>
          <a:p>
            <a:pPr marL="438912" marR="0" lvl="0" indent="-32004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440"/>
              <a:buFont typeface="Noto Sans Symbols"/>
              <a:buChar char="◼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Dinis and M. Bragan¸ca, “Quality of sleep and depression in college students: A systematic review,” Sleep Science, vol. 11, no. 4, pp. 290–301, 2018. [Online]. Available: https://pmc.ncbi.nlm.nih.gov/articles/PMC6361309/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 txBox="1">
            <a:spLocks noGrp="1"/>
          </p:cNvSpPr>
          <p:nvPr>
            <p:ph type="sldNum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32"/>
          <p:cNvSpPr txBox="1">
            <a:spLocks noGrp="1"/>
          </p:cNvSpPr>
          <p:nvPr>
            <p:ph type="title"/>
          </p:nvPr>
        </p:nvSpPr>
        <p:spPr>
          <a:xfrm>
            <a:off x="-46714" y="-99060"/>
            <a:ext cx="9144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3600"/>
              <a:buFont typeface="Times New Roman"/>
              <a:buNone/>
            </a:pPr>
            <a:r>
              <a:rPr lang="en-US" sz="3600"/>
              <a:t>Acknowledgements</a:t>
            </a:r>
            <a:endParaRPr/>
          </a:p>
        </p:txBody>
      </p:sp>
      <p:sp>
        <p:nvSpPr>
          <p:cNvPr id="430" name="Google Shape;430;p32"/>
          <p:cNvSpPr txBox="1"/>
          <p:nvPr/>
        </p:nvSpPr>
        <p:spPr>
          <a:xfrm>
            <a:off x="285319" y="1798983"/>
            <a:ext cx="8573362" cy="45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rmAutofit fontScale="92500" lnSpcReduction="20000"/>
          </a:bodyPr>
          <a:lstStyle/>
          <a:p>
            <a:pPr marL="118871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would like to thank...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parents, Mike and Leslie Watson, for their consistent support personally, financially, and academically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Yasser Alginahi, my capstone supervisor, for his guidance, time, and overall support throughout this project</a:t>
            </a:r>
            <a:endParaRPr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Adrian College, for providing quality learning opportunities such as the Data Analytics capstone class</a:t>
            </a:r>
            <a:endParaRPr dirty="0"/>
          </a:p>
          <a:p>
            <a:pPr marL="438912" lvl="0" indent="-32004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ACHA, for providing the dataset used in this study</a:t>
            </a:r>
            <a:endParaRPr lang="en-US" sz="2400" dirty="0"/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Seth Logan and Anthony Mollica, my colleagues, for their feedback and company throughout this project</a:t>
            </a:r>
          </a:p>
          <a:p>
            <a:pPr marL="438912" marR="0" lvl="0" indent="-32004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920"/>
              <a:buFont typeface="Noto Sans Symbols"/>
              <a:buChar char="◼"/>
            </a:pPr>
            <a:endParaRPr dirty="0"/>
          </a:p>
        </p:txBody>
      </p:sp>
      <p:pic>
        <p:nvPicPr>
          <p:cNvPr id="431" name="Google Shape;43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5756" y="1524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2735</Words>
  <Application>Microsoft Macintosh PowerPoint</Application>
  <PresentationFormat>On-screen Show (4:3)</PresentationFormat>
  <Paragraphs>341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Noto Sans Symbols</vt:lpstr>
      <vt:lpstr>Times New Roman</vt:lpstr>
      <vt:lpstr>Module</vt:lpstr>
      <vt:lpstr>Module</vt:lpstr>
      <vt:lpstr>Sleep Health in College Students: A Multivariable Predictive Modeling Analysis </vt:lpstr>
      <vt:lpstr>Presentation Content</vt:lpstr>
      <vt:lpstr>PowerPoint Presentation</vt:lpstr>
      <vt:lpstr>Introduction &amp; Motivation</vt:lpstr>
      <vt:lpstr>PowerPoint Presentation</vt:lpstr>
      <vt:lpstr>Methodology</vt:lpstr>
      <vt:lpstr>Methodology (Pipeline)</vt:lpstr>
      <vt:lpstr>Methodology (Data Collection &amp; Profiling)</vt:lpstr>
      <vt:lpstr>Methodology (List of Most Important Variables)</vt:lpstr>
      <vt:lpstr>PowerPoint Presentation</vt:lpstr>
      <vt:lpstr>Methodology (Data Cleaning &amp; Preprocessing)</vt:lpstr>
      <vt:lpstr>Methodology  (Key Demographics)</vt:lpstr>
      <vt:lpstr>Methodology (Data Analysis &amp; Visualization)</vt:lpstr>
      <vt:lpstr>Methodology (Key Demographics Cont’d)</vt:lpstr>
      <vt:lpstr>Methodology (Data Analysis &amp; Visualization)</vt:lpstr>
      <vt:lpstr>Methodology (Data Analysis &amp; Visualization)</vt:lpstr>
      <vt:lpstr>Methodology (Data Analysis &amp; Visualization)</vt:lpstr>
      <vt:lpstr>Methodology (Data Analysis &amp; Visualization)</vt:lpstr>
      <vt:lpstr>Methodology (Data Analysis &amp; Visualization)</vt:lpstr>
      <vt:lpstr>Methodology (Data Analysis &amp; Visualization)</vt:lpstr>
      <vt:lpstr>Methodology (Data Analysis &amp; Visualization)</vt:lpstr>
      <vt:lpstr>Methodology (Data Analysis &amp; Visualization)</vt:lpstr>
      <vt:lpstr>Model Building &amp; Testing</vt:lpstr>
      <vt:lpstr>Model Building &amp; Testing</vt:lpstr>
      <vt:lpstr>Model Building &amp; Testing (Logistic Regression)</vt:lpstr>
      <vt:lpstr>PowerPoint Presentation</vt:lpstr>
      <vt:lpstr>PowerPoint Presentation</vt:lpstr>
      <vt:lpstr>Model Building &amp; Testing (Logistic Regression)</vt:lpstr>
      <vt:lpstr>Model Building &amp; Testing (Additional Testing)</vt:lpstr>
      <vt:lpstr>Results &amp; Discussion</vt:lpstr>
      <vt:lpstr>Results &amp; Discussion</vt:lpstr>
      <vt:lpstr>Conclusion</vt:lpstr>
      <vt:lpstr>Connection to Ribbons of Excellence</vt:lpstr>
      <vt:lpstr>References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Massey</dc:creator>
  <cp:lastModifiedBy>Jonah Watson</cp:lastModifiedBy>
  <cp:revision>20</cp:revision>
  <dcterms:created xsi:type="dcterms:W3CDTF">2015-06-03T15:26:42Z</dcterms:created>
  <dcterms:modified xsi:type="dcterms:W3CDTF">2026-01-23T15:58:21Z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12137DB5-308D-4FE9-8EAD-70AB8F3E8035</vt:lpwstr>
  </property>
  <property fmtid="{D5CDD505-2E9C-101B-9397-08002B2CF9AE}" pid="3" name="ArticulatePath">
    <vt:lpwstr>Advising Session Presentation 2021</vt:lpwstr>
  </property>
</Properties>
</file>