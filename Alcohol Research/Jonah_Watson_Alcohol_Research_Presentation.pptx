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41"/>
  </p:notesMasterIdLst>
  <p:sldIdLst>
    <p:sldId id="256" r:id="rId3"/>
    <p:sldId id="257" r:id="rId4"/>
    <p:sldId id="258" r:id="rId5"/>
    <p:sldId id="259" r:id="rId6"/>
    <p:sldId id="291" r:id="rId7"/>
    <p:sldId id="292" r:id="rId8"/>
    <p:sldId id="260" r:id="rId9"/>
    <p:sldId id="261" r:id="rId10"/>
    <p:sldId id="262" r:id="rId11"/>
    <p:sldId id="263" r:id="rId12"/>
    <p:sldId id="264" r:id="rId13"/>
    <p:sldId id="265" r:id="rId14"/>
    <p:sldId id="266" r:id="rId15"/>
    <p:sldId id="267" r:id="rId16"/>
    <p:sldId id="269" r:id="rId17"/>
    <p:sldId id="293" r:id="rId18"/>
    <p:sldId id="294" r:id="rId19"/>
    <p:sldId id="268" r:id="rId20"/>
    <p:sldId id="270" r:id="rId21"/>
    <p:sldId id="296" r:id="rId22"/>
    <p:sldId id="271" r:id="rId23"/>
    <p:sldId id="273" r:id="rId24"/>
    <p:sldId id="275" r:id="rId25"/>
    <p:sldId id="278" r:id="rId26"/>
    <p:sldId id="279" r:id="rId27"/>
    <p:sldId id="280" r:id="rId28"/>
    <p:sldId id="298" r:id="rId29"/>
    <p:sldId id="281" r:id="rId30"/>
    <p:sldId id="282" r:id="rId31"/>
    <p:sldId id="299" r:id="rId32"/>
    <p:sldId id="283" r:id="rId33"/>
    <p:sldId id="285" r:id="rId34"/>
    <p:sldId id="286" r:id="rId35"/>
    <p:sldId id="288" r:id="rId36"/>
    <p:sldId id="287" r:id="rId37"/>
    <p:sldId id="301" r:id="rId38"/>
    <p:sldId id="290" r:id="rId39"/>
    <p:sldId id="289" r:id="rId40"/>
  </p:sldIdLst>
  <p:sldSz cx="9144000" cy="6858000" type="screen4x3"/>
  <p:notesSz cx="7023100" cy="9309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jHVHUs6CqNFIgGESNMhgMqd12oF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48F040-0A8B-4E72-A747-29BAFFFC2B0B}">
  <a:tblStyle styleId="{E148F040-0A8B-4E72-A747-29BAFFFC2B0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F1E6"/>
          </a:solidFill>
        </a:fill>
      </a:tcStyle>
    </a:wholeTbl>
    <a:band1H>
      <a:tcTxStyle/>
      <a:tcStyle>
        <a:tcBdr/>
        <a:fill>
          <a:solidFill>
            <a:srgbClr val="F9E2CA"/>
          </a:solidFill>
        </a:fill>
      </a:tcStyle>
    </a:band1H>
    <a:band2H>
      <a:tcTxStyle/>
      <a:tcStyle>
        <a:tcBdr/>
      </a:tcStyle>
    </a:band2H>
    <a:band1V>
      <a:tcTxStyle/>
      <a:tcStyle>
        <a:tcBdr/>
        <a:fill>
          <a:solidFill>
            <a:srgbClr val="F9E2C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01"/>
    <p:restoredTop sz="81365"/>
  </p:normalViewPr>
  <p:slideViewPr>
    <p:cSldViewPr snapToGrid="0">
      <p:cViewPr varScale="1">
        <p:scale>
          <a:sx n="86" d="100"/>
          <a:sy n="86" d="100"/>
        </p:scale>
        <p:origin x="1576"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43343" cy="465455"/>
          </a:xfrm>
          <a:prstGeom prst="rect">
            <a:avLst/>
          </a:prstGeom>
          <a:noFill/>
          <a:ln>
            <a:noFill/>
          </a:ln>
        </p:spPr>
        <p:txBody>
          <a:bodyPr spcFirstLastPara="1" wrap="square" lIns="92425" tIns="46200" rIns="92425" bIns="462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8132" y="1"/>
            <a:ext cx="3043343" cy="465455"/>
          </a:xfrm>
          <a:prstGeom prst="rect">
            <a:avLst/>
          </a:prstGeom>
          <a:noFill/>
          <a:ln>
            <a:noFill/>
          </a:ln>
        </p:spPr>
        <p:txBody>
          <a:bodyPr spcFirstLastPara="1" wrap="square" lIns="92425" tIns="46200" rIns="92425" bIns="462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2031"/>
            <a:ext cx="3043343" cy="465455"/>
          </a:xfrm>
          <a:prstGeom prst="rect">
            <a:avLst/>
          </a:prstGeom>
          <a:noFill/>
          <a:ln>
            <a:noFill/>
          </a:ln>
        </p:spPr>
        <p:txBody>
          <a:bodyPr spcFirstLastPara="1" wrap="square" lIns="92425" tIns="46200" rIns="92425" bIns="462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specify majors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line spacing 1.15 and 12 after for each slide</a:t>
            </a:r>
          </a:p>
          <a:p>
            <a:pPr marL="0" lvl="0" indent="0" algn="l" rtl="0">
              <a:spcBef>
                <a:spcPts val="0"/>
              </a:spcBef>
              <a:spcAft>
                <a:spcPts val="0"/>
              </a:spcAft>
              <a:buNone/>
            </a:pPr>
            <a:endParaRPr dirty="0"/>
          </a:p>
        </p:txBody>
      </p:sp>
      <p:sp>
        <p:nvSpPr>
          <p:cNvPr id="115" name="Google Shape;115;p1: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2: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25" name="Google Shape;125;p2: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171450" lvl="0" indent="-171450" algn="l" rtl="0">
              <a:spcBef>
                <a:spcPts val="0"/>
              </a:spcBef>
              <a:spcAft>
                <a:spcPts val="0"/>
              </a:spcAft>
              <a:buFontTx/>
              <a:buChar char="-"/>
            </a:pPr>
            <a:endParaRPr lang="en-US" dirty="0"/>
          </a:p>
        </p:txBody>
      </p:sp>
      <p:sp>
        <p:nvSpPr>
          <p:cNvPr id="141" name="Google Shape;141;p4: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848B5C1A-E3BA-1CDF-246D-77B56BB73B30}"/>
            </a:ext>
          </a:extLst>
        </p:cNvPr>
        <p:cNvGrpSpPr/>
        <p:nvPr/>
      </p:nvGrpSpPr>
      <p:grpSpPr>
        <a:xfrm>
          <a:off x="0" y="0"/>
          <a:ext cx="0" cy="0"/>
          <a:chOff x="0" y="0"/>
          <a:chExt cx="0" cy="0"/>
        </a:xfrm>
      </p:grpSpPr>
      <p:sp>
        <p:nvSpPr>
          <p:cNvPr id="140" name="Google Shape;140;p4:notes">
            <a:extLst>
              <a:ext uri="{FF2B5EF4-FFF2-40B4-BE49-F238E27FC236}">
                <a16:creationId xmlns:a16="http://schemas.microsoft.com/office/drawing/2014/main" id="{237A4205-F2C6-05B1-AF8A-76BD0B3AC176}"/>
              </a:ext>
            </a:extLst>
          </p:cNvPr>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171450" lvl="0" indent="-171450" algn="l" rtl="0">
              <a:spcBef>
                <a:spcPts val="0"/>
              </a:spcBef>
              <a:spcAft>
                <a:spcPts val="0"/>
              </a:spcAft>
              <a:buFontTx/>
              <a:buChar char="-"/>
            </a:pPr>
            <a:r>
              <a:rPr lang="en-US" dirty="0"/>
              <a:t>.</a:t>
            </a:r>
          </a:p>
        </p:txBody>
      </p:sp>
      <p:sp>
        <p:nvSpPr>
          <p:cNvPr id="141" name="Google Shape;141;p4:notes">
            <a:extLst>
              <a:ext uri="{FF2B5EF4-FFF2-40B4-BE49-F238E27FC236}">
                <a16:creationId xmlns:a16="http://schemas.microsoft.com/office/drawing/2014/main" id="{C510B708-B8F8-EF12-C1CB-1F731F8DB43F}"/>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7970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CB1B05A8-AA74-0B5C-9065-235EEF759941}"/>
            </a:ext>
          </a:extLst>
        </p:cNvPr>
        <p:cNvGrpSpPr/>
        <p:nvPr/>
      </p:nvGrpSpPr>
      <p:grpSpPr>
        <a:xfrm>
          <a:off x="0" y="0"/>
          <a:ext cx="0" cy="0"/>
          <a:chOff x="0" y="0"/>
          <a:chExt cx="0" cy="0"/>
        </a:xfrm>
      </p:grpSpPr>
      <p:sp>
        <p:nvSpPr>
          <p:cNvPr id="140" name="Google Shape;140;p4:notes">
            <a:extLst>
              <a:ext uri="{FF2B5EF4-FFF2-40B4-BE49-F238E27FC236}">
                <a16:creationId xmlns:a16="http://schemas.microsoft.com/office/drawing/2014/main" id="{5B2436CB-5D6F-661C-14FE-3C5ECA3B8DF6}"/>
              </a:ext>
            </a:extLst>
          </p:cNvPr>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171450" lvl="0" indent="-171450" algn="l" rtl="0">
              <a:spcBef>
                <a:spcPts val="0"/>
              </a:spcBef>
              <a:spcAft>
                <a:spcPts val="0"/>
              </a:spcAft>
              <a:buFontTx/>
              <a:buChar char="-"/>
            </a:pPr>
            <a:r>
              <a:rPr lang="en-US" dirty="0"/>
              <a:t>Heavy alcohol use counts as 5 or more drinks on any day or more than 15 drinks per week for men, or 4 or more drinks on any day or more than 8 drinks per week for women,</a:t>
            </a:r>
          </a:p>
        </p:txBody>
      </p:sp>
      <p:sp>
        <p:nvSpPr>
          <p:cNvPr id="141" name="Google Shape;141;p4:notes">
            <a:extLst>
              <a:ext uri="{FF2B5EF4-FFF2-40B4-BE49-F238E27FC236}">
                <a16:creationId xmlns:a16="http://schemas.microsoft.com/office/drawing/2014/main" id="{8E5FD823-4F54-DDC6-F963-582EDAA37062}"/>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4617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49" name="Google Shape;149;p5: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702310" y="4421824"/>
            <a:ext cx="5618480" cy="4189095"/>
          </a:xfrm>
          <a:prstGeom prst="rect">
            <a:avLst/>
          </a:prstGeom>
        </p:spPr>
        <p:txBody>
          <a:bodyPr spcFirstLastPara="1" wrap="square" lIns="92425" tIns="46200" rIns="92425" bIns="46200" anchor="t" anchorCtr="0">
            <a:noAutofit/>
          </a:bodyPr>
          <a:lstStyle/>
          <a:p>
            <a:pPr marL="0" lvl="0" indent="0" algn="l" rtl="0">
              <a:spcBef>
                <a:spcPts val="0"/>
              </a:spcBef>
              <a:spcAft>
                <a:spcPts val="0"/>
              </a:spcAft>
              <a:buNone/>
            </a:pPr>
            <a:r>
              <a:rPr lang="en-US"/>
              <a:t>Clarify what ACHA-NCHA means</a:t>
            </a:r>
            <a:endParaRPr/>
          </a:p>
        </p:txBody>
      </p:sp>
      <p:sp>
        <p:nvSpPr>
          <p:cNvPr id="157" name="Google Shape;157;p6: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7: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66" name="Google Shape;166;p7: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8: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77" name="Google Shape;177;p8: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9: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86" name="Google Shape;186;p9: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0: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195" name="Google Shape;195;p10: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11: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204" name="Google Shape;204;p11: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2: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215" name="Google Shape;215;p12: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3: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236" name="Google Shape;236;p13: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786771CF-0AF8-AB19-29EF-2CEF0C522007}"/>
            </a:ext>
          </a:extLst>
        </p:cNvPr>
        <p:cNvGrpSpPr/>
        <p:nvPr/>
      </p:nvGrpSpPr>
      <p:grpSpPr>
        <a:xfrm>
          <a:off x="0" y="0"/>
          <a:ext cx="0" cy="0"/>
          <a:chOff x="0" y="0"/>
          <a:chExt cx="0" cy="0"/>
        </a:xfrm>
      </p:grpSpPr>
      <p:sp>
        <p:nvSpPr>
          <p:cNvPr id="213" name="Google Shape;213;p12:notes">
            <a:extLst>
              <a:ext uri="{FF2B5EF4-FFF2-40B4-BE49-F238E27FC236}">
                <a16:creationId xmlns:a16="http://schemas.microsoft.com/office/drawing/2014/main" id="{EAB8B99B-7A4A-BFCB-657C-B51DC2016541}"/>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2:notes">
            <a:extLst>
              <a:ext uri="{FF2B5EF4-FFF2-40B4-BE49-F238E27FC236}">
                <a16:creationId xmlns:a16="http://schemas.microsoft.com/office/drawing/2014/main" id="{D1C48D45-71F1-0738-093E-AD9DE55F3C9D}"/>
              </a:ext>
            </a:extLst>
          </p:cNvPr>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Note that the responses for each question often do not add up to 100% because not everyone in the survey answered every question</a:t>
            </a:r>
            <a:endParaRPr dirty="0"/>
          </a:p>
        </p:txBody>
      </p:sp>
      <p:sp>
        <p:nvSpPr>
          <p:cNvPr id="215" name="Google Shape;215;p12:notes">
            <a:extLst>
              <a:ext uri="{FF2B5EF4-FFF2-40B4-BE49-F238E27FC236}">
                <a16:creationId xmlns:a16="http://schemas.microsoft.com/office/drawing/2014/main" id="{3D3A6CA5-CDA9-E913-05B5-D99C3BE5E2AD}"/>
              </a:ext>
            </a:extLst>
          </p:cNvPr>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74992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8FECDFA6-A30A-2AAF-D663-E790343B4E4E}"/>
            </a:ext>
          </a:extLst>
        </p:cNvPr>
        <p:cNvGrpSpPr/>
        <p:nvPr/>
      </p:nvGrpSpPr>
      <p:grpSpPr>
        <a:xfrm>
          <a:off x="0" y="0"/>
          <a:ext cx="0" cy="0"/>
          <a:chOff x="0" y="0"/>
          <a:chExt cx="0" cy="0"/>
        </a:xfrm>
      </p:grpSpPr>
      <p:sp>
        <p:nvSpPr>
          <p:cNvPr id="213" name="Google Shape;213;p12:notes">
            <a:extLst>
              <a:ext uri="{FF2B5EF4-FFF2-40B4-BE49-F238E27FC236}">
                <a16:creationId xmlns:a16="http://schemas.microsoft.com/office/drawing/2014/main" id="{6D53D739-86EE-2FEB-40F6-13B7F34D5425}"/>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2:notes">
            <a:extLst>
              <a:ext uri="{FF2B5EF4-FFF2-40B4-BE49-F238E27FC236}">
                <a16:creationId xmlns:a16="http://schemas.microsoft.com/office/drawing/2014/main" id="{59DE5F98-3CD1-2A1D-0866-A150E658B6D7}"/>
              </a:ext>
            </a:extLst>
          </p:cNvPr>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Note that the responses for each question often do not add up to 100% because not everyone in the survey answered every question</a:t>
            </a:r>
            <a:endParaRPr dirty="0"/>
          </a:p>
        </p:txBody>
      </p:sp>
      <p:sp>
        <p:nvSpPr>
          <p:cNvPr id="215" name="Google Shape;215;p12:notes">
            <a:extLst>
              <a:ext uri="{FF2B5EF4-FFF2-40B4-BE49-F238E27FC236}">
                <a16:creationId xmlns:a16="http://schemas.microsoft.com/office/drawing/2014/main" id="{97A0ACA6-0941-3B97-6112-DE9C61ECFF4D}"/>
              </a:ext>
            </a:extLst>
          </p:cNvPr>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136011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227" name="Google Shape;227;p14: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5: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5: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246" name="Google Shape;246;p15: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B9E2726C-53FF-98CB-9AEB-BC622A5BEF3A}"/>
            </a:ext>
          </a:extLst>
        </p:cNvPr>
        <p:cNvGrpSpPr/>
        <p:nvPr/>
      </p:nvGrpSpPr>
      <p:grpSpPr>
        <a:xfrm>
          <a:off x="0" y="0"/>
          <a:ext cx="0" cy="0"/>
          <a:chOff x="0" y="0"/>
          <a:chExt cx="0" cy="0"/>
        </a:xfrm>
      </p:grpSpPr>
      <p:sp>
        <p:nvSpPr>
          <p:cNvPr id="262" name="Google Shape;262;p17:notes">
            <a:extLst>
              <a:ext uri="{FF2B5EF4-FFF2-40B4-BE49-F238E27FC236}">
                <a16:creationId xmlns:a16="http://schemas.microsoft.com/office/drawing/2014/main" id="{5AB47796-0B63-050B-F965-3B7FD817BB71}"/>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7:notes">
            <a:extLst>
              <a:ext uri="{FF2B5EF4-FFF2-40B4-BE49-F238E27FC236}">
                <a16:creationId xmlns:a16="http://schemas.microsoft.com/office/drawing/2014/main" id="{B1CBD9AD-C1D5-48F0-CFA2-1F6292B9BF8E}"/>
              </a:ext>
            </a:extLst>
          </p:cNvPr>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15.7% of students who do not live in Greek housing are in the moderate-to-high risk range of alcohol misuse</a:t>
            </a:r>
          </a:p>
          <a:p>
            <a:pPr marL="0" lvl="0" indent="0" algn="l" rtl="0">
              <a:spcBef>
                <a:spcPts val="0"/>
              </a:spcBef>
              <a:spcAft>
                <a:spcPts val="0"/>
              </a:spcAft>
              <a:buNone/>
            </a:pPr>
            <a:r>
              <a:rPr lang="en-US" dirty="0"/>
              <a:t>whereas 32.6% of students who do live in Greek housing are in this range</a:t>
            </a:r>
          </a:p>
          <a:p>
            <a:pPr marL="0" lvl="0" indent="0" algn="l" rtl="0">
              <a:spcBef>
                <a:spcPts val="0"/>
              </a:spcBef>
              <a:spcAft>
                <a:spcPts val="0"/>
              </a:spcAft>
              <a:buNone/>
            </a:pPr>
            <a:r>
              <a:rPr lang="en-US" dirty="0"/>
              <a:t>for students who answered that they simply participate in Greek life, this proportion was 26.4%</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highlights the importance of educating fraternity and sorority members on responsible alcohol consumption and associated behaviors, as these higher numbers apply to both those who are simply a member of the organization, and also those who live in the house itself.</a:t>
            </a:r>
            <a:endParaRPr dirty="0"/>
          </a:p>
        </p:txBody>
      </p:sp>
      <p:sp>
        <p:nvSpPr>
          <p:cNvPr id="264" name="Google Shape;264;p17:notes">
            <a:extLst>
              <a:ext uri="{FF2B5EF4-FFF2-40B4-BE49-F238E27FC236}">
                <a16:creationId xmlns:a16="http://schemas.microsoft.com/office/drawing/2014/main" id="{5E43D055-41AC-ECB7-3669-E93A8C8328E9}"/>
              </a:ext>
            </a:extLst>
          </p:cNvPr>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024236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6: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6: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The risk of alcohol misuse increases as GPA decreases, signifying that students with lower GPA are more likely to be those with moderate-to-high alcohol risk.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were no correlations between GPA and binge drinking or alcohol consumption rates, suggesting that frequency of drinking is less important to a student’s academic success</a:t>
            </a:r>
          </a:p>
          <a:p>
            <a:pPr marL="0" lvl="0" indent="0" algn="l" rtl="0">
              <a:spcBef>
                <a:spcPts val="0"/>
              </a:spcBef>
              <a:spcAft>
                <a:spcPts val="0"/>
              </a:spcAft>
              <a:buNone/>
            </a:pPr>
            <a:r>
              <a:rPr lang="en-US" dirty="0"/>
              <a:t>than the risk factors associated with drinking, as seen by the correlation between higher chances of misuse among students with lower GPAs.</a:t>
            </a:r>
            <a:endParaRPr dirty="0"/>
          </a:p>
        </p:txBody>
      </p:sp>
      <p:sp>
        <p:nvSpPr>
          <p:cNvPr id="255" name="Google Shape;255;p16: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8: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8: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FIRST TABLE: If a student has at least one of any of these disorders, they are more likely to have a moderate-high risk of alcohol misuse than those without the same disorder (typically, around a 4.5-5% increase)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not causal, of course, as this is possibly a result of students with these disorders potentially drinking more often or having harmful drinking behaviors, which actually leads to the increased risk of alcohol 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 that the abnormally large chance of alcohol misuse for students with a gambling disorder may be due to the sample size of that population, with it being only 162 students, while these other populations range from 2,394 students to 35,840.</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SECOND TABLE: Comparing the results from table 5 to table 6, it currently seems that the presence of issues like mental distress and suicidal behavior are slightly more impactful on moderate to high alcohol misuse risk than the diagnosed mental disorders themselves (anxiety, depression, etc.)</a:t>
            </a:r>
          </a:p>
          <a:p>
            <a:pPr marL="0" lvl="0" indent="0" algn="l" rtl="0">
              <a:spcBef>
                <a:spcPts val="0"/>
              </a:spcBef>
              <a:spcAft>
                <a:spcPts val="0"/>
              </a:spcAft>
              <a:buNone/>
            </a:pPr>
            <a:r>
              <a:rPr lang="en-US" dirty="0"/>
              <a:t>Furthermore, however, are the DIENER and CDRISC2 scores. In both tables, there were no correlations with binge drinking rates</a:t>
            </a:r>
          </a:p>
        </p:txBody>
      </p:sp>
      <p:sp>
        <p:nvSpPr>
          <p:cNvPr id="273" name="Google Shape;273;p18: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0: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20: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Students who live in Greek housing are significantly more likely to experience health, social, legal, and financial problems from alcohol, and are also significantly more likely to blackout when drinking, which comes with its own issues such as hindered cognitive abilities like worsened impulse control, judgment, and decision-making which leads to a greater chance of injuries and sexual assault.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in contrast, students in Greek housing actually drink and drive less than the rest of the college population.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All this to say that education on risks of blackout drinking and alcohol-related consequences is very important for those involved in Greek Life on a college campus.</a:t>
            </a:r>
            <a:endParaRPr dirty="0"/>
          </a:p>
        </p:txBody>
      </p:sp>
      <p:sp>
        <p:nvSpPr>
          <p:cNvPr id="292" name="Google Shape;292;p20: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3: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23: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321" name="Google Shape;321;p23: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ad9d644c69_0_13: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3ad9d644c69_0_13:notes"/>
          <p:cNvSpPr txBox="1">
            <a:spLocks noGrp="1"/>
          </p:cNvSpPr>
          <p:nvPr>
            <p:ph type="body" idx="1"/>
          </p:nvPr>
        </p:nvSpPr>
        <p:spPr>
          <a:xfrm>
            <a:off x="702310" y="4421824"/>
            <a:ext cx="5618400" cy="4189200"/>
          </a:xfrm>
          <a:prstGeom prst="rect">
            <a:avLst/>
          </a:prstGeom>
          <a:noFill/>
          <a:ln>
            <a:noFill/>
          </a:ln>
        </p:spPr>
        <p:txBody>
          <a:bodyPr spcFirstLastPara="1" wrap="square" lIns="92425" tIns="46200" rIns="92425" bIns="462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dk1"/>
                </a:solidFill>
                <a:latin typeface="Times New Roman"/>
                <a:ea typeface="Times New Roman"/>
                <a:cs typeface="Times New Roman"/>
                <a:sym typeface="Times New Roman"/>
              </a:rPr>
              <a:t>The majority of factors, or “predictors” were covered on slides 11 and 12 in the methodology section</a:t>
            </a:r>
            <a:endParaRPr lang="en-US" sz="14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p>
        </p:txBody>
      </p:sp>
      <p:sp>
        <p:nvSpPr>
          <p:cNvPr id="331" name="Google Shape;331;g3ad9d644c69_0_13:notes"/>
          <p:cNvSpPr txBox="1">
            <a:spLocks noGrp="1"/>
          </p:cNvSpPr>
          <p:nvPr>
            <p:ph type="sldNum" idx="12"/>
          </p:nvPr>
        </p:nvSpPr>
        <p:spPr>
          <a:xfrm>
            <a:off x="3978132" y="8842031"/>
            <a:ext cx="3043200" cy="46560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4: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24: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dirty="0"/>
          </a:p>
        </p:txBody>
      </p:sp>
      <p:sp>
        <p:nvSpPr>
          <p:cNvPr id="341" name="Google Shape;341;p24: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a:extLst>
            <a:ext uri="{FF2B5EF4-FFF2-40B4-BE49-F238E27FC236}">
              <a16:creationId xmlns:a16="http://schemas.microsoft.com/office/drawing/2014/main" id="{17A87C3E-7561-8A82-23A7-0E69119EB8CE}"/>
            </a:ext>
          </a:extLst>
        </p:cNvPr>
        <p:cNvGrpSpPr/>
        <p:nvPr/>
      </p:nvGrpSpPr>
      <p:grpSpPr>
        <a:xfrm>
          <a:off x="0" y="0"/>
          <a:ext cx="0" cy="0"/>
          <a:chOff x="0" y="0"/>
          <a:chExt cx="0" cy="0"/>
        </a:xfrm>
      </p:grpSpPr>
      <p:sp>
        <p:nvSpPr>
          <p:cNvPr id="339" name="Google Shape;339;p24:notes">
            <a:extLst>
              <a:ext uri="{FF2B5EF4-FFF2-40B4-BE49-F238E27FC236}">
                <a16:creationId xmlns:a16="http://schemas.microsoft.com/office/drawing/2014/main" id="{646DC7BC-3F87-6422-ACC2-D6DCB74FD81B}"/>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24:notes">
            <a:extLst>
              <a:ext uri="{FF2B5EF4-FFF2-40B4-BE49-F238E27FC236}">
                <a16:creationId xmlns:a16="http://schemas.microsoft.com/office/drawing/2014/main" id="{2099B891-6A5E-4B7E-9B4B-D6B7AFC31F26}"/>
              </a:ext>
            </a:extLst>
          </p:cNvPr>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a:t>
            </a:r>
            <a:endParaRPr dirty="0"/>
          </a:p>
        </p:txBody>
      </p:sp>
      <p:sp>
        <p:nvSpPr>
          <p:cNvPr id="341" name="Google Shape;341;p24:notes">
            <a:extLst>
              <a:ext uri="{FF2B5EF4-FFF2-40B4-BE49-F238E27FC236}">
                <a16:creationId xmlns:a16="http://schemas.microsoft.com/office/drawing/2014/main" id="{A741A45D-55E4-E503-1E60-0F104376DEF2}"/>
              </a:ext>
            </a:extLst>
          </p:cNvPr>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0486498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5: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25: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One of the collinearity tests is a correlation matrix which shows how much each variable is correlated to every other variable in a given group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was performed for both mental health scales as well as mental health diagnoses, which make up a majority of the predictors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score of 1 indicates perfect correlation between two variables and a score of 0 indicates no correlation two variables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goal was to avoid scores above 0.7 or below -0.7 (because the scale goes to both sides of zero depending on how the variables interact)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the diagnoses, the results were stable as well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Additionally, variance influence factors (VIF) were calculated were calculated for each of these variables</a:t>
            </a:r>
          </a:p>
          <a:p>
            <a:pPr marL="0" lvl="0" indent="0" algn="l" rtl="0">
              <a:spcBef>
                <a:spcPts val="0"/>
              </a:spcBef>
              <a:spcAft>
                <a:spcPts val="0"/>
              </a:spcAft>
              <a:buNone/>
            </a:pPr>
            <a:r>
              <a:rPr lang="en-US" dirty="0"/>
              <a:t>A score above 5 would be conventionally suggest high collinearity</a:t>
            </a:r>
          </a:p>
          <a:p>
            <a:pPr marL="0" lvl="0" indent="0" algn="l" rtl="0">
              <a:spcBef>
                <a:spcPts val="0"/>
              </a:spcBef>
              <a:spcAft>
                <a:spcPts val="0"/>
              </a:spcAft>
              <a:buNone/>
            </a:pPr>
            <a:r>
              <a:rPr lang="en-US" dirty="0"/>
              <a:t>The highest score was a 2.65 for anxiety, indicating again that there is only low-moderate collinearity present</a:t>
            </a:r>
            <a:endParaRPr dirty="0"/>
          </a:p>
        </p:txBody>
      </p:sp>
      <p:sp>
        <p:nvSpPr>
          <p:cNvPr id="350" name="Google Shape;350;p25: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6: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26: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dirty="0"/>
          </a:p>
        </p:txBody>
      </p:sp>
      <p:sp>
        <p:nvSpPr>
          <p:cNvPr id="360" name="Google Shape;360;p26: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F58085C5-60BB-143F-4C16-6EF8BF0E412D}"/>
            </a:ext>
          </a:extLst>
        </p:cNvPr>
        <p:cNvGrpSpPr/>
        <p:nvPr/>
      </p:nvGrpSpPr>
      <p:grpSpPr>
        <a:xfrm>
          <a:off x="0" y="0"/>
          <a:ext cx="0" cy="0"/>
          <a:chOff x="0" y="0"/>
          <a:chExt cx="0" cy="0"/>
        </a:xfrm>
      </p:grpSpPr>
      <p:sp>
        <p:nvSpPr>
          <p:cNvPr id="358" name="Google Shape;358;p26:notes">
            <a:extLst>
              <a:ext uri="{FF2B5EF4-FFF2-40B4-BE49-F238E27FC236}">
                <a16:creationId xmlns:a16="http://schemas.microsoft.com/office/drawing/2014/main" id="{2CD39E9F-0360-3CDB-0A75-2636CE744E39}"/>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26:notes">
            <a:extLst>
              <a:ext uri="{FF2B5EF4-FFF2-40B4-BE49-F238E27FC236}">
                <a16:creationId xmlns:a16="http://schemas.microsoft.com/office/drawing/2014/main" id="{B7E3DB74-B453-989F-93C6-D6C1ACDAD976}"/>
              </a:ext>
            </a:extLst>
          </p:cNvPr>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rtl="0"/>
            <a:r>
              <a:rPr lang="en-US" sz="1200" b="0" i="0" u="none" strike="noStrike" cap="none" dirty="0">
                <a:solidFill>
                  <a:schemeClr val="dk1"/>
                </a:solidFill>
                <a:effectLst/>
                <a:latin typeface="Calibri"/>
                <a:ea typeface="Calibri"/>
                <a:cs typeface="Calibri"/>
                <a:sym typeface="Calibri"/>
              </a:rPr>
              <a:t>The model demonstrates strong performance in maintaining the correct ordinal ranking of alcohol misuse risk, effectively capturing the relationships between predictors and risk levels; however, an imbalance in class sizes caused the model to predominantly group students into the low-risk category, thus limiting its sensitivity for precisely identifying moderate and high-risk individuals. TALK ABOUT HOW FEW PEOPLE WERE HIGH RISK EARLIER ETC	</a:t>
            </a:r>
          </a:p>
          <a:p>
            <a:r>
              <a:rPr lang="en-US" sz="1200" b="0" i="0" u="none" strike="noStrike" cap="none" dirty="0">
                <a:solidFill>
                  <a:schemeClr val="dk1"/>
                </a:solidFill>
                <a:effectLst/>
                <a:latin typeface="Calibri"/>
                <a:ea typeface="Calibri"/>
                <a:cs typeface="Calibri"/>
                <a:sym typeface="Calibri"/>
              </a:rPr>
              <a:t> </a:t>
            </a:r>
            <a:endParaRPr dirty="0"/>
          </a:p>
        </p:txBody>
      </p:sp>
      <p:sp>
        <p:nvSpPr>
          <p:cNvPr id="360" name="Google Shape;360;p26:notes">
            <a:extLst>
              <a:ext uri="{FF2B5EF4-FFF2-40B4-BE49-F238E27FC236}">
                <a16:creationId xmlns:a16="http://schemas.microsoft.com/office/drawing/2014/main" id="{A72D3435-B387-F329-AAAC-81B5F73B0445}"/>
              </a:ext>
            </a:extLst>
          </p:cNvPr>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6133924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7: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27: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The odds ratios directly reflect the change in odds of being in a higher alcohol-risk category, not movement between specific adjacent categories, as the model does not</a:t>
            </a:r>
          </a:p>
          <a:p>
            <a:pPr marL="0" lvl="0" indent="0" algn="l" rtl="0">
              <a:spcBef>
                <a:spcPts val="0"/>
              </a:spcBef>
              <a:spcAft>
                <a:spcPts val="0"/>
              </a:spcAft>
              <a:buNone/>
            </a:pPr>
            <a:r>
              <a:rPr lang="en-US" dirty="0"/>
              <a:t>assume equal spacing between the categories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percentage change in odds in the "Brief Interpretation" value is calculated by subtracting 1 from the odds ratio and multiplying the value by 100.</a:t>
            </a:r>
          </a:p>
          <a:p>
            <a:pPr marL="0" lvl="0" indent="0" algn="l" rtl="0">
              <a:spcBef>
                <a:spcPts val="0"/>
              </a:spcBef>
              <a:spcAft>
                <a:spcPts val="0"/>
              </a:spcAft>
              <a:buNone/>
            </a:pPr>
            <a:endParaRPr lang="en-US" dirty="0"/>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There were two variables who shared the same strongest impact on the model. Students who screened positive for suicidal behavior or who were involved in Greek life had approximately 20% higher odds of being in a higher alcohol-risk category. Students with SPD and those reporting loneliness also had increased odds (10% and 9%, respectively), while higher GPA was associated with lower risk, with each grade increase reducing the odds by about 8%. Several factors, including insomnia, sleep apnea, OCD diagnoses, and resilience scores, showed no significant effect. Notably, the model indicated four times greater odds of higher alcohol risk for Greek organization members compared to students living in Greek housing, which contrasts with findings from the exploratory data analysis.</a:t>
            </a:r>
            <a:endParaRPr dirty="0"/>
          </a:p>
        </p:txBody>
      </p:sp>
      <p:sp>
        <p:nvSpPr>
          <p:cNvPr id="370" name="Google Shape;370;p27: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8: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28: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388" name="Google Shape;388;p28: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9: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29: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397" name="Google Shape;397;p29: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0: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30: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a:p>
        </p:txBody>
      </p:sp>
      <p:sp>
        <p:nvSpPr>
          <p:cNvPr id="416" name="Google Shape;416;p30: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ad8ce5045d_0_0: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3ad8ce5045d_0_0:notes"/>
          <p:cNvSpPr txBox="1">
            <a:spLocks noGrp="1"/>
          </p:cNvSpPr>
          <p:nvPr>
            <p:ph type="body" idx="1"/>
          </p:nvPr>
        </p:nvSpPr>
        <p:spPr>
          <a:xfrm>
            <a:off x="702310" y="4421824"/>
            <a:ext cx="5618400" cy="4189200"/>
          </a:xfrm>
          <a:prstGeom prst="rect">
            <a:avLst/>
          </a:prstGeom>
          <a:noFill/>
          <a:ln>
            <a:noFill/>
          </a:ln>
        </p:spPr>
        <p:txBody>
          <a:bodyPr spcFirstLastPara="1" wrap="square" lIns="92425" tIns="46200" rIns="92425" bIns="46200" anchor="t" anchorCtr="0">
            <a:noAutofit/>
          </a:bodyPr>
          <a:lstStyle/>
          <a:p>
            <a:r>
              <a:rPr lang="en-US" sz="1200" b="1" i="0" u="none" strike="noStrike" cap="none" dirty="0">
                <a:solidFill>
                  <a:schemeClr val="dk1"/>
                </a:solidFill>
                <a:effectLst/>
                <a:latin typeface="Calibri"/>
                <a:ea typeface="Calibri"/>
                <a:cs typeface="Calibri"/>
                <a:sym typeface="Calibri"/>
              </a:rPr>
              <a:t>Caring for humanity and the world:</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This project identifies key mental health and social risk factors for alcohol misuse among college students to support targeted prevention and student well-being.</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Learning throughout a lifetime:</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This project demonstrates intellectual growth by refining research questions and methods through literature review, exploratory analysis, and model development.</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Thinking critically:</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This project applies statistical reasoning to evaluate predictors of alcohol misuse risk while recognizing data limitations and model uncertainty.</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Crossing boundaries and disciplines:</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This project integrates public health, psychology, statistics, and education to better understand alcohol misuse in college populations.</a:t>
            </a:r>
          </a:p>
          <a:p>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Developing creativity:</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This project uses creative data visualization and modeling choices to reveal patterns and inspire innovative approaches to alcohol misuse prevention.</a:t>
            </a:r>
          </a:p>
          <a:p>
            <a:pPr marL="0" lvl="0" indent="0" algn="l" rtl="0">
              <a:spcBef>
                <a:spcPts val="0"/>
              </a:spcBef>
              <a:spcAft>
                <a:spcPts val="0"/>
              </a:spcAft>
              <a:buNone/>
            </a:pPr>
            <a:endParaRPr dirty="0"/>
          </a:p>
        </p:txBody>
      </p:sp>
      <p:sp>
        <p:nvSpPr>
          <p:cNvPr id="406" name="Google Shape;406;g3ad8ce5045d_0_0:notes"/>
          <p:cNvSpPr txBox="1">
            <a:spLocks noGrp="1"/>
          </p:cNvSpPr>
          <p:nvPr>
            <p:ph type="sldNum" idx="12"/>
          </p:nvPr>
        </p:nvSpPr>
        <p:spPr>
          <a:xfrm>
            <a:off x="3978132" y="8842031"/>
            <a:ext cx="3043200" cy="46560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932B11FA-5DB0-A7B4-1310-E8F305089A82}"/>
            </a:ext>
          </a:extLst>
        </p:cNvPr>
        <p:cNvGrpSpPr/>
        <p:nvPr/>
      </p:nvGrpSpPr>
      <p:grpSpPr>
        <a:xfrm>
          <a:off x="0" y="0"/>
          <a:ext cx="0" cy="0"/>
          <a:chOff x="0" y="0"/>
          <a:chExt cx="0" cy="0"/>
        </a:xfrm>
      </p:grpSpPr>
      <p:sp>
        <p:nvSpPr>
          <p:cNvPr id="404" name="Google Shape;404;g3ad8ce5045d_0_0:notes">
            <a:extLst>
              <a:ext uri="{FF2B5EF4-FFF2-40B4-BE49-F238E27FC236}">
                <a16:creationId xmlns:a16="http://schemas.microsoft.com/office/drawing/2014/main" id="{DEA6ADAB-F096-0090-4A5F-B526776B574F}"/>
              </a:ext>
            </a:extLst>
          </p:cNvPr>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3ad8ce5045d_0_0:notes">
            <a:extLst>
              <a:ext uri="{FF2B5EF4-FFF2-40B4-BE49-F238E27FC236}">
                <a16:creationId xmlns:a16="http://schemas.microsoft.com/office/drawing/2014/main" id="{5B7E574F-02B9-1022-5B06-5469146AA7F4}"/>
              </a:ext>
            </a:extLst>
          </p:cNvPr>
          <p:cNvSpPr txBox="1">
            <a:spLocks noGrp="1"/>
          </p:cNvSpPr>
          <p:nvPr>
            <p:ph type="body" idx="1"/>
          </p:nvPr>
        </p:nvSpPr>
        <p:spPr>
          <a:xfrm>
            <a:off x="702310" y="4421824"/>
            <a:ext cx="5618400" cy="4189200"/>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endParaRPr dirty="0"/>
          </a:p>
        </p:txBody>
      </p:sp>
      <p:sp>
        <p:nvSpPr>
          <p:cNvPr id="406" name="Google Shape;406;g3ad8ce5045d_0_0:notes">
            <a:extLst>
              <a:ext uri="{FF2B5EF4-FFF2-40B4-BE49-F238E27FC236}">
                <a16:creationId xmlns:a16="http://schemas.microsoft.com/office/drawing/2014/main" id="{09AE2FB0-C3FF-A294-30AF-45D84D9EA0A2}"/>
              </a:ext>
            </a:extLst>
          </p:cNvPr>
          <p:cNvSpPr txBox="1">
            <a:spLocks noGrp="1"/>
          </p:cNvSpPr>
          <p:nvPr>
            <p:ph type="sldNum" idx="12"/>
          </p:nvPr>
        </p:nvSpPr>
        <p:spPr>
          <a:xfrm>
            <a:off x="3978132" y="8842031"/>
            <a:ext cx="3043200" cy="46560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1673914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31: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For more references, please refer to my report</a:t>
            </a:r>
          </a:p>
          <a:p>
            <a:pPr marL="0" lvl="0" indent="0" algn="l" rtl="0">
              <a:spcBef>
                <a:spcPts val="0"/>
              </a:spcBef>
              <a:spcAft>
                <a:spcPts val="0"/>
              </a:spcAft>
              <a:buNone/>
            </a:pPr>
            <a:endParaRPr dirty="0"/>
          </a:p>
        </p:txBody>
      </p:sp>
      <p:sp>
        <p:nvSpPr>
          <p:cNvPr id="435" name="Google Shape;435;p31: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2:notes"/>
          <p:cNvSpPr>
            <a:spLocks noGrp="1" noRot="1" noChangeAspect="1"/>
          </p:cNvSpPr>
          <p:nvPr>
            <p:ph type="sldImg" idx="2"/>
          </p:nvPr>
        </p:nvSpPr>
        <p:spPr>
          <a:xfrm>
            <a:off x="1184275" y="698500"/>
            <a:ext cx="46545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32:notes"/>
          <p:cNvSpPr txBox="1">
            <a:spLocks noGrp="1"/>
          </p:cNvSpPr>
          <p:nvPr>
            <p:ph type="body" idx="1"/>
          </p:nvPr>
        </p:nvSpPr>
        <p:spPr>
          <a:xfrm>
            <a:off x="702310" y="4421824"/>
            <a:ext cx="5618480" cy="4189095"/>
          </a:xfrm>
          <a:prstGeom prst="rect">
            <a:avLst/>
          </a:prstGeom>
          <a:noFill/>
          <a:ln>
            <a:noFill/>
          </a:ln>
        </p:spPr>
        <p:txBody>
          <a:bodyPr spcFirstLastPara="1" wrap="square" lIns="92425" tIns="46200" rIns="92425" bIns="46200" anchor="t" anchorCtr="0">
            <a:noAutofit/>
          </a:bodyPr>
          <a:lstStyle/>
          <a:p>
            <a:pPr marL="0" lvl="0" indent="0" algn="l" rtl="0">
              <a:spcBef>
                <a:spcPts val="0"/>
              </a:spcBef>
              <a:spcAft>
                <a:spcPts val="0"/>
              </a:spcAft>
              <a:buNone/>
            </a:pPr>
            <a:r>
              <a:rPr lang="en-US" dirty="0"/>
              <a:t>THANK EVERYONE FOR COMING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AFTER QUESTIONS, INTODUCE ANTHONY “</a:t>
            </a:r>
            <a:r>
              <a:rPr lang="en-US" sz="1200" b="0" i="0" u="none" strike="noStrike" cap="none" dirty="0">
                <a:solidFill>
                  <a:schemeClr val="dk1"/>
                </a:solidFill>
                <a:effectLst/>
                <a:latin typeface="Calibri"/>
                <a:ea typeface="Calibri"/>
                <a:cs typeface="Calibri"/>
                <a:sym typeface="Calibri"/>
              </a:rPr>
              <a:t> “Finding the Net: A Predictive Look at NHL Shooting Performance” – </a:t>
            </a:r>
            <a:r>
              <a:rPr lang="en-US" sz="1200" b="0" i="1" u="none" strike="noStrike" cap="none" dirty="0">
                <a:solidFill>
                  <a:schemeClr val="dk1"/>
                </a:solidFill>
                <a:effectLst/>
                <a:latin typeface="Calibri"/>
                <a:ea typeface="Calibri"/>
                <a:cs typeface="Calibri"/>
                <a:sym typeface="Calibri"/>
              </a:rPr>
              <a:t>Anthony Mollica”</a:t>
            </a:r>
            <a:endParaRPr dirty="0"/>
          </a:p>
        </p:txBody>
      </p:sp>
      <p:sp>
        <p:nvSpPr>
          <p:cNvPr id="426" name="Google Shape;426;p32:notes"/>
          <p:cNvSpPr txBox="1">
            <a:spLocks noGrp="1"/>
          </p:cNvSpPr>
          <p:nvPr>
            <p:ph type="sldNum" idx="12"/>
          </p:nvPr>
        </p:nvSpPr>
        <p:spPr>
          <a:xfrm>
            <a:off x="3978132" y="8842031"/>
            <a:ext cx="3043343" cy="465455"/>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gradFill>
          <a:gsLst>
            <a:gs pos="0">
              <a:srgbClr val="BEC4D3"/>
            </a:gs>
            <a:gs pos="12000">
              <a:srgbClr val="BEC4D3"/>
            </a:gs>
            <a:gs pos="20000">
              <a:srgbClr val="BDC3D1"/>
            </a:gs>
            <a:gs pos="100000">
              <a:srgbClr val="343945"/>
            </a:gs>
          </a:gsLst>
          <a:path path="circle">
            <a:fillToRect l="50000" t="50000" r="50000" b="50000"/>
          </a:path>
          <a:tileRect/>
        </a:gradFill>
        <a:effectLst/>
      </p:bgPr>
    </p:bg>
    <p:spTree>
      <p:nvGrpSpPr>
        <p:cNvPr id="1" name="Shape 17"/>
        <p:cNvGrpSpPr/>
        <p:nvPr/>
      </p:nvGrpSpPr>
      <p:grpSpPr>
        <a:xfrm>
          <a:off x="0" y="0"/>
          <a:ext cx="0" cy="0"/>
          <a:chOff x="0" y="0"/>
          <a:chExt cx="0" cy="0"/>
        </a:xfrm>
      </p:grpSpPr>
      <p:sp>
        <p:nvSpPr>
          <p:cNvPr id="18" name="Google Shape;18;p36"/>
          <p:cNvSpPr/>
          <p:nvPr/>
        </p:nvSpPr>
        <p:spPr>
          <a:xfrm>
            <a:off x="0" y="0"/>
            <a:ext cx="9143999" cy="513543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 name="Google Shape;19;p36"/>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lvl1pPr lvl="0" algn="l">
              <a:spcBef>
                <a:spcPts val="0"/>
              </a:spcBef>
              <a:spcAft>
                <a:spcPts val="0"/>
              </a:spcAft>
              <a:buClr>
                <a:srgbClr val="FFC700"/>
              </a:buClr>
              <a:buSzPts val="4700"/>
              <a:buFont typeface="Times New Roman"/>
              <a:buNone/>
              <a:defRPr sz="4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6"/>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rmAutofit/>
          </a:bodyPr>
          <a:lstStyle>
            <a:lvl1pPr lvl="0" algn="l">
              <a:spcBef>
                <a:spcPts val="0"/>
              </a:spcBef>
              <a:spcAft>
                <a:spcPts val="0"/>
              </a:spcAft>
              <a:buSzPts val="1600"/>
              <a:buNone/>
              <a:defRPr sz="2000">
                <a:solidFill>
                  <a:srgbClr val="FFFFFF"/>
                </a:solidFill>
              </a:defRPr>
            </a:lvl1pPr>
            <a:lvl2pPr lvl="1" algn="ctr">
              <a:spcBef>
                <a:spcPts val="560"/>
              </a:spcBef>
              <a:spcAft>
                <a:spcPts val="0"/>
              </a:spcAft>
              <a:buSzPts val="2520"/>
              <a:buNone/>
              <a:defRPr>
                <a:solidFill>
                  <a:schemeClr val="lt1"/>
                </a:solidFill>
              </a:defRPr>
            </a:lvl2pPr>
            <a:lvl3pPr lvl="2" algn="ctr">
              <a:spcBef>
                <a:spcPts val="480"/>
              </a:spcBef>
              <a:spcAft>
                <a:spcPts val="0"/>
              </a:spcAft>
              <a:buSzPts val="2400"/>
              <a:buNone/>
              <a:defRPr>
                <a:solidFill>
                  <a:schemeClr val="lt1"/>
                </a:solidFill>
              </a:defRPr>
            </a:lvl3pPr>
            <a:lvl4pPr lvl="3" algn="ctr">
              <a:spcBef>
                <a:spcPts val="400"/>
              </a:spcBef>
              <a:spcAft>
                <a:spcPts val="0"/>
              </a:spcAft>
              <a:buSzPts val="2000"/>
              <a:buNone/>
              <a:defRPr>
                <a:solidFill>
                  <a:schemeClr val="lt1"/>
                </a:solidFill>
              </a:defRPr>
            </a:lvl4pPr>
            <a:lvl5pPr lvl="4" algn="ctr">
              <a:spcBef>
                <a:spcPts val="400"/>
              </a:spcBef>
              <a:spcAft>
                <a:spcPts val="0"/>
              </a:spcAft>
              <a:buSzPts val="2000"/>
              <a:buNone/>
              <a:defRPr>
                <a:solidFill>
                  <a:schemeClr val="lt1"/>
                </a:solidFill>
              </a:defRPr>
            </a:lvl5pPr>
            <a:lvl6pPr lvl="5" algn="ctr">
              <a:spcBef>
                <a:spcPts val="400"/>
              </a:spcBef>
              <a:spcAft>
                <a:spcPts val="0"/>
              </a:spcAft>
              <a:buSzPts val="2000"/>
              <a:buNone/>
              <a:defRPr>
                <a:solidFill>
                  <a:schemeClr val="lt1"/>
                </a:solidFill>
              </a:defRPr>
            </a:lvl6pPr>
            <a:lvl7pPr lvl="6" algn="ctr">
              <a:spcBef>
                <a:spcPts val="360"/>
              </a:spcBef>
              <a:spcAft>
                <a:spcPts val="0"/>
              </a:spcAft>
              <a:buSzPts val="1800"/>
              <a:buNone/>
              <a:defRPr>
                <a:solidFill>
                  <a:schemeClr val="lt1"/>
                </a:solidFill>
              </a:defRPr>
            </a:lvl7pPr>
            <a:lvl8pPr lvl="7" algn="ctr">
              <a:spcBef>
                <a:spcPts val="360"/>
              </a:spcBef>
              <a:spcAft>
                <a:spcPts val="0"/>
              </a:spcAft>
              <a:buSzPts val="1800"/>
              <a:buNone/>
              <a:defRPr>
                <a:solidFill>
                  <a:schemeClr val="lt1"/>
                </a:solidFill>
              </a:defRPr>
            </a:lvl8pPr>
            <a:lvl9pPr lvl="8" algn="ctr">
              <a:spcBef>
                <a:spcPts val="360"/>
              </a:spcBef>
              <a:spcAft>
                <a:spcPts val="0"/>
              </a:spcAft>
              <a:buSzPts val="1800"/>
              <a:buNone/>
              <a:defRPr>
                <a:solidFill>
                  <a:schemeClr val="lt1"/>
                </a:solidFill>
              </a:defRPr>
            </a:lvl9pPr>
          </a:lstStyle>
          <a:p>
            <a:endParaRPr/>
          </a:p>
        </p:txBody>
      </p:sp>
      <p:sp>
        <p:nvSpPr>
          <p:cNvPr id="21" name="Google Shape;21;p36"/>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6"/>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6"/>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36"/>
          <p:cNvSpPr/>
          <p:nvPr/>
        </p:nvSpPr>
        <p:spPr>
          <a:xfrm>
            <a:off x="0" y="5128334"/>
            <a:ext cx="9144000" cy="4572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7"/>
          <p:cNvSpPr txBox="1">
            <a:spLocks noGrp="1"/>
          </p:cNvSpPr>
          <p:nvPr>
            <p:ph type="body" idx="1"/>
          </p:nvPr>
        </p:nvSpPr>
        <p:spPr>
          <a:xfrm>
            <a:off x="457200" y="1775191"/>
            <a:ext cx="8229600" cy="4625609"/>
          </a:xfrm>
          <a:prstGeom prst="rect">
            <a:avLst/>
          </a:prstGeom>
          <a:noFill/>
          <a:ln>
            <a:noFill/>
          </a:ln>
        </p:spPr>
        <p:txBody>
          <a:bodyPr spcFirstLastPara="1" wrap="square" lIns="54850" tIns="91425" rIns="91425" bIns="45700" anchor="t" anchorCtr="0">
            <a:norm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6" name="Google Shape;36;p37"/>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7"/>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7"/>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sz="2000" b="0" i="0" u="none" strike="noStrike" cap="none">
                <a:solidFill>
                  <a:srgbClr val="414141"/>
                </a:solidFill>
                <a:latin typeface="Arial"/>
                <a:ea typeface="Arial"/>
                <a:cs typeface="Arial"/>
                <a:sym typeface="Arial"/>
              </a:defRPr>
            </a:lvl1pPr>
            <a:lvl2pPr marL="0" lvl="1" indent="0" algn="r">
              <a:spcBef>
                <a:spcPts val="0"/>
              </a:spcBef>
              <a:buNone/>
              <a:defRPr sz="2000" b="0" i="0" u="none" strike="noStrike" cap="none">
                <a:solidFill>
                  <a:srgbClr val="414141"/>
                </a:solidFill>
                <a:latin typeface="Arial"/>
                <a:ea typeface="Arial"/>
                <a:cs typeface="Arial"/>
                <a:sym typeface="Arial"/>
              </a:defRPr>
            </a:lvl2pPr>
            <a:lvl3pPr marL="0" lvl="2" indent="0" algn="r">
              <a:spcBef>
                <a:spcPts val="0"/>
              </a:spcBef>
              <a:buNone/>
              <a:defRPr sz="2000" b="0" i="0" u="none" strike="noStrike" cap="none">
                <a:solidFill>
                  <a:srgbClr val="414141"/>
                </a:solidFill>
                <a:latin typeface="Arial"/>
                <a:ea typeface="Arial"/>
                <a:cs typeface="Arial"/>
                <a:sym typeface="Arial"/>
              </a:defRPr>
            </a:lvl3pPr>
            <a:lvl4pPr marL="0" lvl="3" indent="0" algn="r">
              <a:spcBef>
                <a:spcPts val="0"/>
              </a:spcBef>
              <a:buNone/>
              <a:defRPr sz="2000" b="0" i="0" u="none" strike="noStrike" cap="none">
                <a:solidFill>
                  <a:srgbClr val="414141"/>
                </a:solidFill>
                <a:latin typeface="Arial"/>
                <a:ea typeface="Arial"/>
                <a:cs typeface="Arial"/>
                <a:sym typeface="Arial"/>
              </a:defRPr>
            </a:lvl4pPr>
            <a:lvl5pPr marL="0" lvl="4" indent="0" algn="r">
              <a:spcBef>
                <a:spcPts val="0"/>
              </a:spcBef>
              <a:buNone/>
              <a:defRPr sz="2000" b="0" i="0" u="none" strike="noStrike" cap="none">
                <a:solidFill>
                  <a:srgbClr val="414141"/>
                </a:solidFill>
                <a:latin typeface="Arial"/>
                <a:ea typeface="Arial"/>
                <a:cs typeface="Arial"/>
                <a:sym typeface="Arial"/>
              </a:defRPr>
            </a:lvl5pPr>
            <a:lvl6pPr marL="0" lvl="5" indent="0" algn="r">
              <a:spcBef>
                <a:spcPts val="0"/>
              </a:spcBef>
              <a:buNone/>
              <a:defRPr sz="2000" b="0" i="0" u="none" strike="noStrike" cap="none">
                <a:solidFill>
                  <a:srgbClr val="414141"/>
                </a:solidFill>
                <a:latin typeface="Arial"/>
                <a:ea typeface="Arial"/>
                <a:cs typeface="Arial"/>
                <a:sym typeface="Arial"/>
              </a:defRPr>
            </a:lvl6pPr>
            <a:lvl7pPr marL="0" lvl="6" indent="0" algn="r">
              <a:spcBef>
                <a:spcPts val="0"/>
              </a:spcBef>
              <a:buNone/>
              <a:defRPr sz="2000" b="0" i="0" u="none" strike="noStrike" cap="none">
                <a:solidFill>
                  <a:srgbClr val="414141"/>
                </a:solidFill>
                <a:latin typeface="Arial"/>
                <a:ea typeface="Arial"/>
                <a:cs typeface="Arial"/>
                <a:sym typeface="Arial"/>
              </a:defRPr>
            </a:lvl7pPr>
            <a:lvl8pPr marL="0" lvl="7" indent="0" algn="r">
              <a:spcBef>
                <a:spcPts val="0"/>
              </a:spcBef>
              <a:buNone/>
              <a:defRPr sz="2000" b="0" i="0" u="none" strike="noStrike" cap="none">
                <a:solidFill>
                  <a:srgbClr val="414141"/>
                </a:solidFill>
                <a:latin typeface="Arial"/>
                <a:ea typeface="Arial"/>
                <a:cs typeface="Arial"/>
                <a:sym typeface="Arial"/>
              </a:defRPr>
            </a:lvl8pPr>
            <a:lvl9pPr marL="0" lvl="8" indent="0" algn="r">
              <a:spcBef>
                <a:spcPts val="0"/>
              </a:spcBef>
              <a:buNone/>
              <a:defRPr sz="2000" b="0" i="0" u="none" strike="noStrike" cap="none">
                <a:solidFill>
                  <a:srgbClr val="41414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gradFill>
          <a:gsLst>
            <a:gs pos="0">
              <a:srgbClr val="BEC4D3"/>
            </a:gs>
            <a:gs pos="12000">
              <a:srgbClr val="BEC4D3"/>
            </a:gs>
            <a:gs pos="20000">
              <a:srgbClr val="BDC3D1"/>
            </a:gs>
            <a:gs pos="100000">
              <a:srgbClr val="343945"/>
            </a:gs>
          </a:gsLst>
          <a:path path="circle">
            <a:fillToRect l="50000" t="50000" r="50000" b="50000"/>
          </a:path>
          <a:tileRect/>
        </a:gradFill>
        <a:effectLst/>
      </p:bgPr>
    </p:bg>
    <p:spTree>
      <p:nvGrpSpPr>
        <p:cNvPr id="1" name="Shape 47"/>
        <p:cNvGrpSpPr/>
        <p:nvPr/>
      </p:nvGrpSpPr>
      <p:grpSpPr>
        <a:xfrm>
          <a:off x="0" y="0"/>
          <a:ext cx="0" cy="0"/>
          <a:chOff x="0" y="0"/>
          <a:chExt cx="0" cy="0"/>
        </a:xfrm>
      </p:grpSpPr>
      <p:sp>
        <p:nvSpPr>
          <p:cNvPr id="48" name="Google Shape;48;p38"/>
          <p:cNvSpPr/>
          <p:nvPr/>
        </p:nvSpPr>
        <p:spPr>
          <a:xfrm>
            <a:off x="0" y="1"/>
            <a:ext cx="9144000" cy="26025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 name="Google Shape;49;p38"/>
          <p:cNvSpPr/>
          <p:nvPr/>
        </p:nvSpPr>
        <p:spPr>
          <a:xfrm>
            <a:off x="0" y="2602520"/>
            <a:ext cx="9144000" cy="4572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 name="Google Shape;50;p38"/>
          <p:cNvSpPr txBox="1">
            <a:spLocks noGrp="1"/>
          </p:cNvSpPr>
          <p:nvPr>
            <p:ph type="title"/>
          </p:nvPr>
        </p:nvSpPr>
        <p:spPr>
          <a:xfrm>
            <a:off x="749808" y="118872"/>
            <a:ext cx="8013192" cy="1636776"/>
          </a:xfrm>
          <a:prstGeom prst="rect">
            <a:avLst/>
          </a:prstGeom>
          <a:noFill/>
          <a:ln>
            <a:noFill/>
          </a:ln>
        </p:spPr>
        <p:txBody>
          <a:bodyPr spcFirstLastPara="1" wrap="square" lIns="91425" tIns="0" rIns="91425" bIns="0" anchor="b" anchorCtr="0">
            <a:normAutofit/>
          </a:bodyPr>
          <a:lstStyle>
            <a:lvl1pPr lvl="0" algn="l">
              <a:spcBef>
                <a:spcPts val="0"/>
              </a:spcBef>
              <a:spcAft>
                <a:spcPts val="0"/>
              </a:spcAft>
              <a:buClr>
                <a:srgbClr val="FFC700"/>
              </a:buClr>
              <a:buSzPts val="4700"/>
              <a:buFont typeface="Times New Roman"/>
              <a:buNone/>
              <a:defRPr sz="47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8"/>
          <p:cNvSpPr txBox="1">
            <a:spLocks noGrp="1"/>
          </p:cNvSpPr>
          <p:nvPr>
            <p:ph type="body" idx="1"/>
          </p:nvPr>
        </p:nvSpPr>
        <p:spPr>
          <a:xfrm>
            <a:off x="740664" y="1828800"/>
            <a:ext cx="8022336" cy="685800"/>
          </a:xfrm>
          <a:prstGeom prst="rect">
            <a:avLst/>
          </a:prstGeom>
          <a:noFill/>
          <a:ln>
            <a:noFill/>
          </a:ln>
        </p:spPr>
        <p:txBody>
          <a:bodyPr spcFirstLastPara="1" wrap="square" lIns="146300" tIns="0" rIns="45700" bIns="0" anchor="t" anchorCtr="0">
            <a:normAutofit/>
          </a:bodyPr>
          <a:lstStyle>
            <a:lvl1pPr marL="457200" lvl="0" indent="-228600" algn="l">
              <a:spcBef>
                <a:spcPts val="0"/>
              </a:spcBef>
              <a:spcAft>
                <a:spcPts val="0"/>
              </a:spcAft>
              <a:buSzPts val="1600"/>
              <a:buNone/>
              <a:defRPr sz="2000">
                <a:solidFill>
                  <a:srgbClr val="FFFFFF"/>
                </a:solidFill>
              </a:defRPr>
            </a:lvl1pPr>
            <a:lvl2pPr marL="914400" lvl="1" indent="-228600" algn="l">
              <a:spcBef>
                <a:spcPts val="360"/>
              </a:spcBef>
              <a:spcAft>
                <a:spcPts val="0"/>
              </a:spcAft>
              <a:buSzPts val="1620"/>
              <a:buNone/>
              <a:defRPr sz="1800">
                <a:solidFill>
                  <a:schemeClr val="lt1"/>
                </a:solidFill>
              </a:defRPr>
            </a:lvl2pPr>
            <a:lvl3pPr marL="1371600" lvl="2" indent="-228600" algn="l">
              <a:spcBef>
                <a:spcPts val="320"/>
              </a:spcBef>
              <a:spcAft>
                <a:spcPts val="0"/>
              </a:spcAft>
              <a:buSzPts val="1600"/>
              <a:buNone/>
              <a:defRPr sz="1600">
                <a:solidFill>
                  <a:schemeClr val="lt1"/>
                </a:solidFill>
              </a:defRPr>
            </a:lvl3pPr>
            <a:lvl4pPr marL="1828800" lvl="3" indent="-228600" algn="l">
              <a:spcBef>
                <a:spcPts val="280"/>
              </a:spcBef>
              <a:spcAft>
                <a:spcPts val="0"/>
              </a:spcAft>
              <a:buSzPts val="1400"/>
              <a:buNone/>
              <a:defRPr sz="1400">
                <a:solidFill>
                  <a:schemeClr val="lt1"/>
                </a:solidFill>
              </a:defRPr>
            </a:lvl4pPr>
            <a:lvl5pPr marL="2286000" lvl="4" indent="-228600" algn="l">
              <a:spcBef>
                <a:spcPts val="280"/>
              </a:spcBef>
              <a:spcAft>
                <a:spcPts val="0"/>
              </a:spcAft>
              <a:buSzPts val="1400"/>
              <a:buNone/>
              <a:defRPr sz="1400">
                <a:solidFill>
                  <a:schemeClr val="lt1"/>
                </a:solidFill>
              </a:defRPr>
            </a:lvl5pPr>
            <a:lvl6pPr marL="2743200" lvl="5" indent="-228600" algn="l">
              <a:spcBef>
                <a:spcPts val="280"/>
              </a:spcBef>
              <a:spcAft>
                <a:spcPts val="0"/>
              </a:spcAft>
              <a:buSzPts val="1400"/>
              <a:buNone/>
              <a:defRPr sz="1400">
                <a:solidFill>
                  <a:schemeClr val="lt1"/>
                </a:solidFill>
              </a:defRPr>
            </a:lvl6pPr>
            <a:lvl7pPr marL="3200400" lvl="6" indent="-228600" algn="l">
              <a:spcBef>
                <a:spcPts val="280"/>
              </a:spcBef>
              <a:spcAft>
                <a:spcPts val="0"/>
              </a:spcAft>
              <a:buSzPts val="1400"/>
              <a:buNone/>
              <a:defRPr sz="1400">
                <a:solidFill>
                  <a:schemeClr val="lt1"/>
                </a:solidFill>
              </a:defRPr>
            </a:lvl7pPr>
            <a:lvl8pPr marL="3657600" lvl="7" indent="-228600" algn="l">
              <a:spcBef>
                <a:spcPts val="280"/>
              </a:spcBef>
              <a:spcAft>
                <a:spcPts val="0"/>
              </a:spcAft>
              <a:buSzPts val="1400"/>
              <a:buNone/>
              <a:defRPr sz="1400">
                <a:solidFill>
                  <a:schemeClr val="lt1"/>
                </a:solidFill>
              </a:defRPr>
            </a:lvl8pPr>
            <a:lvl9pPr marL="4114800" lvl="8" indent="-228600" algn="l">
              <a:spcBef>
                <a:spcPts val="280"/>
              </a:spcBef>
              <a:spcAft>
                <a:spcPts val="0"/>
              </a:spcAft>
              <a:buSzPts val="1400"/>
              <a:buNone/>
              <a:defRPr sz="1400">
                <a:solidFill>
                  <a:schemeClr val="lt1"/>
                </a:solidFill>
              </a:defRPr>
            </a:lvl9pPr>
          </a:lstStyle>
          <a:p>
            <a:endParaRPr/>
          </a:p>
        </p:txBody>
      </p:sp>
      <p:sp>
        <p:nvSpPr>
          <p:cNvPr id="52" name="Google Shape;52;p38"/>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8"/>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8"/>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sz="2400">
                <a:solidFill>
                  <a:schemeClr val="lt1"/>
                </a:solidFill>
                <a:latin typeface="Arial"/>
                <a:ea typeface="Arial"/>
                <a:cs typeface="Arial"/>
                <a:sym typeface="Arial"/>
              </a:defRPr>
            </a:lvl1pPr>
            <a:lvl2pPr marL="0" lvl="1" indent="0" algn="r">
              <a:spcBef>
                <a:spcPts val="0"/>
              </a:spcBef>
              <a:buNone/>
              <a:defRPr sz="2400">
                <a:solidFill>
                  <a:schemeClr val="lt1"/>
                </a:solidFill>
                <a:latin typeface="Arial"/>
                <a:ea typeface="Arial"/>
                <a:cs typeface="Arial"/>
                <a:sym typeface="Arial"/>
              </a:defRPr>
            </a:lvl2pPr>
            <a:lvl3pPr marL="0" lvl="2" indent="0" algn="r">
              <a:spcBef>
                <a:spcPts val="0"/>
              </a:spcBef>
              <a:buNone/>
              <a:defRPr sz="2400">
                <a:solidFill>
                  <a:schemeClr val="lt1"/>
                </a:solidFill>
                <a:latin typeface="Arial"/>
                <a:ea typeface="Arial"/>
                <a:cs typeface="Arial"/>
                <a:sym typeface="Arial"/>
              </a:defRPr>
            </a:lvl3pPr>
            <a:lvl4pPr marL="0" lvl="3" indent="0" algn="r">
              <a:spcBef>
                <a:spcPts val="0"/>
              </a:spcBef>
              <a:buNone/>
              <a:defRPr sz="2400">
                <a:solidFill>
                  <a:schemeClr val="lt1"/>
                </a:solidFill>
                <a:latin typeface="Arial"/>
                <a:ea typeface="Arial"/>
                <a:cs typeface="Arial"/>
                <a:sym typeface="Arial"/>
              </a:defRPr>
            </a:lvl4pPr>
            <a:lvl5pPr marL="0" lvl="4" indent="0" algn="r">
              <a:spcBef>
                <a:spcPts val="0"/>
              </a:spcBef>
              <a:buNone/>
              <a:defRPr sz="2400">
                <a:solidFill>
                  <a:schemeClr val="lt1"/>
                </a:solidFill>
                <a:latin typeface="Arial"/>
                <a:ea typeface="Arial"/>
                <a:cs typeface="Arial"/>
                <a:sym typeface="Arial"/>
              </a:defRPr>
            </a:lvl5pPr>
            <a:lvl6pPr marL="0" lvl="5" indent="0" algn="r">
              <a:spcBef>
                <a:spcPts val="0"/>
              </a:spcBef>
              <a:buNone/>
              <a:defRPr sz="2400">
                <a:solidFill>
                  <a:schemeClr val="lt1"/>
                </a:solidFill>
                <a:latin typeface="Arial"/>
                <a:ea typeface="Arial"/>
                <a:cs typeface="Arial"/>
                <a:sym typeface="Arial"/>
              </a:defRPr>
            </a:lvl6pPr>
            <a:lvl7pPr marL="0" lvl="6" indent="0" algn="r">
              <a:spcBef>
                <a:spcPts val="0"/>
              </a:spcBef>
              <a:buNone/>
              <a:defRPr sz="2400">
                <a:solidFill>
                  <a:schemeClr val="lt1"/>
                </a:solidFill>
                <a:latin typeface="Arial"/>
                <a:ea typeface="Arial"/>
                <a:cs typeface="Arial"/>
                <a:sym typeface="Arial"/>
              </a:defRPr>
            </a:lvl7pPr>
            <a:lvl8pPr marL="0" lvl="7" indent="0" algn="r">
              <a:spcBef>
                <a:spcPts val="0"/>
              </a:spcBef>
              <a:buNone/>
              <a:defRPr sz="2400">
                <a:solidFill>
                  <a:schemeClr val="lt1"/>
                </a:solidFill>
                <a:latin typeface="Arial"/>
                <a:ea typeface="Arial"/>
                <a:cs typeface="Arial"/>
                <a:sym typeface="Arial"/>
              </a:defRPr>
            </a:lvl8pPr>
            <a:lvl9pPr marL="0" lvl="8" indent="0" algn="r">
              <a:spcBef>
                <a:spcPts val="0"/>
              </a:spcBef>
              <a:buNone/>
              <a:defRPr sz="24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39"/>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9"/>
          <p:cNvSpPr txBox="1">
            <a:spLocks noGrp="1"/>
          </p:cNvSpPr>
          <p:nvPr>
            <p:ph type="body" idx="1"/>
          </p:nvPr>
        </p:nvSpPr>
        <p:spPr>
          <a:xfrm>
            <a:off x="457200" y="1773936"/>
            <a:ext cx="4038600" cy="4623816"/>
          </a:xfrm>
          <a:prstGeom prst="rect">
            <a:avLst/>
          </a:prstGeom>
          <a:noFill/>
          <a:ln>
            <a:noFill/>
          </a:ln>
        </p:spPr>
        <p:txBody>
          <a:bodyPr spcFirstLastPara="1" wrap="square" lIns="91425" tIns="91425" rIns="91425" bIns="45700" anchor="t" anchorCtr="0">
            <a:normAutofit/>
          </a:bodyPr>
          <a:lstStyle>
            <a:lvl1pPr marL="457200" lvl="0" indent="-370840" algn="l">
              <a:spcBef>
                <a:spcPts val="0"/>
              </a:spcBef>
              <a:spcAft>
                <a:spcPts val="0"/>
              </a:spcAft>
              <a:buSzPts val="2240"/>
              <a:buChar char="◼"/>
              <a:defRPr sz="2800"/>
            </a:lvl1pPr>
            <a:lvl2pPr marL="914400" lvl="1" indent="-365760" algn="l">
              <a:spcBef>
                <a:spcPts val="480"/>
              </a:spcBef>
              <a:spcAft>
                <a:spcPts val="0"/>
              </a:spcAft>
              <a:buSzPts val="216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58" name="Google Shape;58;p39"/>
          <p:cNvSpPr txBox="1">
            <a:spLocks noGrp="1"/>
          </p:cNvSpPr>
          <p:nvPr>
            <p:ph type="body" idx="2"/>
          </p:nvPr>
        </p:nvSpPr>
        <p:spPr>
          <a:xfrm>
            <a:off x="4648200" y="1773936"/>
            <a:ext cx="4038600" cy="4623816"/>
          </a:xfrm>
          <a:prstGeom prst="rect">
            <a:avLst/>
          </a:prstGeom>
          <a:noFill/>
          <a:ln>
            <a:noFill/>
          </a:ln>
        </p:spPr>
        <p:txBody>
          <a:bodyPr spcFirstLastPara="1" wrap="square" lIns="54850" tIns="91425" rIns="91425" bIns="45700" anchor="t" anchorCtr="0">
            <a:normAutofit/>
          </a:bodyPr>
          <a:lstStyle>
            <a:lvl1pPr marL="457200" lvl="0" indent="-370840" algn="l">
              <a:spcBef>
                <a:spcPts val="0"/>
              </a:spcBef>
              <a:spcAft>
                <a:spcPts val="0"/>
              </a:spcAft>
              <a:buSzPts val="2240"/>
              <a:buChar char="◼"/>
              <a:defRPr sz="2800"/>
            </a:lvl1pPr>
            <a:lvl2pPr marL="914400" lvl="1" indent="-365760" algn="l">
              <a:spcBef>
                <a:spcPts val="480"/>
              </a:spcBef>
              <a:spcAft>
                <a:spcPts val="0"/>
              </a:spcAft>
              <a:buSzPts val="216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59" name="Google Shape;59;p39"/>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9"/>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9"/>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sz="2400">
                <a:solidFill>
                  <a:srgbClr val="414141"/>
                </a:solidFill>
                <a:latin typeface="Arial"/>
                <a:ea typeface="Arial"/>
                <a:cs typeface="Arial"/>
                <a:sym typeface="Arial"/>
              </a:defRPr>
            </a:lvl1pPr>
            <a:lvl2pPr marL="0" lvl="1" indent="0" algn="r">
              <a:spcBef>
                <a:spcPts val="0"/>
              </a:spcBef>
              <a:buNone/>
              <a:defRPr sz="2400">
                <a:solidFill>
                  <a:srgbClr val="414141"/>
                </a:solidFill>
                <a:latin typeface="Arial"/>
                <a:ea typeface="Arial"/>
                <a:cs typeface="Arial"/>
                <a:sym typeface="Arial"/>
              </a:defRPr>
            </a:lvl2pPr>
            <a:lvl3pPr marL="0" lvl="2" indent="0" algn="r">
              <a:spcBef>
                <a:spcPts val="0"/>
              </a:spcBef>
              <a:buNone/>
              <a:defRPr sz="2400">
                <a:solidFill>
                  <a:srgbClr val="414141"/>
                </a:solidFill>
                <a:latin typeface="Arial"/>
                <a:ea typeface="Arial"/>
                <a:cs typeface="Arial"/>
                <a:sym typeface="Arial"/>
              </a:defRPr>
            </a:lvl3pPr>
            <a:lvl4pPr marL="0" lvl="3" indent="0" algn="r">
              <a:spcBef>
                <a:spcPts val="0"/>
              </a:spcBef>
              <a:buNone/>
              <a:defRPr sz="2400">
                <a:solidFill>
                  <a:srgbClr val="414141"/>
                </a:solidFill>
                <a:latin typeface="Arial"/>
                <a:ea typeface="Arial"/>
                <a:cs typeface="Arial"/>
                <a:sym typeface="Arial"/>
              </a:defRPr>
            </a:lvl4pPr>
            <a:lvl5pPr marL="0" lvl="4" indent="0" algn="r">
              <a:spcBef>
                <a:spcPts val="0"/>
              </a:spcBef>
              <a:buNone/>
              <a:defRPr sz="2400">
                <a:solidFill>
                  <a:srgbClr val="414141"/>
                </a:solidFill>
                <a:latin typeface="Arial"/>
                <a:ea typeface="Arial"/>
                <a:cs typeface="Arial"/>
                <a:sym typeface="Arial"/>
              </a:defRPr>
            </a:lvl5pPr>
            <a:lvl6pPr marL="0" lvl="5" indent="0" algn="r">
              <a:spcBef>
                <a:spcPts val="0"/>
              </a:spcBef>
              <a:buNone/>
              <a:defRPr sz="2400">
                <a:solidFill>
                  <a:srgbClr val="414141"/>
                </a:solidFill>
                <a:latin typeface="Arial"/>
                <a:ea typeface="Arial"/>
                <a:cs typeface="Arial"/>
                <a:sym typeface="Arial"/>
              </a:defRPr>
            </a:lvl6pPr>
            <a:lvl7pPr marL="0" lvl="6" indent="0" algn="r">
              <a:spcBef>
                <a:spcPts val="0"/>
              </a:spcBef>
              <a:buNone/>
              <a:defRPr sz="2400">
                <a:solidFill>
                  <a:srgbClr val="414141"/>
                </a:solidFill>
                <a:latin typeface="Arial"/>
                <a:ea typeface="Arial"/>
                <a:cs typeface="Arial"/>
                <a:sym typeface="Arial"/>
              </a:defRPr>
            </a:lvl7pPr>
            <a:lvl8pPr marL="0" lvl="7" indent="0" algn="r">
              <a:spcBef>
                <a:spcPts val="0"/>
              </a:spcBef>
              <a:buNone/>
              <a:defRPr sz="2400">
                <a:solidFill>
                  <a:srgbClr val="414141"/>
                </a:solidFill>
                <a:latin typeface="Arial"/>
                <a:ea typeface="Arial"/>
                <a:cs typeface="Arial"/>
                <a:sym typeface="Arial"/>
              </a:defRPr>
            </a:lvl8pPr>
            <a:lvl9pPr marL="0" lvl="8" indent="0" algn="r">
              <a:spcBef>
                <a:spcPts val="0"/>
              </a:spcBef>
              <a:buNone/>
              <a:defRPr sz="2400">
                <a:solidFill>
                  <a:srgbClr val="41414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40"/>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45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0"/>
          <p:cNvSpPr txBox="1">
            <a:spLocks noGrp="1"/>
          </p:cNvSpPr>
          <p:nvPr>
            <p:ph type="body" idx="1"/>
          </p:nvPr>
        </p:nvSpPr>
        <p:spPr>
          <a:xfrm>
            <a:off x="457200" y="1698987"/>
            <a:ext cx="4040188" cy="715355"/>
          </a:xfrm>
          <a:prstGeom prst="rect">
            <a:avLst/>
          </a:prstGeom>
          <a:noFill/>
          <a:ln>
            <a:noFill/>
          </a:ln>
        </p:spPr>
        <p:txBody>
          <a:bodyPr spcFirstLastPara="1" wrap="square" lIns="146300" tIns="91425" rIns="91425" bIns="45700" anchor="ctr" anchorCtr="0">
            <a:normAutofit/>
          </a:bodyPr>
          <a:lstStyle>
            <a:lvl1pPr marL="457200" lvl="0" indent="-228600" algn="l">
              <a:spcBef>
                <a:spcPts val="0"/>
              </a:spcBef>
              <a:spcAft>
                <a:spcPts val="0"/>
              </a:spcAft>
              <a:buSzPts val="1840"/>
              <a:buNone/>
              <a:defRPr sz="2300" b="1" cap="none"/>
            </a:lvl1pPr>
            <a:lvl2pPr marL="914400" lvl="1" indent="-228600" algn="l">
              <a:spcBef>
                <a:spcPts val="400"/>
              </a:spcBef>
              <a:spcAft>
                <a:spcPts val="0"/>
              </a:spcAft>
              <a:buSzPts val="18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65" name="Google Shape;65;p40"/>
          <p:cNvSpPr txBox="1">
            <a:spLocks noGrp="1"/>
          </p:cNvSpPr>
          <p:nvPr>
            <p:ph type="body" idx="2"/>
          </p:nvPr>
        </p:nvSpPr>
        <p:spPr>
          <a:xfrm>
            <a:off x="457200" y="2449512"/>
            <a:ext cx="4040188" cy="3951288"/>
          </a:xfrm>
          <a:prstGeom prst="rect">
            <a:avLst/>
          </a:prstGeom>
          <a:noFill/>
          <a:ln>
            <a:noFill/>
          </a:ln>
        </p:spPr>
        <p:txBody>
          <a:bodyPr spcFirstLastPara="1" wrap="square" lIns="54850" tIns="91425" rIns="91425" bIns="45700" anchor="t" anchorCtr="0">
            <a:normAutofit/>
          </a:bodyPr>
          <a:lstStyle>
            <a:lvl1pPr marL="457200" lvl="0" indent="-350520" algn="l">
              <a:spcBef>
                <a:spcPts val="0"/>
              </a:spcBef>
              <a:spcAft>
                <a:spcPts val="0"/>
              </a:spcAft>
              <a:buSzPts val="192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66" name="Google Shape;66;p40"/>
          <p:cNvSpPr txBox="1">
            <a:spLocks noGrp="1"/>
          </p:cNvSpPr>
          <p:nvPr>
            <p:ph type="body" idx="3"/>
          </p:nvPr>
        </p:nvSpPr>
        <p:spPr>
          <a:xfrm>
            <a:off x="4645025" y="1698987"/>
            <a:ext cx="4041775" cy="715355"/>
          </a:xfrm>
          <a:prstGeom prst="rect">
            <a:avLst/>
          </a:prstGeom>
          <a:noFill/>
          <a:ln>
            <a:noFill/>
          </a:ln>
        </p:spPr>
        <p:txBody>
          <a:bodyPr spcFirstLastPara="1" wrap="square" lIns="146300" tIns="91425" rIns="91425" bIns="45700" anchor="ctr" anchorCtr="0">
            <a:normAutofit/>
          </a:bodyPr>
          <a:lstStyle>
            <a:lvl1pPr marL="457200" lvl="0" indent="-228600" algn="l">
              <a:spcBef>
                <a:spcPts val="0"/>
              </a:spcBef>
              <a:spcAft>
                <a:spcPts val="0"/>
              </a:spcAft>
              <a:buSzPts val="1840"/>
              <a:buNone/>
              <a:defRPr sz="2300" b="1" cap="none"/>
            </a:lvl1pPr>
            <a:lvl2pPr marL="914400" lvl="1" indent="-228600" algn="l">
              <a:spcBef>
                <a:spcPts val="400"/>
              </a:spcBef>
              <a:spcAft>
                <a:spcPts val="0"/>
              </a:spcAft>
              <a:buSzPts val="18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67" name="Google Shape;67;p40"/>
          <p:cNvSpPr txBox="1">
            <a:spLocks noGrp="1"/>
          </p:cNvSpPr>
          <p:nvPr>
            <p:ph type="body" idx="4"/>
          </p:nvPr>
        </p:nvSpPr>
        <p:spPr>
          <a:xfrm>
            <a:off x="4645025" y="2449512"/>
            <a:ext cx="4041775" cy="3951288"/>
          </a:xfrm>
          <a:prstGeom prst="rect">
            <a:avLst/>
          </a:prstGeom>
          <a:noFill/>
          <a:ln>
            <a:noFill/>
          </a:ln>
        </p:spPr>
        <p:txBody>
          <a:bodyPr spcFirstLastPara="1" wrap="square" lIns="54850" tIns="91425" rIns="91425" bIns="45700" anchor="t" anchorCtr="0">
            <a:normAutofit/>
          </a:bodyPr>
          <a:lstStyle>
            <a:lvl1pPr marL="457200" lvl="0" indent="-350520" algn="l">
              <a:spcBef>
                <a:spcPts val="0"/>
              </a:spcBef>
              <a:spcAft>
                <a:spcPts val="0"/>
              </a:spcAft>
              <a:buSzPts val="192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68" name="Google Shape;68;p40"/>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0"/>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0"/>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sz="2400">
                <a:solidFill>
                  <a:srgbClr val="414141"/>
                </a:solidFill>
                <a:latin typeface="Arial"/>
                <a:ea typeface="Arial"/>
                <a:cs typeface="Arial"/>
                <a:sym typeface="Arial"/>
              </a:defRPr>
            </a:lvl1pPr>
            <a:lvl2pPr marL="0" lvl="1" indent="0" algn="r">
              <a:spcBef>
                <a:spcPts val="0"/>
              </a:spcBef>
              <a:buNone/>
              <a:defRPr sz="2400">
                <a:solidFill>
                  <a:srgbClr val="414141"/>
                </a:solidFill>
                <a:latin typeface="Arial"/>
                <a:ea typeface="Arial"/>
                <a:cs typeface="Arial"/>
                <a:sym typeface="Arial"/>
              </a:defRPr>
            </a:lvl2pPr>
            <a:lvl3pPr marL="0" lvl="2" indent="0" algn="r">
              <a:spcBef>
                <a:spcPts val="0"/>
              </a:spcBef>
              <a:buNone/>
              <a:defRPr sz="2400">
                <a:solidFill>
                  <a:srgbClr val="414141"/>
                </a:solidFill>
                <a:latin typeface="Arial"/>
                <a:ea typeface="Arial"/>
                <a:cs typeface="Arial"/>
                <a:sym typeface="Arial"/>
              </a:defRPr>
            </a:lvl3pPr>
            <a:lvl4pPr marL="0" lvl="3" indent="0" algn="r">
              <a:spcBef>
                <a:spcPts val="0"/>
              </a:spcBef>
              <a:buNone/>
              <a:defRPr sz="2400">
                <a:solidFill>
                  <a:srgbClr val="414141"/>
                </a:solidFill>
                <a:latin typeface="Arial"/>
                <a:ea typeface="Arial"/>
                <a:cs typeface="Arial"/>
                <a:sym typeface="Arial"/>
              </a:defRPr>
            </a:lvl4pPr>
            <a:lvl5pPr marL="0" lvl="4" indent="0" algn="r">
              <a:spcBef>
                <a:spcPts val="0"/>
              </a:spcBef>
              <a:buNone/>
              <a:defRPr sz="2400">
                <a:solidFill>
                  <a:srgbClr val="414141"/>
                </a:solidFill>
                <a:latin typeface="Arial"/>
                <a:ea typeface="Arial"/>
                <a:cs typeface="Arial"/>
                <a:sym typeface="Arial"/>
              </a:defRPr>
            </a:lvl5pPr>
            <a:lvl6pPr marL="0" lvl="5" indent="0" algn="r">
              <a:spcBef>
                <a:spcPts val="0"/>
              </a:spcBef>
              <a:buNone/>
              <a:defRPr sz="2400">
                <a:solidFill>
                  <a:srgbClr val="414141"/>
                </a:solidFill>
                <a:latin typeface="Arial"/>
                <a:ea typeface="Arial"/>
                <a:cs typeface="Arial"/>
                <a:sym typeface="Arial"/>
              </a:defRPr>
            </a:lvl6pPr>
            <a:lvl7pPr marL="0" lvl="6" indent="0" algn="r">
              <a:spcBef>
                <a:spcPts val="0"/>
              </a:spcBef>
              <a:buNone/>
              <a:defRPr sz="2400">
                <a:solidFill>
                  <a:srgbClr val="414141"/>
                </a:solidFill>
                <a:latin typeface="Arial"/>
                <a:ea typeface="Arial"/>
                <a:cs typeface="Arial"/>
                <a:sym typeface="Arial"/>
              </a:defRPr>
            </a:lvl7pPr>
            <a:lvl8pPr marL="0" lvl="7" indent="0" algn="r">
              <a:spcBef>
                <a:spcPts val="0"/>
              </a:spcBef>
              <a:buNone/>
              <a:defRPr sz="2400">
                <a:solidFill>
                  <a:srgbClr val="414141"/>
                </a:solidFill>
                <a:latin typeface="Arial"/>
                <a:ea typeface="Arial"/>
                <a:cs typeface="Arial"/>
                <a:sym typeface="Arial"/>
              </a:defRPr>
            </a:lvl8pPr>
            <a:lvl9pPr marL="0" lvl="8" indent="0" algn="r">
              <a:spcBef>
                <a:spcPts val="0"/>
              </a:spcBef>
              <a:buNone/>
              <a:defRPr sz="2400">
                <a:solidFill>
                  <a:srgbClr val="41414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41"/>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1"/>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1"/>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1"/>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sz="2400">
                <a:solidFill>
                  <a:srgbClr val="414141"/>
                </a:solidFill>
                <a:latin typeface="Arial"/>
                <a:ea typeface="Arial"/>
                <a:cs typeface="Arial"/>
                <a:sym typeface="Arial"/>
              </a:defRPr>
            </a:lvl1pPr>
            <a:lvl2pPr marL="0" lvl="1" indent="0" algn="r">
              <a:spcBef>
                <a:spcPts val="0"/>
              </a:spcBef>
              <a:buNone/>
              <a:defRPr sz="2400">
                <a:solidFill>
                  <a:srgbClr val="414141"/>
                </a:solidFill>
                <a:latin typeface="Arial"/>
                <a:ea typeface="Arial"/>
                <a:cs typeface="Arial"/>
                <a:sym typeface="Arial"/>
              </a:defRPr>
            </a:lvl2pPr>
            <a:lvl3pPr marL="0" lvl="2" indent="0" algn="r">
              <a:spcBef>
                <a:spcPts val="0"/>
              </a:spcBef>
              <a:buNone/>
              <a:defRPr sz="2400">
                <a:solidFill>
                  <a:srgbClr val="414141"/>
                </a:solidFill>
                <a:latin typeface="Arial"/>
                <a:ea typeface="Arial"/>
                <a:cs typeface="Arial"/>
                <a:sym typeface="Arial"/>
              </a:defRPr>
            </a:lvl3pPr>
            <a:lvl4pPr marL="0" lvl="3" indent="0" algn="r">
              <a:spcBef>
                <a:spcPts val="0"/>
              </a:spcBef>
              <a:buNone/>
              <a:defRPr sz="2400">
                <a:solidFill>
                  <a:srgbClr val="414141"/>
                </a:solidFill>
                <a:latin typeface="Arial"/>
                <a:ea typeface="Arial"/>
                <a:cs typeface="Arial"/>
                <a:sym typeface="Arial"/>
              </a:defRPr>
            </a:lvl4pPr>
            <a:lvl5pPr marL="0" lvl="4" indent="0" algn="r">
              <a:spcBef>
                <a:spcPts val="0"/>
              </a:spcBef>
              <a:buNone/>
              <a:defRPr sz="2400">
                <a:solidFill>
                  <a:srgbClr val="414141"/>
                </a:solidFill>
                <a:latin typeface="Arial"/>
                <a:ea typeface="Arial"/>
                <a:cs typeface="Arial"/>
                <a:sym typeface="Arial"/>
              </a:defRPr>
            </a:lvl5pPr>
            <a:lvl6pPr marL="0" lvl="5" indent="0" algn="r">
              <a:spcBef>
                <a:spcPts val="0"/>
              </a:spcBef>
              <a:buNone/>
              <a:defRPr sz="2400">
                <a:solidFill>
                  <a:srgbClr val="414141"/>
                </a:solidFill>
                <a:latin typeface="Arial"/>
                <a:ea typeface="Arial"/>
                <a:cs typeface="Arial"/>
                <a:sym typeface="Arial"/>
              </a:defRPr>
            </a:lvl6pPr>
            <a:lvl7pPr marL="0" lvl="6" indent="0" algn="r">
              <a:spcBef>
                <a:spcPts val="0"/>
              </a:spcBef>
              <a:buNone/>
              <a:defRPr sz="2400">
                <a:solidFill>
                  <a:srgbClr val="414141"/>
                </a:solidFill>
                <a:latin typeface="Arial"/>
                <a:ea typeface="Arial"/>
                <a:cs typeface="Arial"/>
                <a:sym typeface="Arial"/>
              </a:defRPr>
            </a:lvl7pPr>
            <a:lvl8pPr marL="0" lvl="7" indent="0" algn="r">
              <a:spcBef>
                <a:spcPts val="0"/>
              </a:spcBef>
              <a:buNone/>
              <a:defRPr sz="2400">
                <a:solidFill>
                  <a:srgbClr val="414141"/>
                </a:solidFill>
                <a:latin typeface="Arial"/>
                <a:ea typeface="Arial"/>
                <a:cs typeface="Arial"/>
                <a:sym typeface="Arial"/>
              </a:defRPr>
            </a:lvl8pPr>
            <a:lvl9pPr marL="0" lvl="8" indent="0" algn="r">
              <a:spcBef>
                <a:spcPts val="0"/>
              </a:spcBef>
              <a:buNone/>
              <a:defRPr sz="2400">
                <a:solidFill>
                  <a:srgbClr val="41414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76"/>
        <p:cNvGrpSpPr/>
        <p:nvPr/>
      </p:nvGrpSpPr>
      <p:grpSpPr>
        <a:xfrm>
          <a:off x="0" y="0"/>
          <a:ext cx="0" cy="0"/>
          <a:chOff x="0" y="0"/>
          <a:chExt cx="0" cy="0"/>
        </a:xfrm>
      </p:grpSpPr>
      <p:sp>
        <p:nvSpPr>
          <p:cNvPr id="77" name="Google Shape;77;p42"/>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2"/>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2"/>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43"/>
          <p:cNvSpPr txBox="1">
            <a:spLocks noGrp="1"/>
          </p:cNvSpPr>
          <p:nvPr>
            <p:ph type="title"/>
          </p:nvPr>
        </p:nvSpPr>
        <p:spPr>
          <a:xfrm>
            <a:off x="167838" y="152400"/>
            <a:ext cx="2523744" cy="978408"/>
          </a:xfrm>
          <a:prstGeom prst="rect">
            <a:avLst/>
          </a:prstGeom>
          <a:noFill/>
          <a:ln>
            <a:noFill/>
          </a:ln>
        </p:spPr>
        <p:txBody>
          <a:bodyPr spcFirstLastPara="1" wrap="square" lIns="73150" tIns="45700" rIns="45700" bIns="0" anchor="b" anchorCtr="0">
            <a:normAutofit/>
          </a:bodyPr>
          <a:lstStyle>
            <a:lvl1pPr lvl="0" algn="l">
              <a:spcBef>
                <a:spcPts val="0"/>
              </a:spcBef>
              <a:spcAft>
                <a:spcPts val="0"/>
              </a:spcAft>
              <a:buClr>
                <a:srgbClr val="FFC700"/>
              </a:buClr>
              <a:buSzPts val="2000"/>
              <a:buFont typeface="Times New Roman"/>
              <a:buNone/>
              <a:defRPr sz="2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43"/>
          <p:cNvSpPr txBox="1">
            <a:spLocks noGrp="1"/>
          </p:cNvSpPr>
          <p:nvPr>
            <p:ph type="body" idx="1"/>
          </p:nvPr>
        </p:nvSpPr>
        <p:spPr>
          <a:xfrm>
            <a:off x="3019377" y="1743133"/>
            <a:ext cx="5920641" cy="4558885"/>
          </a:xfrm>
          <a:prstGeom prst="rect">
            <a:avLst/>
          </a:prstGeom>
          <a:noFill/>
          <a:ln>
            <a:noFill/>
          </a:ln>
        </p:spPr>
        <p:txBody>
          <a:bodyPr spcFirstLastPara="1" wrap="square" lIns="54850" tIns="91425" rIns="91425" bIns="45700" anchor="t" anchorCtr="0">
            <a:normAutofit/>
          </a:bodyPr>
          <a:lstStyle>
            <a:lvl1pPr marL="457200" lvl="0" indent="-391160" algn="l">
              <a:spcBef>
                <a:spcPts val="0"/>
              </a:spcBef>
              <a:spcAft>
                <a:spcPts val="0"/>
              </a:spcAft>
              <a:buSzPts val="2560"/>
              <a:buChar char="◼"/>
              <a:defRPr sz="3200"/>
            </a:lvl1pPr>
            <a:lvl2pPr marL="914400" lvl="1" indent="-388619" algn="l">
              <a:spcBef>
                <a:spcPts val="560"/>
              </a:spcBef>
              <a:spcAft>
                <a:spcPts val="0"/>
              </a:spcAft>
              <a:buSzPts val="252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83" name="Google Shape;83;p43"/>
          <p:cNvSpPr txBox="1">
            <a:spLocks noGrp="1"/>
          </p:cNvSpPr>
          <p:nvPr>
            <p:ph type="body" idx="2"/>
          </p:nvPr>
        </p:nvSpPr>
        <p:spPr>
          <a:xfrm>
            <a:off x="167838" y="1730018"/>
            <a:ext cx="2468880" cy="4572000"/>
          </a:xfrm>
          <a:prstGeom prst="rect">
            <a:avLst/>
          </a:prstGeom>
          <a:noFill/>
          <a:ln>
            <a:noFill/>
          </a:ln>
        </p:spPr>
        <p:txBody>
          <a:bodyPr spcFirstLastPara="1" wrap="square" lIns="54850" tIns="91425" rIns="91425" bIns="45700" anchor="t" anchorCtr="0">
            <a:normAutofit/>
          </a:bodyPr>
          <a:lstStyle>
            <a:lvl1pPr marL="457200" lvl="0" indent="-228600" algn="l">
              <a:spcBef>
                <a:spcPts val="0"/>
              </a:spcBef>
              <a:spcAft>
                <a:spcPts val="0"/>
              </a:spcAft>
              <a:buSzPts val="1120"/>
              <a:buNone/>
              <a:defRPr sz="1400"/>
            </a:lvl1pPr>
            <a:lvl2pPr marL="914400" lvl="1" indent="-228600" algn="l">
              <a:spcBef>
                <a:spcPts val="240"/>
              </a:spcBef>
              <a:spcAft>
                <a:spcPts val="0"/>
              </a:spcAft>
              <a:buSzPts val="108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84" name="Google Shape;84;p43"/>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3"/>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3"/>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7" name="Google Shape;87;p43"/>
          <p:cNvSpPr/>
          <p:nvPr/>
        </p:nvSpPr>
        <p:spPr>
          <a:xfrm>
            <a:off x="2855737" y="0"/>
            <a:ext cx="45720" cy="1453896"/>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8" name="Google Shape;88;p43"/>
          <p:cNvSpPr/>
          <p:nvPr/>
        </p:nvSpPr>
        <p:spPr>
          <a:xfrm>
            <a:off x="2855737" y="0"/>
            <a:ext cx="45720" cy="1453896"/>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lt2"/>
        </a:solidFill>
        <a:effectLst/>
      </p:bgPr>
    </p:bg>
    <p:spTree>
      <p:nvGrpSpPr>
        <p:cNvPr id="1" name="Shape 89"/>
        <p:cNvGrpSpPr/>
        <p:nvPr/>
      </p:nvGrpSpPr>
      <p:grpSpPr>
        <a:xfrm>
          <a:off x="0" y="0"/>
          <a:ext cx="0" cy="0"/>
          <a:chOff x="0" y="0"/>
          <a:chExt cx="0" cy="0"/>
        </a:xfrm>
      </p:grpSpPr>
      <p:sp>
        <p:nvSpPr>
          <p:cNvPr id="90" name="Google Shape;90;p44"/>
          <p:cNvSpPr txBox="1">
            <a:spLocks noGrp="1"/>
          </p:cNvSpPr>
          <p:nvPr>
            <p:ph type="title"/>
          </p:nvPr>
        </p:nvSpPr>
        <p:spPr>
          <a:xfrm>
            <a:off x="164592" y="155448"/>
            <a:ext cx="2525150" cy="978408"/>
          </a:xfrm>
          <a:prstGeom prst="rect">
            <a:avLst/>
          </a:prstGeom>
          <a:noFill/>
          <a:ln>
            <a:noFill/>
          </a:ln>
        </p:spPr>
        <p:txBody>
          <a:bodyPr spcFirstLastPara="1" wrap="square" lIns="73150" tIns="45700" rIns="45700" bIns="0" anchor="b" anchorCtr="0">
            <a:normAutofit/>
          </a:bodyPr>
          <a:lstStyle>
            <a:lvl1pPr lvl="0" algn="l">
              <a:spcBef>
                <a:spcPts val="0"/>
              </a:spcBef>
              <a:spcAft>
                <a:spcPts val="0"/>
              </a:spcAft>
              <a:buClr>
                <a:srgbClr val="FFC700"/>
              </a:buClr>
              <a:buSzPts val="2000"/>
              <a:buFont typeface="Times New Roman"/>
              <a:buNone/>
              <a:defRPr sz="2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4"/>
          <p:cNvSpPr>
            <a:spLocks noGrp="1"/>
          </p:cNvSpPr>
          <p:nvPr>
            <p:ph type="pic" idx="2"/>
          </p:nvPr>
        </p:nvSpPr>
        <p:spPr>
          <a:xfrm>
            <a:off x="2903805" y="1484808"/>
            <a:ext cx="6247397" cy="5373192"/>
          </a:xfrm>
          <a:prstGeom prst="rect">
            <a:avLst/>
          </a:prstGeom>
          <a:solidFill>
            <a:srgbClr val="BABABB"/>
          </a:solidFill>
          <a:ln>
            <a:noFill/>
          </a:ln>
        </p:spPr>
      </p:sp>
      <p:sp>
        <p:nvSpPr>
          <p:cNvPr id="92" name="Google Shape;92;p44"/>
          <p:cNvSpPr txBox="1">
            <a:spLocks noGrp="1"/>
          </p:cNvSpPr>
          <p:nvPr>
            <p:ph type="body" idx="1"/>
          </p:nvPr>
        </p:nvSpPr>
        <p:spPr>
          <a:xfrm>
            <a:off x="164592" y="1728216"/>
            <a:ext cx="2468880" cy="4572000"/>
          </a:xfrm>
          <a:prstGeom prst="rect">
            <a:avLst/>
          </a:prstGeom>
          <a:noFill/>
          <a:ln>
            <a:noFill/>
          </a:ln>
        </p:spPr>
        <p:txBody>
          <a:bodyPr spcFirstLastPara="1" wrap="square" lIns="54850" tIns="91425" rIns="91425" bIns="45700" anchor="t" anchorCtr="0">
            <a:normAutofit/>
          </a:bodyPr>
          <a:lstStyle>
            <a:lvl1pPr marL="457200" lvl="0" indent="-228600" algn="l">
              <a:spcBef>
                <a:spcPts val="0"/>
              </a:spcBef>
              <a:spcAft>
                <a:spcPts val="0"/>
              </a:spcAft>
              <a:buSzPts val="1120"/>
              <a:buNone/>
              <a:defRPr sz="1400"/>
            </a:lvl1pPr>
            <a:lvl2pPr marL="914400" lvl="1" indent="-228600" algn="l">
              <a:spcBef>
                <a:spcPts val="240"/>
              </a:spcBef>
              <a:spcAft>
                <a:spcPts val="0"/>
              </a:spcAft>
              <a:buSzPts val="108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93" name="Google Shape;93;p44"/>
          <p:cNvSpPr txBox="1">
            <a:spLocks noGrp="1"/>
          </p:cNvSpPr>
          <p:nvPr>
            <p:ph type="dt" idx="10"/>
          </p:nvPr>
        </p:nvSpPr>
        <p:spPr>
          <a:xfrm>
            <a:off x="164592" y="1170432"/>
            <a:ext cx="2523744" cy="201168"/>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4"/>
          <p:cNvSpPr/>
          <p:nvPr/>
        </p:nvSpPr>
        <p:spPr>
          <a:xfrm>
            <a:off x="2855737" y="0"/>
            <a:ext cx="4572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5" name="Google Shape;95;p44"/>
          <p:cNvSpPr/>
          <p:nvPr/>
        </p:nvSpPr>
        <p:spPr>
          <a:xfrm>
            <a:off x="2855737" y="0"/>
            <a:ext cx="4572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 name="Google Shape;96;p44"/>
          <p:cNvSpPr txBox="1">
            <a:spLocks noGrp="1"/>
          </p:cNvSpPr>
          <p:nvPr>
            <p:ph type="ftr" idx="11"/>
          </p:nvPr>
        </p:nvSpPr>
        <p:spPr>
          <a:xfrm>
            <a:off x="3035808" y="1170432"/>
            <a:ext cx="5193792" cy="201168"/>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solidFill>
                  <a:srgbClr val="BABAB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44"/>
          <p:cNvSpPr txBox="1">
            <a:spLocks noGrp="1"/>
          </p:cNvSpPr>
          <p:nvPr>
            <p:ph type="sldNum" idx="12"/>
          </p:nvPr>
        </p:nvSpPr>
        <p:spPr>
          <a:xfrm>
            <a:off x="8339328" y="1170432"/>
            <a:ext cx="733864" cy="201168"/>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45"/>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45"/>
          <p:cNvSpPr txBox="1">
            <a:spLocks noGrp="1"/>
          </p:cNvSpPr>
          <p:nvPr>
            <p:ph type="body" idx="1"/>
          </p:nvPr>
        </p:nvSpPr>
        <p:spPr>
          <a:xfrm rot="5400000">
            <a:off x="2259196" y="-26804"/>
            <a:ext cx="4625609" cy="8229600"/>
          </a:xfrm>
          <a:prstGeom prst="rect">
            <a:avLst/>
          </a:prstGeom>
          <a:noFill/>
          <a:ln>
            <a:noFill/>
          </a:ln>
        </p:spPr>
        <p:txBody>
          <a:bodyPr spcFirstLastPara="1" wrap="square" lIns="54850" tIns="91425" rIns="91425" bIns="45700" anchor="t" anchorCtr="0">
            <a:norm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1" name="Google Shape;101;p45"/>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45"/>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45"/>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46"/>
          <p:cNvSpPr/>
          <p:nvPr/>
        </p:nvSpPr>
        <p:spPr>
          <a:xfrm>
            <a:off x="6598920" y="0"/>
            <a:ext cx="45720" cy="6858000"/>
          </a:xfrm>
          <a:prstGeom prst="rect">
            <a:avLst/>
          </a:prstGeom>
          <a:solidFill>
            <a:srgbClr val="FFFFFF"/>
          </a:solidFill>
          <a:ln>
            <a:noFill/>
          </a:ln>
          <a:effectLst>
            <a:outerShdw blurRad="31750" dist="10160" dir="108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46"/>
          <p:cNvSpPr/>
          <p:nvPr/>
        </p:nvSpPr>
        <p:spPr>
          <a:xfrm>
            <a:off x="6647687" y="0"/>
            <a:ext cx="2514601"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46"/>
          <p:cNvSpPr txBox="1">
            <a:spLocks noGrp="1"/>
          </p:cNvSpPr>
          <p:nvPr>
            <p:ph type="title"/>
          </p:nvPr>
        </p:nvSpPr>
        <p:spPr>
          <a:xfrm rot="5400000">
            <a:off x="4808538" y="2247903"/>
            <a:ext cx="5851525" cy="190500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Clr>
                <a:srgbClr val="FFC7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46"/>
          <p:cNvSpPr txBox="1">
            <a:spLocks noGrp="1"/>
          </p:cNvSpPr>
          <p:nvPr>
            <p:ph type="body" idx="1"/>
          </p:nvPr>
        </p:nvSpPr>
        <p:spPr>
          <a:xfrm rot="5400000">
            <a:off x="541338" y="220662"/>
            <a:ext cx="5851525" cy="6019800"/>
          </a:xfrm>
          <a:prstGeom prst="rect">
            <a:avLst/>
          </a:prstGeom>
          <a:noFill/>
          <a:ln>
            <a:noFill/>
          </a:ln>
        </p:spPr>
        <p:txBody>
          <a:bodyPr spcFirstLastPara="1" wrap="square" lIns="54850" tIns="91425" rIns="91425" bIns="45700" anchor="t" anchorCtr="0">
            <a:norm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9" name="Google Shape;109;p46"/>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46"/>
          <p:cNvSpPr txBox="1">
            <a:spLocks noGrp="1"/>
          </p:cNvSpPr>
          <p:nvPr>
            <p:ph type="ftr" idx="11"/>
          </p:nvPr>
        </p:nvSpPr>
        <p:spPr>
          <a:xfrm>
            <a:off x="2640597" y="6377459"/>
            <a:ext cx="3836404" cy="365125"/>
          </a:xfrm>
          <a:prstGeom prst="rect">
            <a:avLst/>
          </a:prstGeom>
          <a:noFill/>
          <a:ln>
            <a:noFill/>
          </a:ln>
        </p:spPr>
        <p:txBody>
          <a:bodyPr spcFirstLastPara="1" wrap="square" lIns="45700" tIns="45700" rIns="4570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46"/>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4"/>
          <p:cNvSpPr/>
          <p:nvPr/>
        </p:nvSpPr>
        <p:spPr>
          <a:xfrm>
            <a:off x="0" y="1435895"/>
            <a:ext cx="9144000" cy="4572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34"/>
          <p:cNvSpPr/>
          <p:nvPr/>
        </p:nvSpPr>
        <p:spPr>
          <a:xfrm>
            <a:off x="0" y="0"/>
            <a:ext cx="9143999" cy="143373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 name="Google Shape;12;p34"/>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Clr>
                <a:srgbClr val="FFC700"/>
              </a:buClr>
              <a:buSzPts val="4500"/>
              <a:buFont typeface="Times New Roman"/>
              <a:buNone/>
              <a:defRPr sz="4500" b="1" i="0" u="none" strike="noStrike" cap="none">
                <a:solidFill>
                  <a:srgbClr val="FFC700"/>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4"/>
          <p:cNvSpPr txBox="1">
            <a:spLocks noGrp="1"/>
          </p:cNvSpPr>
          <p:nvPr>
            <p:ph type="body" idx="1"/>
          </p:nvPr>
        </p:nvSpPr>
        <p:spPr>
          <a:xfrm>
            <a:off x="457200" y="1775191"/>
            <a:ext cx="8229600" cy="4625609"/>
          </a:xfrm>
          <a:prstGeom prst="rect">
            <a:avLst/>
          </a:prstGeom>
          <a:noFill/>
          <a:ln>
            <a:noFill/>
          </a:ln>
        </p:spPr>
        <p:txBody>
          <a:bodyPr spcFirstLastPara="1" wrap="square" lIns="54850" tIns="91425" rIns="91425" bIns="45700" anchor="t" anchorCtr="0">
            <a:norm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lt1"/>
                </a:solidFill>
                <a:latin typeface="Arial"/>
                <a:ea typeface="Arial"/>
                <a:cs typeface="Arial"/>
                <a:sym typeface="Aria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lt1"/>
                </a:solidFill>
                <a:latin typeface="Arial"/>
                <a:ea typeface="Arial"/>
                <a:cs typeface="Arial"/>
                <a:sym typeface="Arial"/>
              </a:defRPr>
            </a:lvl2pPr>
            <a:lvl3pPr marL="1371600" marR="0" lvl="2" indent="-381000" algn="l" rtl="0">
              <a:spcBef>
                <a:spcPts val="480"/>
              </a:spcBef>
              <a:spcAft>
                <a:spcPts val="0"/>
              </a:spcAft>
              <a:buClr>
                <a:schemeClr val="accent3"/>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55600" algn="l" rtl="0">
              <a:spcBef>
                <a:spcPts val="400"/>
              </a:spcBef>
              <a:spcAft>
                <a:spcPts val="0"/>
              </a:spcAft>
              <a:buClr>
                <a:schemeClr val="accent4"/>
              </a:buClr>
              <a:buSzPts val="2000"/>
              <a:buFont typeface="Arial"/>
              <a:buChar char="▪"/>
              <a:defRPr sz="2000" b="0" i="0" u="none" strike="noStrike" cap="none">
                <a:solidFill>
                  <a:schemeClr val="lt1"/>
                </a:solidFill>
                <a:latin typeface="Arial"/>
                <a:ea typeface="Arial"/>
                <a:cs typeface="Arial"/>
                <a:sym typeface="Arial"/>
              </a:defRPr>
            </a:lvl4pPr>
            <a:lvl5pPr marL="2286000" marR="0" lvl="4" indent="-355600" algn="l" rtl="0">
              <a:spcBef>
                <a:spcPts val="400"/>
              </a:spcBef>
              <a:spcAft>
                <a:spcPts val="0"/>
              </a:spcAft>
              <a:buClr>
                <a:schemeClr val="accent5"/>
              </a:buClr>
              <a:buSzPts val="2000"/>
              <a:buFont typeface="Noto Sans Symbols"/>
              <a:buChar char="🢝"/>
              <a:defRPr sz="2000" b="0" i="0" u="none" strike="noStrike" cap="none">
                <a:solidFill>
                  <a:schemeClr val="lt1"/>
                </a:solidFill>
                <a:latin typeface="Arial"/>
                <a:ea typeface="Arial"/>
                <a:cs typeface="Arial"/>
                <a:sym typeface="Aria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lt1"/>
                </a:solidFill>
                <a:latin typeface="Arial"/>
                <a:ea typeface="Arial"/>
                <a:cs typeface="Arial"/>
                <a:sym typeface="Aria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Arial"/>
                <a:ea typeface="Arial"/>
                <a:cs typeface="Arial"/>
                <a:sym typeface="Aria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Arial"/>
                <a:ea typeface="Arial"/>
                <a:cs typeface="Arial"/>
                <a:sym typeface="Aria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Arial"/>
                <a:ea typeface="Arial"/>
                <a:cs typeface="Arial"/>
                <a:sym typeface="Arial"/>
              </a:defRPr>
            </a:lvl9pPr>
          </a:lstStyle>
          <a:p>
            <a:endParaRPr/>
          </a:p>
        </p:txBody>
      </p:sp>
      <p:sp>
        <p:nvSpPr>
          <p:cNvPr id="14" name="Google Shape;14;p34"/>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marR="0" lvl="0" algn="l"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4"/>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marR="0" lvl="0" algn="l"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6" name="Google Shape;16;p34"/>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33"/>
          <p:cNvSpPr/>
          <p:nvPr/>
        </p:nvSpPr>
        <p:spPr>
          <a:xfrm>
            <a:off x="0" y="1435895"/>
            <a:ext cx="9144000" cy="4572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 name="Google Shape;27;p33"/>
          <p:cNvSpPr/>
          <p:nvPr/>
        </p:nvSpPr>
        <p:spPr>
          <a:xfrm>
            <a:off x="0" y="0"/>
            <a:ext cx="9143999" cy="143373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 name="Google Shape;28;p33"/>
          <p:cNvSpPr txBox="1">
            <a:spLocks noGrp="1"/>
          </p:cNvSpPr>
          <p:nvPr>
            <p:ph type="title"/>
          </p:nvPr>
        </p:nvSpPr>
        <p:spPr>
          <a:xfrm>
            <a:off x="457200" y="152400"/>
            <a:ext cx="8229600" cy="1251062"/>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Clr>
                <a:srgbClr val="FFC700"/>
              </a:buClr>
              <a:buSzPts val="4500"/>
              <a:buFont typeface="Times New Roman"/>
              <a:buNone/>
              <a:defRPr sz="4500" b="1" i="0" u="none" strike="noStrike" cap="none">
                <a:solidFill>
                  <a:srgbClr val="FFC700"/>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3"/>
          <p:cNvSpPr txBox="1">
            <a:spLocks noGrp="1"/>
          </p:cNvSpPr>
          <p:nvPr>
            <p:ph type="body" idx="1"/>
          </p:nvPr>
        </p:nvSpPr>
        <p:spPr>
          <a:xfrm>
            <a:off x="457200" y="1775191"/>
            <a:ext cx="8229600" cy="4625609"/>
          </a:xfrm>
          <a:prstGeom prst="rect">
            <a:avLst/>
          </a:prstGeom>
          <a:noFill/>
          <a:ln>
            <a:noFill/>
          </a:ln>
        </p:spPr>
        <p:txBody>
          <a:bodyPr spcFirstLastPara="1" wrap="square" lIns="54850" tIns="91425" rIns="91425" bIns="45700" anchor="t" anchorCtr="0">
            <a:norm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Arial"/>
                <a:ea typeface="Arial"/>
                <a:cs typeface="Arial"/>
                <a:sym typeface="Aria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accent3"/>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accent4"/>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accent5"/>
              </a:buClr>
              <a:buSzPts val="2000"/>
              <a:buFont typeface="Noto Sans Symbols"/>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Arial"/>
                <a:ea typeface="Arial"/>
                <a:cs typeface="Arial"/>
                <a:sym typeface="Aria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Arial"/>
                <a:ea typeface="Arial"/>
                <a:cs typeface="Arial"/>
                <a:sym typeface="Aria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30" name="Google Shape;30;p33"/>
          <p:cNvSpPr txBox="1">
            <a:spLocks noGrp="1"/>
          </p:cNvSpPr>
          <p:nvPr>
            <p:ph type="dt" idx="10"/>
          </p:nvPr>
        </p:nvSpPr>
        <p:spPr>
          <a:xfrm>
            <a:off x="457200" y="6476999"/>
            <a:ext cx="2133600" cy="274320"/>
          </a:xfrm>
          <a:prstGeom prst="rect">
            <a:avLst/>
          </a:prstGeom>
          <a:noFill/>
          <a:ln>
            <a:noFill/>
          </a:ln>
        </p:spPr>
        <p:txBody>
          <a:bodyPr spcFirstLastPara="1" wrap="square" lIns="109725" tIns="45700" rIns="45700" bIns="0" anchor="b" anchorCtr="0">
            <a:noAutofit/>
          </a:bodyPr>
          <a:lstStyle>
            <a:lvl1pPr marR="0" lvl="0" algn="l" rtl="0">
              <a:spcBef>
                <a:spcPts val="0"/>
              </a:spcBef>
              <a:spcAft>
                <a:spcPts val="0"/>
              </a:spcAft>
              <a:buSzPts val="1400"/>
              <a:buNone/>
              <a:defRPr sz="1200" b="0" i="0" u="none" strike="noStrike" cap="none">
                <a:solidFill>
                  <a:srgbClr val="41414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33"/>
          <p:cNvSpPr txBox="1">
            <a:spLocks noGrp="1"/>
          </p:cNvSpPr>
          <p:nvPr>
            <p:ph type="ftr" idx="11"/>
          </p:nvPr>
        </p:nvSpPr>
        <p:spPr>
          <a:xfrm>
            <a:off x="2640596" y="6476999"/>
            <a:ext cx="5507719" cy="274320"/>
          </a:xfrm>
          <a:prstGeom prst="rect">
            <a:avLst/>
          </a:prstGeom>
          <a:noFill/>
          <a:ln>
            <a:noFill/>
          </a:ln>
        </p:spPr>
        <p:txBody>
          <a:bodyPr spcFirstLastPara="1" wrap="square" lIns="45700" tIns="45700" rIns="45700" bIns="0" anchor="b" anchorCtr="0">
            <a:noAutofit/>
          </a:bodyPr>
          <a:lstStyle>
            <a:lvl1pPr marR="0" lvl="0" algn="l" rtl="0">
              <a:spcBef>
                <a:spcPts val="0"/>
              </a:spcBef>
              <a:spcAft>
                <a:spcPts val="0"/>
              </a:spcAft>
              <a:buSzPts val="1400"/>
              <a:buNone/>
              <a:defRPr sz="1200" b="0" i="0" u="none" strike="noStrike" cap="none">
                <a:solidFill>
                  <a:srgbClr val="41414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33"/>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lvl1pPr marL="0" marR="0" lvl="0" indent="0" algn="r" rtl="0">
              <a:spcBef>
                <a:spcPts val="0"/>
              </a:spcBef>
              <a:buNone/>
              <a:defRPr sz="1200" b="0" i="0" u="none" strike="noStrike" cap="none">
                <a:solidFill>
                  <a:srgbClr val="414141"/>
                </a:solidFill>
                <a:latin typeface="Arial"/>
                <a:ea typeface="Arial"/>
                <a:cs typeface="Arial"/>
                <a:sym typeface="Arial"/>
              </a:defRPr>
            </a:lvl1pPr>
            <a:lvl2pPr marL="0" marR="0" lvl="1" indent="0" algn="r" rtl="0">
              <a:spcBef>
                <a:spcPts val="0"/>
              </a:spcBef>
              <a:buNone/>
              <a:defRPr sz="1200" b="0" i="0" u="none" strike="noStrike" cap="none">
                <a:solidFill>
                  <a:srgbClr val="414141"/>
                </a:solidFill>
                <a:latin typeface="Arial"/>
                <a:ea typeface="Arial"/>
                <a:cs typeface="Arial"/>
                <a:sym typeface="Arial"/>
              </a:defRPr>
            </a:lvl2pPr>
            <a:lvl3pPr marL="0" marR="0" lvl="2" indent="0" algn="r" rtl="0">
              <a:spcBef>
                <a:spcPts val="0"/>
              </a:spcBef>
              <a:buNone/>
              <a:defRPr sz="1200" b="0" i="0" u="none" strike="noStrike" cap="none">
                <a:solidFill>
                  <a:srgbClr val="414141"/>
                </a:solidFill>
                <a:latin typeface="Arial"/>
                <a:ea typeface="Arial"/>
                <a:cs typeface="Arial"/>
                <a:sym typeface="Arial"/>
              </a:defRPr>
            </a:lvl3pPr>
            <a:lvl4pPr marL="0" marR="0" lvl="3" indent="0" algn="r" rtl="0">
              <a:spcBef>
                <a:spcPts val="0"/>
              </a:spcBef>
              <a:buNone/>
              <a:defRPr sz="1200" b="0" i="0" u="none" strike="noStrike" cap="none">
                <a:solidFill>
                  <a:srgbClr val="414141"/>
                </a:solidFill>
                <a:latin typeface="Arial"/>
                <a:ea typeface="Arial"/>
                <a:cs typeface="Arial"/>
                <a:sym typeface="Arial"/>
              </a:defRPr>
            </a:lvl4pPr>
            <a:lvl5pPr marL="0" marR="0" lvl="4" indent="0" algn="r" rtl="0">
              <a:spcBef>
                <a:spcPts val="0"/>
              </a:spcBef>
              <a:buNone/>
              <a:defRPr sz="1200" b="0" i="0" u="none" strike="noStrike" cap="none">
                <a:solidFill>
                  <a:srgbClr val="414141"/>
                </a:solidFill>
                <a:latin typeface="Arial"/>
                <a:ea typeface="Arial"/>
                <a:cs typeface="Arial"/>
                <a:sym typeface="Arial"/>
              </a:defRPr>
            </a:lvl5pPr>
            <a:lvl6pPr marL="0" marR="0" lvl="5" indent="0" algn="r" rtl="0">
              <a:spcBef>
                <a:spcPts val="0"/>
              </a:spcBef>
              <a:buNone/>
              <a:defRPr sz="1200" b="0" i="0" u="none" strike="noStrike" cap="none">
                <a:solidFill>
                  <a:srgbClr val="414141"/>
                </a:solidFill>
                <a:latin typeface="Arial"/>
                <a:ea typeface="Arial"/>
                <a:cs typeface="Arial"/>
                <a:sym typeface="Arial"/>
              </a:defRPr>
            </a:lvl6pPr>
            <a:lvl7pPr marL="0" marR="0" lvl="6" indent="0" algn="r" rtl="0">
              <a:spcBef>
                <a:spcPts val="0"/>
              </a:spcBef>
              <a:buNone/>
              <a:defRPr sz="1200" b="0" i="0" u="none" strike="noStrike" cap="none">
                <a:solidFill>
                  <a:srgbClr val="414141"/>
                </a:solidFill>
                <a:latin typeface="Arial"/>
                <a:ea typeface="Arial"/>
                <a:cs typeface="Arial"/>
                <a:sym typeface="Arial"/>
              </a:defRPr>
            </a:lvl7pPr>
            <a:lvl8pPr marL="0" marR="0" lvl="7" indent="0" algn="r" rtl="0">
              <a:spcBef>
                <a:spcPts val="0"/>
              </a:spcBef>
              <a:buNone/>
              <a:defRPr sz="1200" b="0" i="0" u="none" strike="noStrike" cap="none">
                <a:solidFill>
                  <a:srgbClr val="414141"/>
                </a:solidFill>
                <a:latin typeface="Arial"/>
                <a:ea typeface="Arial"/>
                <a:cs typeface="Arial"/>
                <a:sym typeface="Arial"/>
              </a:defRPr>
            </a:lvl8pPr>
            <a:lvl9pPr marL="0" marR="0" lvl="8" indent="0" algn="r" rtl="0">
              <a:spcBef>
                <a:spcPts val="0"/>
              </a:spcBef>
              <a:buNone/>
              <a:defRPr sz="1200" b="0" i="0" u="none" strike="noStrike" cap="none">
                <a:solidFill>
                  <a:srgbClr val="41414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
          <p:cNvSpPr txBox="1">
            <a:spLocks noGrp="1"/>
          </p:cNvSpPr>
          <p:nvPr>
            <p:ph type="ctrTitle"/>
          </p:nvPr>
        </p:nvSpPr>
        <p:spPr>
          <a:xfrm>
            <a:off x="533400" y="1812865"/>
            <a:ext cx="8077200" cy="1932432"/>
          </a:xfrm>
          <a:prstGeom prst="rect">
            <a:avLst/>
          </a:prstGeom>
          <a:noFill/>
          <a:ln>
            <a:noFill/>
          </a:ln>
        </p:spPr>
        <p:txBody>
          <a:bodyPr spcFirstLastPara="1" wrap="square" lIns="91425" tIns="0" rIns="45700" bIns="0" anchor="t" anchorCtr="0">
            <a:normAutofit/>
          </a:bodyPr>
          <a:lstStyle/>
          <a:p>
            <a:pPr lvl="0" algn="ctr">
              <a:buSzPts val="3600"/>
            </a:pPr>
            <a:r>
              <a:rPr lang="en-US" sz="3600" b="0" dirty="0"/>
              <a:t>Investigating and Predicting Alcohol</a:t>
            </a:r>
            <a:br>
              <a:rPr lang="en-US" sz="3600" b="0" dirty="0"/>
            </a:br>
            <a:r>
              <a:rPr lang="en-US" sz="3600" b="0" dirty="0"/>
              <a:t>Misuse Risk Among American</a:t>
            </a:r>
            <a:br>
              <a:rPr lang="en-US" sz="3600" b="0" dirty="0"/>
            </a:br>
            <a:r>
              <a:rPr lang="en-US" sz="3600" b="0" dirty="0"/>
              <a:t>College Students</a:t>
            </a:r>
            <a:endParaRPr dirty="0"/>
          </a:p>
        </p:txBody>
      </p:sp>
      <p:sp>
        <p:nvSpPr>
          <p:cNvPr id="118" name="Google Shape;118;p1"/>
          <p:cNvSpPr txBox="1"/>
          <p:nvPr/>
        </p:nvSpPr>
        <p:spPr>
          <a:xfrm>
            <a:off x="0" y="3745297"/>
            <a:ext cx="91440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rgbClr val="FFC700"/>
                </a:solidFill>
                <a:latin typeface="Times New Roman"/>
                <a:ea typeface="Times New Roman"/>
                <a:cs typeface="Times New Roman"/>
                <a:sym typeface="Times New Roman"/>
              </a:rPr>
              <a:t>Jonah Watson</a:t>
            </a:r>
            <a:endParaRPr dirty="0"/>
          </a:p>
          <a:p>
            <a:pPr marL="0" marR="0" lvl="0" indent="0" algn="ctr" rtl="0">
              <a:spcBef>
                <a:spcPts val="0"/>
              </a:spcBef>
              <a:spcAft>
                <a:spcPts val="0"/>
              </a:spcAft>
              <a:buNone/>
            </a:pPr>
            <a:r>
              <a:rPr lang="en-US" sz="2400" b="1" dirty="0">
                <a:solidFill>
                  <a:srgbClr val="FFC700"/>
                </a:solidFill>
                <a:latin typeface="Times New Roman"/>
                <a:ea typeface="Times New Roman"/>
                <a:cs typeface="Times New Roman"/>
                <a:sym typeface="Times New Roman"/>
              </a:rPr>
              <a:t>Supervisor: </a:t>
            </a:r>
            <a:r>
              <a:rPr lang="en-US" sz="2400" b="1" i="0" u="none" strike="noStrike" cap="none" dirty="0">
                <a:solidFill>
                  <a:srgbClr val="FFC700"/>
                </a:solidFill>
                <a:latin typeface="Times New Roman"/>
                <a:ea typeface="Times New Roman"/>
                <a:cs typeface="Times New Roman"/>
                <a:sym typeface="Times New Roman"/>
              </a:rPr>
              <a:t>Yasser Alginahi</a:t>
            </a:r>
            <a:endParaRPr dirty="0"/>
          </a:p>
          <a:p>
            <a:pPr marL="0" marR="0" lvl="0" indent="0" algn="ctr" rtl="0">
              <a:spcBef>
                <a:spcPts val="0"/>
              </a:spcBef>
              <a:spcAft>
                <a:spcPts val="0"/>
              </a:spcAft>
              <a:buNone/>
            </a:pPr>
            <a:r>
              <a:rPr lang="en-US" sz="2400" b="1" dirty="0">
                <a:solidFill>
                  <a:srgbClr val="FFC700"/>
                </a:solidFill>
                <a:latin typeface="Times New Roman"/>
                <a:ea typeface="Times New Roman"/>
                <a:cs typeface="Times New Roman"/>
                <a:sym typeface="Times New Roman"/>
              </a:rPr>
              <a:t>April 7, </a:t>
            </a:r>
            <a:r>
              <a:rPr lang="en-US" sz="2400" b="1" i="0" u="none" strike="noStrike" cap="none" dirty="0">
                <a:solidFill>
                  <a:srgbClr val="FFC700"/>
                </a:solidFill>
                <a:latin typeface="Times New Roman"/>
                <a:ea typeface="Times New Roman"/>
                <a:cs typeface="Times New Roman"/>
                <a:sym typeface="Times New Roman"/>
              </a:rPr>
              <a:t>2025</a:t>
            </a:r>
            <a:endParaRPr dirty="0"/>
          </a:p>
        </p:txBody>
      </p:sp>
      <p:sp>
        <p:nvSpPr>
          <p:cNvPr id="119" name="Google Shape;119;p1"/>
          <p:cNvSpPr txBox="1"/>
          <p:nvPr/>
        </p:nvSpPr>
        <p:spPr>
          <a:xfrm>
            <a:off x="192819" y="5562600"/>
            <a:ext cx="8493981" cy="1124614"/>
          </a:xfrm>
          <a:prstGeom prst="rect">
            <a:avLst/>
          </a:prstGeom>
          <a:noFill/>
          <a:ln>
            <a:noFill/>
          </a:ln>
        </p:spPr>
        <p:txBody>
          <a:bodyPr spcFirstLastPara="1" wrap="square" lIns="91425" tIns="0" rIns="45700" bIns="0" anchor="t" anchorCtr="0">
            <a:normAutofit/>
          </a:bodyPr>
          <a:lstStyle/>
          <a:p>
            <a:pPr marL="0" marR="0" lvl="0" indent="0" algn="ctr" rtl="0">
              <a:spcBef>
                <a:spcPts val="0"/>
              </a:spcBef>
              <a:spcAft>
                <a:spcPts val="0"/>
              </a:spcAft>
              <a:buClr>
                <a:srgbClr val="FFC700"/>
              </a:buClr>
              <a:buSzPts val="2800"/>
              <a:buFont typeface="Times New Roman"/>
              <a:buNone/>
            </a:pPr>
            <a:endParaRPr sz="2800" b="0" i="0" u="none" strike="noStrike" cap="none">
              <a:solidFill>
                <a:srgbClr val="BEE1EA"/>
              </a:solidFill>
              <a:latin typeface="Times New Roman"/>
              <a:ea typeface="Times New Roman"/>
              <a:cs typeface="Times New Roman"/>
              <a:sym typeface="Times New Roman"/>
            </a:endParaRPr>
          </a:p>
        </p:txBody>
      </p:sp>
      <p:pic>
        <p:nvPicPr>
          <p:cNvPr id="120" name="Google Shape;120;p1" descr="A logo with a door and a brick wall&#10;&#10;AI-generated content may be incorrect."/>
          <p:cNvPicPr preferRelativeResize="0"/>
          <p:nvPr/>
        </p:nvPicPr>
        <p:blipFill rotWithShape="1">
          <a:blip r:embed="rId3">
            <a:alphaModFix/>
          </a:blip>
          <a:srcRect/>
          <a:stretch/>
        </p:blipFill>
        <p:spPr>
          <a:xfrm>
            <a:off x="0" y="27499"/>
            <a:ext cx="1651000" cy="1638300"/>
          </a:xfrm>
          <a:prstGeom prst="rect">
            <a:avLst/>
          </a:prstGeom>
          <a:noFill/>
          <a:ln>
            <a:noFill/>
          </a:ln>
        </p:spPr>
      </p:pic>
      <p:pic>
        <p:nvPicPr>
          <p:cNvPr id="121" name="Google Shape;121;p1" descr="A logo with colorful columns and text&#10;&#10;AI-generated content may be incorrect."/>
          <p:cNvPicPr preferRelativeResize="0"/>
          <p:nvPr/>
        </p:nvPicPr>
        <p:blipFill rotWithShape="1">
          <a:blip r:embed="rId4">
            <a:alphaModFix/>
          </a:blip>
          <a:srcRect/>
          <a:stretch/>
        </p:blipFill>
        <p:spPr>
          <a:xfrm>
            <a:off x="7315200" y="0"/>
            <a:ext cx="1828800" cy="18195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Presentation Content</a:t>
            </a:r>
            <a:endParaRPr/>
          </a:p>
        </p:txBody>
      </p:sp>
      <p:sp>
        <p:nvSpPr>
          <p:cNvPr id="128" name="Google Shape;128;p2"/>
          <p:cNvSpPr txBox="1">
            <a:spLocks noGrp="1"/>
          </p:cNvSpPr>
          <p:nvPr>
            <p:ph type="body" idx="1"/>
          </p:nvPr>
        </p:nvSpPr>
        <p:spPr>
          <a:xfrm>
            <a:off x="457200" y="1686798"/>
            <a:ext cx="8229600" cy="4927361"/>
          </a:xfrm>
          <a:prstGeom prst="rect">
            <a:avLst/>
          </a:prstGeom>
          <a:noFill/>
          <a:ln>
            <a:noFill/>
          </a:ln>
        </p:spPr>
        <p:txBody>
          <a:bodyPr spcFirstLastPara="1" wrap="square" lIns="54850" tIns="91425" rIns="91425" bIns="45700" anchor="t" anchorCtr="0">
            <a:normAutofit/>
          </a:bodyPr>
          <a:lstStyle/>
          <a:p>
            <a:pPr marL="438912" lvl="0" indent="-320040" algn="l" rtl="0">
              <a:lnSpc>
                <a:spcPct val="115000"/>
              </a:lnSpc>
              <a:spcBef>
                <a:spcPts val="0"/>
              </a:spcBef>
              <a:spcAft>
                <a:spcPts val="0"/>
              </a:spcAft>
              <a:buSzPts val="1760"/>
              <a:buChar char="◼"/>
            </a:pPr>
            <a:r>
              <a:rPr lang="en-US" sz="2200" dirty="0">
                <a:latin typeface="Times New Roman"/>
                <a:ea typeface="Times New Roman"/>
                <a:cs typeface="Times New Roman"/>
                <a:sym typeface="Times New Roman"/>
              </a:rPr>
              <a:t>Introduction &amp; Motivation</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Project Overview </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Literature Review</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Methodology</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Model Building &amp; Testing</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Results &amp; Discussion</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Conclusion &amp; Connection to Ribbons of Excellence</a:t>
            </a:r>
            <a:endParaRPr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References</a:t>
            </a:r>
            <a:endParaRPr lang="en-US" dirty="0"/>
          </a:p>
          <a:p>
            <a:pPr marL="438912" lvl="0" indent="-320040" algn="l" rtl="0">
              <a:lnSpc>
                <a:spcPct val="115000"/>
              </a:lnSpc>
              <a:spcBef>
                <a:spcPts val="1200"/>
              </a:spcBef>
              <a:spcAft>
                <a:spcPts val="0"/>
              </a:spcAft>
              <a:buSzPts val="1760"/>
              <a:buChar char="◼"/>
            </a:pPr>
            <a:r>
              <a:rPr lang="en-US" sz="2200" dirty="0">
                <a:latin typeface="Times New Roman"/>
                <a:ea typeface="Times New Roman"/>
                <a:cs typeface="Times New Roman"/>
                <a:sym typeface="Times New Roman"/>
              </a:rPr>
              <a:t>Acknowledgements</a:t>
            </a:r>
            <a:endParaRPr dirty="0"/>
          </a:p>
          <a:p>
            <a:pPr marL="118871" lvl="0" indent="0" algn="l" rtl="0">
              <a:lnSpc>
                <a:spcPct val="160000"/>
              </a:lnSpc>
              <a:spcBef>
                <a:spcPts val="1200"/>
              </a:spcBef>
              <a:spcAft>
                <a:spcPts val="0"/>
              </a:spcAft>
              <a:buSzPts val="1920"/>
              <a:buNone/>
            </a:pPr>
            <a:endParaRPr sz="2400" dirty="0"/>
          </a:p>
        </p:txBody>
      </p:sp>
      <p:sp>
        <p:nvSpPr>
          <p:cNvPr id="129" name="Google Shape;129;p2"/>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a:t>
            </a:fld>
            <a:endParaRPr>
              <a:latin typeface="Times New Roman"/>
              <a:ea typeface="Times New Roman"/>
              <a:cs typeface="Times New Roman"/>
              <a:sym typeface="Times New Roman"/>
            </a:endParaRPr>
          </a:p>
        </p:txBody>
      </p:sp>
      <p:pic>
        <p:nvPicPr>
          <p:cNvPr id="130" name="Google Shape;130;p2" descr="A logo with a door and a brick wall&#10;&#10;AI-generated content may be incorrect."/>
          <p:cNvPicPr preferRelativeResize="0"/>
          <p:nvPr/>
        </p:nvPicPr>
        <p:blipFill rotWithShape="1">
          <a:blip r:embed="rId3">
            <a:alphaModFix/>
          </a:blip>
          <a:srcRect/>
          <a:stretch/>
        </p:blipFill>
        <p:spPr>
          <a:xfrm>
            <a:off x="7428328" y="155448"/>
            <a:ext cx="1143000" cy="11342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a:t>
            </a:fld>
            <a:endParaRPr>
              <a:latin typeface="Times New Roman"/>
              <a:ea typeface="Times New Roman"/>
              <a:cs typeface="Times New Roman"/>
              <a:sym typeface="Times New Roman"/>
            </a:endParaRPr>
          </a:p>
        </p:txBody>
      </p:sp>
      <p:sp>
        <p:nvSpPr>
          <p:cNvPr id="136" name="Google Shape;136;p3"/>
          <p:cNvSpPr txBox="1"/>
          <p:nvPr/>
        </p:nvSpPr>
        <p:spPr>
          <a:xfrm>
            <a:off x="266700" y="150876"/>
            <a:ext cx="8610600" cy="1252728"/>
          </a:xfrm>
          <a:prstGeom prst="rect">
            <a:avLst/>
          </a:prstGeom>
          <a:noFill/>
          <a:ln>
            <a:noFill/>
          </a:ln>
        </p:spPr>
        <p:txBody>
          <a:bodyPr spcFirstLastPara="1" wrap="square" lIns="91425" tIns="45700" rIns="45700" bIns="45700" anchor="ctr" anchorCtr="0">
            <a:noAutofit/>
          </a:bodyPr>
          <a:lstStyle/>
          <a:p>
            <a:pPr marL="0" marR="0" lvl="0" indent="0" algn="ctr" rtl="0">
              <a:spcBef>
                <a:spcPts val="0"/>
              </a:spcBef>
              <a:spcAft>
                <a:spcPts val="0"/>
              </a:spcAft>
              <a:buClr>
                <a:srgbClr val="FFC700"/>
              </a:buClr>
              <a:buSzPts val="3600"/>
              <a:buFont typeface="Times New Roman"/>
              <a:buNone/>
            </a:pPr>
            <a:r>
              <a:rPr lang="en-US" sz="3600" b="1" i="0" u="none" strike="noStrike" cap="none">
                <a:solidFill>
                  <a:srgbClr val="FFC700"/>
                </a:solidFill>
                <a:latin typeface="Times New Roman"/>
                <a:ea typeface="Times New Roman"/>
                <a:cs typeface="Times New Roman"/>
                <a:sym typeface="Times New Roman"/>
              </a:rPr>
              <a:t>Introduction &amp; Motivation</a:t>
            </a:r>
            <a:endParaRPr/>
          </a:p>
        </p:txBody>
      </p:sp>
      <p:sp>
        <p:nvSpPr>
          <p:cNvPr id="137" name="Google Shape;137;p3"/>
          <p:cNvSpPr txBox="1">
            <a:spLocks noGrp="1"/>
          </p:cNvSpPr>
          <p:nvPr>
            <p:ph type="body" idx="1"/>
          </p:nvPr>
        </p:nvSpPr>
        <p:spPr>
          <a:xfrm>
            <a:off x="457200" y="1708879"/>
            <a:ext cx="8229600" cy="4191000"/>
          </a:xfrm>
          <a:prstGeom prst="rect">
            <a:avLst/>
          </a:prstGeom>
          <a:noFill/>
          <a:ln>
            <a:noFill/>
          </a:ln>
        </p:spPr>
        <p:txBody>
          <a:bodyPr spcFirstLastPara="1" wrap="square" lIns="54850" tIns="91425" rIns="91425" bIns="45700" anchor="t" anchorCtr="0">
            <a:normAutofit/>
          </a:bodyPr>
          <a:lstStyle/>
          <a:p>
            <a:pPr marL="438912">
              <a:lnSpc>
                <a:spcPct val="115000"/>
              </a:lnSpc>
              <a:spcBef>
                <a:spcPts val="1200"/>
              </a:spcBef>
              <a:buSzPts val="1920"/>
            </a:pPr>
            <a:r>
              <a:rPr lang="en-US" sz="2400" dirty="0">
                <a:latin typeface="Times New Roman"/>
                <a:ea typeface="Times New Roman"/>
                <a:cs typeface="Times New Roman"/>
                <a:sym typeface="Times New Roman"/>
              </a:rPr>
              <a:t>Alcohol is known to be consumed frequently by American college students, and students need to understand the associated risks</a:t>
            </a:r>
            <a:endParaRPr lang="en-US" sz="2400" dirty="0"/>
          </a:p>
          <a:p>
            <a:pPr marL="438912" lvl="0">
              <a:lnSpc>
                <a:spcPct val="115000"/>
              </a:lnSpc>
              <a:spcBef>
                <a:spcPts val="1200"/>
              </a:spcBef>
              <a:spcAft>
                <a:spcPts val="1200"/>
              </a:spcAft>
              <a:buClr>
                <a:srgbClr val="F0AD00"/>
              </a:buClr>
              <a:buSzPts val="1920"/>
              <a:defRPr/>
            </a:pPr>
            <a:r>
              <a:rPr lang="en-US" sz="2400" dirty="0">
                <a:solidFill>
                  <a:srgbClr val="000000"/>
                </a:solidFill>
                <a:latin typeface="Times New Roman"/>
                <a:ea typeface="Times New Roman"/>
                <a:cs typeface="Times New Roman"/>
                <a:sym typeface="Times New Roman"/>
              </a:rPr>
              <a:t>This research serves to raise awareness on what factors contribute to elevated risk of alcohol misuse and related issues</a:t>
            </a:r>
          </a:p>
        </p:txBody>
      </p:sp>
      <p:pic>
        <p:nvPicPr>
          <p:cNvPr id="138" name="Google Shape;138;p3" descr="A logo with a door and a brick wall&#10;&#10;AI-generated content may be incorrect."/>
          <p:cNvPicPr preferRelativeResize="0"/>
          <p:nvPr/>
        </p:nvPicPr>
        <p:blipFill rotWithShape="1">
          <a:blip r:embed="rId3">
            <a:alphaModFix/>
          </a:blip>
          <a:srcRect/>
          <a:stretch/>
        </p:blipFill>
        <p:spPr>
          <a:xfrm>
            <a:off x="266700" y="150876"/>
            <a:ext cx="1143000" cy="113420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
          <p:cNvSpPr txBox="1">
            <a:spLocks noGrp="1"/>
          </p:cNvSpPr>
          <p:nvPr>
            <p:ph type="title"/>
          </p:nvPr>
        </p:nvSpPr>
        <p:spPr>
          <a:xfrm>
            <a:off x="453243" y="150876"/>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Introduction &amp; Motivation</a:t>
            </a:r>
            <a:endParaRPr/>
          </a:p>
        </p:txBody>
      </p:sp>
      <p:sp>
        <p:nvSpPr>
          <p:cNvPr id="144" name="Google Shape;144;p4"/>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4</a:t>
            </a:fld>
            <a:endParaRPr>
              <a:latin typeface="Times New Roman"/>
              <a:ea typeface="Times New Roman"/>
              <a:cs typeface="Times New Roman"/>
              <a:sym typeface="Times New Roman"/>
            </a:endParaRPr>
          </a:p>
        </p:txBody>
      </p:sp>
      <p:sp>
        <p:nvSpPr>
          <p:cNvPr id="145" name="Google Shape;145;p4"/>
          <p:cNvSpPr txBox="1">
            <a:spLocks noGrp="1"/>
          </p:cNvSpPr>
          <p:nvPr>
            <p:ph type="body" idx="1"/>
          </p:nvPr>
        </p:nvSpPr>
        <p:spPr>
          <a:xfrm>
            <a:off x="205740" y="1754124"/>
            <a:ext cx="8732520" cy="4953000"/>
          </a:xfrm>
          <a:prstGeom prst="rect">
            <a:avLst/>
          </a:prstGeom>
          <a:noFill/>
          <a:ln>
            <a:noFill/>
          </a:ln>
        </p:spPr>
        <p:txBody>
          <a:bodyPr spcFirstLastPara="1" wrap="square" lIns="54850" tIns="91425" rIns="91425" bIns="45700" anchor="t" anchorCtr="0">
            <a:normAutofit/>
          </a:bodyPr>
          <a:lstStyle/>
          <a:p>
            <a:pPr marL="438912" lvl="0">
              <a:lnSpc>
                <a:spcPct val="115000"/>
              </a:lnSpc>
              <a:buClr>
                <a:srgbClr val="F0AD00"/>
              </a:buClr>
              <a:buSzPts val="1920"/>
              <a:defRPr/>
            </a:pP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Alcohol is a central nervous system depressant, slowing brain activity, and potentially changing mood, behavior, and self-control</a:t>
            </a:r>
            <a:endParaRPr lang="en-US" dirty="0"/>
          </a:p>
          <a:p>
            <a:pPr marL="438912">
              <a:lnSpc>
                <a:spcPct val="115000"/>
              </a:lnSpc>
              <a:spcBef>
                <a:spcPts val="1200"/>
              </a:spcBef>
              <a:buSzPts val="1920"/>
            </a:pPr>
            <a:r>
              <a:rPr lang="en-US" sz="2400" dirty="0">
                <a:latin typeface="Times New Roman"/>
                <a:ea typeface="Times New Roman"/>
                <a:cs typeface="Times New Roman"/>
                <a:sym typeface="Times New Roman"/>
              </a:rPr>
              <a:t>It reduces overall brain function, impairing thinking and reasoning as well as muscle coordination and physical control</a:t>
            </a:r>
            <a:endParaRPr lang="en-US" dirty="0"/>
          </a:p>
          <a:p>
            <a:pPr marL="438912">
              <a:lnSpc>
                <a:spcPct val="115000"/>
              </a:lnSpc>
              <a:spcBef>
                <a:spcPts val="1200"/>
              </a:spcBef>
              <a:spcAft>
                <a:spcPts val="1200"/>
              </a:spcAft>
              <a:buClr>
                <a:srgbClr val="F0AD00"/>
              </a:buClr>
              <a:buSzPts val="1920"/>
              <a:defRPr/>
            </a:pPr>
            <a:r>
              <a:rPr lang="en-US" sz="2400" dirty="0">
                <a:solidFill>
                  <a:srgbClr val="000000"/>
                </a:solidFill>
                <a:latin typeface="Times New Roman"/>
                <a:ea typeface="Times New Roman"/>
                <a:cs typeface="Times New Roman"/>
                <a:sym typeface="Times New Roman"/>
              </a:rPr>
              <a:t>The nuanced effects of alcohol vary from person to person based on frequency of drinking, number of drinks, age, sex, genetics, if a family history of drinking problems exists, and overall health</a:t>
            </a:r>
            <a:endParaRPr lang="en-US" dirty="0"/>
          </a:p>
        </p:txBody>
      </p:sp>
      <p:pic>
        <p:nvPicPr>
          <p:cNvPr id="146" name="Google Shape;146;p4" descr="A logo with a door and a brick wall&#10;&#10;AI-generated content may be incorrect."/>
          <p:cNvPicPr preferRelativeResize="0"/>
          <p:nvPr/>
        </p:nvPicPr>
        <p:blipFill rotWithShape="1">
          <a:blip r:embed="rId3">
            <a:alphaModFix/>
          </a:blip>
          <a:srcRect/>
          <a:stretch/>
        </p:blipFill>
        <p:spPr>
          <a:xfrm>
            <a:off x="7431548" y="150876"/>
            <a:ext cx="1143000" cy="11342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154EFFF7-F49B-FF24-F72D-075307C98C4B}"/>
            </a:ext>
          </a:extLst>
        </p:cNvPr>
        <p:cNvGrpSpPr/>
        <p:nvPr/>
      </p:nvGrpSpPr>
      <p:grpSpPr>
        <a:xfrm>
          <a:off x="0" y="0"/>
          <a:ext cx="0" cy="0"/>
          <a:chOff x="0" y="0"/>
          <a:chExt cx="0" cy="0"/>
        </a:xfrm>
      </p:grpSpPr>
      <p:sp>
        <p:nvSpPr>
          <p:cNvPr id="143" name="Google Shape;143;p4">
            <a:extLst>
              <a:ext uri="{FF2B5EF4-FFF2-40B4-BE49-F238E27FC236}">
                <a16:creationId xmlns:a16="http://schemas.microsoft.com/office/drawing/2014/main" id="{8E9AA92B-2C08-078C-61FD-A03350FA16ED}"/>
              </a:ext>
            </a:extLst>
          </p:cNvPr>
          <p:cNvSpPr txBox="1">
            <a:spLocks noGrp="1"/>
          </p:cNvSpPr>
          <p:nvPr>
            <p:ph type="title"/>
          </p:nvPr>
        </p:nvSpPr>
        <p:spPr>
          <a:xfrm>
            <a:off x="453243" y="150876"/>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Introduction &amp; Motivation</a:t>
            </a:r>
            <a:endParaRPr/>
          </a:p>
        </p:txBody>
      </p:sp>
      <p:sp>
        <p:nvSpPr>
          <p:cNvPr id="144" name="Google Shape;144;p4">
            <a:extLst>
              <a:ext uri="{FF2B5EF4-FFF2-40B4-BE49-F238E27FC236}">
                <a16:creationId xmlns:a16="http://schemas.microsoft.com/office/drawing/2014/main" id="{3A570A08-4898-BE20-D376-709A3EDB5C5D}"/>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5</a:t>
            </a:fld>
            <a:endParaRPr>
              <a:latin typeface="Times New Roman"/>
              <a:ea typeface="Times New Roman"/>
              <a:cs typeface="Times New Roman"/>
              <a:sym typeface="Times New Roman"/>
            </a:endParaRPr>
          </a:p>
        </p:txBody>
      </p:sp>
      <p:sp>
        <p:nvSpPr>
          <p:cNvPr id="145" name="Google Shape;145;p4">
            <a:extLst>
              <a:ext uri="{FF2B5EF4-FFF2-40B4-BE49-F238E27FC236}">
                <a16:creationId xmlns:a16="http://schemas.microsoft.com/office/drawing/2014/main" id="{26C063A5-8C95-2952-6351-C27567F66194}"/>
              </a:ext>
            </a:extLst>
          </p:cNvPr>
          <p:cNvSpPr txBox="1">
            <a:spLocks noGrp="1"/>
          </p:cNvSpPr>
          <p:nvPr>
            <p:ph type="body" idx="1"/>
          </p:nvPr>
        </p:nvSpPr>
        <p:spPr>
          <a:xfrm>
            <a:off x="236269" y="1675636"/>
            <a:ext cx="8701991" cy="4938523"/>
          </a:xfrm>
          <a:prstGeom prst="rect">
            <a:avLst/>
          </a:prstGeom>
          <a:noFill/>
          <a:ln>
            <a:noFill/>
          </a:ln>
        </p:spPr>
        <p:txBody>
          <a:bodyPr spcFirstLastPara="1" wrap="square" lIns="54850" tIns="91425" rIns="91425" bIns="45700" anchor="t" anchorCtr="0">
            <a:normAutofit/>
          </a:bodyPr>
          <a:lstStyle/>
          <a:p>
            <a:pPr marL="438912" lvl="0">
              <a:lnSpc>
                <a:spcPct val="115000"/>
              </a:lnSpc>
              <a:spcAft>
                <a:spcPts val="1000"/>
              </a:spcAft>
              <a:buClr>
                <a:srgbClr val="F0AD00"/>
              </a:buClr>
              <a:buSzPts val="1920"/>
              <a:defRPr/>
            </a:pP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Binge drinking is </a:t>
            </a:r>
            <a:r>
              <a:rPr lang="en-US" sz="2400" dirty="0">
                <a:solidFill>
                  <a:srgbClr val="000000"/>
                </a:solidFill>
                <a:latin typeface="Times New Roman"/>
                <a:ea typeface="Times New Roman"/>
                <a:cs typeface="Times New Roman"/>
                <a:sym typeface="Times New Roman"/>
              </a:rPr>
              <a:t>excessive drinking considered to occur when someone has a Blood Alcohol Concentration (BAC) of 0.08% or greater</a:t>
            </a:r>
          </a:p>
          <a:p>
            <a:pPr marL="438912">
              <a:lnSpc>
                <a:spcPct val="115000"/>
              </a:lnSpc>
              <a:buClr>
                <a:srgbClr val="F0AD00"/>
              </a:buClr>
              <a:buSzPts val="1920"/>
              <a:defRPr/>
            </a:pPr>
            <a:r>
              <a:rPr lang="en-US" sz="2400" dirty="0">
                <a:solidFill>
                  <a:srgbClr val="000000"/>
                </a:solidFill>
                <a:latin typeface="Times New Roman"/>
                <a:ea typeface="Times New Roman"/>
                <a:cs typeface="Times New Roman"/>
                <a:sym typeface="Times New Roman"/>
              </a:rPr>
              <a:t>This typically occurs after 5 or more drinks within a few hours for a man, and 4 for a woman</a:t>
            </a:r>
            <a:endParaRPr lang="en-US" sz="2400" dirty="0"/>
          </a:p>
          <a:p>
            <a:pPr marL="438912" marR="0" lvl="0" indent="-320040" algn="l" defTabSz="914400" rtl="0" eaLnBrk="1" fontAlgn="auto" latinLnBrk="0" hangingPunct="1">
              <a:lnSpc>
                <a:spcPct val="115000"/>
              </a:lnSpc>
              <a:spcBef>
                <a:spcPts val="1200"/>
              </a:spcBef>
              <a:spcAft>
                <a:spcPts val="0"/>
              </a:spcAft>
              <a:buClr>
                <a:srgbClr val="F0AD00"/>
              </a:buClr>
              <a:buSzPts val="1920"/>
              <a:buFont typeface="Noto Sans Symbols"/>
              <a:buChar char="◼"/>
              <a:tabLst/>
              <a:defRPr/>
            </a:pP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Binge drinking increases the risk of injuries, violent behavior, vehicle accidents, and overdose</a:t>
            </a:r>
          </a:p>
          <a:p>
            <a:pPr marL="438912" marR="0" lvl="0" indent="-320040" algn="l" defTabSz="914400" rtl="0" eaLnBrk="1" fontAlgn="auto" latinLnBrk="0" hangingPunct="1">
              <a:lnSpc>
                <a:spcPct val="115000"/>
              </a:lnSpc>
              <a:spcBef>
                <a:spcPts val="1200"/>
              </a:spcBef>
              <a:spcAft>
                <a:spcPts val="1200"/>
              </a:spcAft>
              <a:buClr>
                <a:srgbClr val="F0AD00"/>
              </a:buClr>
              <a:buSzPts val="1920"/>
              <a:buFont typeface="Noto Sans Symbols"/>
              <a:buChar char="◼"/>
              <a:tabLst/>
              <a:defRPr/>
            </a:pP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In 2023, 12,429 people died from drunk driving incidents in the United States alone, which averages one death by drunk driving every 42 minutes</a:t>
            </a:r>
          </a:p>
        </p:txBody>
      </p:sp>
      <p:pic>
        <p:nvPicPr>
          <p:cNvPr id="146" name="Google Shape;146;p4" descr="A logo with a door and a brick wall&#10;&#10;AI-generated content may be incorrect.">
            <a:extLst>
              <a:ext uri="{FF2B5EF4-FFF2-40B4-BE49-F238E27FC236}">
                <a16:creationId xmlns:a16="http://schemas.microsoft.com/office/drawing/2014/main" id="{F13E5593-B0C2-CFE9-4602-0831A70F42DD}"/>
              </a:ext>
            </a:extLst>
          </p:cNvPr>
          <p:cNvPicPr preferRelativeResize="0"/>
          <p:nvPr/>
        </p:nvPicPr>
        <p:blipFill rotWithShape="1">
          <a:blip r:embed="rId3">
            <a:alphaModFix/>
          </a:blip>
          <a:srcRect/>
          <a:stretch/>
        </p:blipFill>
        <p:spPr>
          <a:xfrm>
            <a:off x="236269" y="150876"/>
            <a:ext cx="1143000" cy="1134208"/>
          </a:xfrm>
          <a:prstGeom prst="rect">
            <a:avLst/>
          </a:prstGeom>
          <a:noFill/>
          <a:ln>
            <a:noFill/>
          </a:ln>
        </p:spPr>
      </p:pic>
    </p:spTree>
    <p:extLst>
      <p:ext uri="{BB962C8B-B14F-4D97-AF65-F5344CB8AC3E}">
        <p14:creationId xmlns:p14="http://schemas.microsoft.com/office/powerpoint/2010/main" val="374152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DFDBE1E6-6F9D-6C93-CAAA-15D78DB7B98D}"/>
            </a:ext>
          </a:extLst>
        </p:cNvPr>
        <p:cNvGrpSpPr/>
        <p:nvPr/>
      </p:nvGrpSpPr>
      <p:grpSpPr>
        <a:xfrm>
          <a:off x="0" y="0"/>
          <a:ext cx="0" cy="0"/>
          <a:chOff x="0" y="0"/>
          <a:chExt cx="0" cy="0"/>
        </a:xfrm>
      </p:grpSpPr>
      <p:sp>
        <p:nvSpPr>
          <p:cNvPr id="143" name="Google Shape;143;p4">
            <a:extLst>
              <a:ext uri="{FF2B5EF4-FFF2-40B4-BE49-F238E27FC236}">
                <a16:creationId xmlns:a16="http://schemas.microsoft.com/office/drawing/2014/main" id="{9049203E-EBBD-C74E-DD7B-FD560925F92C}"/>
              </a:ext>
            </a:extLst>
          </p:cNvPr>
          <p:cNvSpPr txBox="1">
            <a:spLocks noGrp="1"/>
          </p:cNvSpPr>
          <p:nvPr>
            <p:ph type="title"/>
          </p:nvPr>
        </p:nvSpPr>
        <p:spPr>
          <a:xfrm>
            <a:off x="453243" y="150876"/>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Introduction &amp; Motivation</a:t>
            </a:r>
            <a:endParaRPr/>
          </a:p>
        </p:txBody>
      </p:sp>
      <p:sp>
        <p:nvSpPr>
          <p:cNvPr id="144" name="Google Shape;144;p4">
            <a:extLst>
              <a:ext uri="{FF2B5EF4-FFF2-40B4-BE49-F238E27FC236}">
                <a16:creationId xmlns:a16="http://schemas.microsoft.com/office/drawing/2014/main" id="{44C7A4B0-FF62-3AAD-9FA3-9DE8F67C767D}"/>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6</a:t>
            </a:fld>
            <a:endParaRPr>
              <a:latin typeface="Times New Roman"/>
              <a:ea typeface="Times New Roman"/>
              <a:cs typeface="Times New Roman"/>
              <a:sym typeface="Times New Roman"/>
            </a:endParaRPr>
          </a:p>
        </p:txBody>
      </p:sp>
      <p:sp>
        <p:nvSpPr>
          <p:cNvPr id="145" name="Google Shape;145;p4">
            <a:extLst>
              <a:ext uri="{FF2B5EF4-FFF2-40B4-BE49-F238E27FC236}">
                <a16:creationId xmlns:a16="http://schemas.microsoft.com/office/drawing/2014/main" id="{C36EFCF8-A29B-149F-D214-92698D1D6B21}"/>
              </a:ext>
            </a:extLst>
          </p:cNvPr>
          <p:cNvSpPr txBox="1">
            <a:spLocks noGrp="1"/>
          </p:cNvSpPr>
          <p:nvPr>
            <p:ph type="body" idx="1"/>
          </p:nvPr>
        </p:nvSpPr>
        <p:spPr>
          <a:xfrm>
            <a:off x="457200" y="1905000"/>
            <a:ext cx="8229600" cy="4343400"/>
          </a:xfrm>
          <a:prstGeom prst="rect">
            <a:avLst/>
          </a:prstGeom>
          <a:noFill/>
          <a:ln>
            <a:noFill/>
          </a:ln>
        </p:spPr>
        <p:txBody>
          <a:bodyPr spcFirstLastPara="1" wrap="square" lIns="54850" tIns="91425" rIns="91425" bIns="45700" anchor="t" anchorCtr="0">
            <a:normAutofit/>
          </a:bodyPr>
          <a:lstStyle/>
          <a:p>
            <a:pPr marL="438912" lvl="0">
              <a:lnSpc>
                <a:spcPct val="115000"/>
              </a:lnSpc>
              <a:buClr>
                <a:srgbClr val="F0AD00"/>
              </a:buClr>
              <a:buSzPts val="1920"/>
              <a:defRPr/>
            </a:pPr>
            <a:r>
              <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Heavy alcohol use is defined as binge drinking 5 or more times in a month</a:t>
            </a:r>
            <a:endParaRPr lang="en-US" dirty="0"/>
          </a:p>
          <a:p>
            <a:pPr marL="438912">
              <a:lnSpc>
                <a:spcPct val="115000"/>
              </a:lnSpc>
              <a:spcBef>
                <a:spcPts val="1200"/>
              </a:spcBef>
              <a:buSzPts val="1920"/>
            </a:pPr>
            <a:r>
              <a:rPr lang="en-US" sz="2400" dirty="0">
                <a:latin typeface="Times New Roman"/>
                <a:ea typeface="Times New Roman"/>
                <a:cs typeface="Times New Roman"/>
                <a:sym typeface="Times New Roman"/>
              </a:rPr>
              <a:t>This counts as 5+ drinks on any day or 15+ drinks per week for men, and 4+ drinks on any day and 8+ drinks per week for women</a:t>
            </a:r>
            <a:endParaRPr lang="en-US" dirty="0"/>
          </a:p>
          <a:p>
            <a:pPr marL="438912" marR="0" lvl="0" indent="-320040" algn="l" defTabSz="914400" rtl="0" eaLnBrk="1" fontAlgn="auto" latinLnBrk="0" hangingPunct="1">
              <a:lnSpc>
                <a:spcPct val="115000"/>
              </a:lnSpc>
              <a:spcBef>
                <a:spcPts val="1200"/>
              </a:spcBef>
              <a:spcAft>
                <a:spcPts val="1200"/>
              </a:spcAft>
              <a:buClr>
                <a:srgbClr val="F0AD00"/>
              </a:buClr>
              <a:buSzPts val="1920"/>
              <a:buFont typeface="Noto Sans Symbols"/>
              <a:buChar char="◼"/>
              <a:tabLst/>
              <a:defRPr/>
            </a:pPr>
            <a:r>
              <a:rPr lang="en-US" sz="2400" dirty="0">
                <a:solidFill>
                  <a:srgbClr val="000000"/>
                </a:solidFill>
                <a:latin typeface="Times New Roman"/>
                <a:ea typeface="Times New Roman"/>
                <a:cs typeface="Times New Roman"/>
                <a:sym typeface="Times New Roman"/>
              </a:rPr>
              <a:t>Heavy alcohol use increases the risk of certain cancers, liver and heart disease, alcohol use disorder (AUD) and other alcohol-related and general health issues</a:t>
            </a:r>
            <a:endParaRPr kumimoji="0" lang="en-US" sz="2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38912">
              <a:lnSpc>
                <a:spcPct val="115000"/>
              </a:lnSpc>
              <a:spcBef>
                <a:spcPts val="1200"/>
              </a:spcBef>
              <a:spcAft>
                <a:spcPts val="1200"/>
              </a:spcAft>
              <a:buSzPts val="1920"/>
            </a:pPr>
            <a:endParaRPr lang="en-US" dirty="0"/>
          </a:p>
        </p:txBody>
      </p:sp>
      <p:pic>
        <p:nvPicPr>
          <p:cNvPr id="146" name="Google Shape;146;p4" descr="A logo with a door and a brick wall&#10;&#10;AI-generated content may be incorrect.">
            <a:extLst>
              <a:ext uri="{FF2B5EF4-FFF2-40B4-BE49-F238E27FC236}">
                <a16:creationId xmlns:a16="http://schemas.microsoft.com/office/drawing/2014/main" id="{F3BA38D1-D3B8-3C7B-ED44-1AB91AD54929}"/>
              </a:ext>
            </a:extLst>
          </p:cNvPr>
          <p:cNvPicPr preferRelativeResize="0"/>
          <p:nvPr/>
        </p:nvPicPr>
        <p:blipFill rotWithShape="1">
          <a:blip r:embed="rId3">
            <a:alphaModFix/>
          </a:blip>
          <a:srcRect/>
          <a:stretch/>
        </p:blipFill>
        <p:spPr>
          <a:xfrm>
            <a:off x="236269" y="150876"/>
            <a:ext cx="1143000" cy="1134208"/>
          </a:xfrm>
          <a:prstGeom prst="rect">
            <a:avLst/>
          </a:prstGeom>
          <a:noFill/>
          <a:ln>
            <a:noFill/>
          </a:ln>
        </p:spPr>
      </p:pic>
    </p:spTree>
    <p:extLst>
      <p:ext uri="{BB962C8B-B14F-4D97-AF65-F5344CB8AC3E}">
        <p14:creationId xmlns:p14="http://schemas.microsoft.com/office/powerpoint/2010/main" val="3710989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7</a:t>
            </a:fld>
            <a:endParaRPr>
              <a:latin typeface="Times New Roman"/>
              <a:ea typeface="Times New Roman"/>
              <a:cs typeface="Times New Roman"/>
              <a:sym typeface="Times New Roman"/>
            </a:endParaRPr>
          </a:p>
        </p:txBody>
      </p:sp>
      <p:sp>
        <p:nvSpPr>
          <p:cNvPr id="152" name="Google Shape;152;p5"/>
          <p:cNvSpPr txBox="1"/>
          <p:nvPr/>
        </p:nvSpPr>
        <p:spPr>
          <a:xfrm>
            <a:off x="457200" y="152400"/>
            <a:ext cx="8229600" cy="1252728"/>
          </a:xfrm>
          <a:prstGeom prst="rect">
            <a:avLst/>
          </a:prstGeom>
          <a:noFill/>
          <a:ln>
            <a:noFill/>
          </a:ln>
        </p:spPr>
        <p:txBody>
          <a:bodyPr spcFirstLastPara="1" wrap="square" lIns="91425" tIns="45700" rIns="45700" bIns="45700" anchor="ctr" anchorCtr="0">
            <a:normAutofit fontScale="97500"/>
          </a:bodyPr>
          <a:lstStyle/>
          <a:p>
            <a:pPr marL="0" marR="0" lvl="0" indent="0" algn="ctr" rtl="0">
              <a:spcBef>
                <a:spcPts val="0"/>
              </a:spcBef>
              <a:spcAft>
                <a:spcPts val="0"/>
              </a:spcAft>
              <a:buClr>
                <a:srgbClr val="FFC700"/>
              </a:buClr>
              <a:buSzPct val="100000"/>
              <a:buFont typeface="Times New Roman"/>
              <a:buNone/>
            </a:pPr>
            <a:r>
              <a:rPr lang="en-US" sz="3600" b="1" i="0" u="none" strike="noStrike" cap="none">
                <a:solidFill>
                  <a:srgbClr val="FFC700"/>
                </a:solidFill>
                <a:latin typeface="Times New Roman"/>
                <a:ea typeface="Times New Roman"/>
                <a:cs typeface="Times New Roman"/>
                <a:sym typeface="Times New Roman"/>
              </a:rPr>
              <a:t>Literature Review</a:t>
            </a:r>
            <a:endParaRPr/>
          </a:p>
        </p:txBody>
      </p:sp>
      <p:sp>
        <p:nvSpPr>
          <p:cNvPr id="153" name="Google Shape;153;p5"/>
          <p:cNvSpPr txBox="1">
            <a:spLocks noGrp="1"/>
          </p:cNvSpPr>
          <p:nvPr>
            <p:ph type="body" idx="1"/>
          </p:nvPr>
        </p:nvSpPr>
        <p:spPr>
          <a:xfrm>
            <a:off x="266700" y="1693890"/>
            <a:ext cx="8610600" cy="5011710"/>
          </a:xfrm>
          <a:prstGeom prst="rect">
            <a:avLst/>
          </a:prstGeom>
          <a:noFill/>
          <a:ln>
            <a:noFill/>
          </a:ln>
        </p:spPr>
        <p:txBody>
          <a:bodyPr spcFirstLastPara="1" wrap="square" lIns="54850" tIns="91425" rIns="91425" bIns="45700" anchor="t" anchorCtr="0">
            <a:normAutofit lnSpcReduction="10000"/>
          </a:bodyPr>
          <a:lstStyle/>
          <a:p>
            <a:pPr marL="438912" lvl="0" indent="-320040" algn="l" rtl="0">
              <a:lnSpc>
                <a:spcPct val="160000"/>
              </a:lnSpc>
              <a:spcBef>
                <a:spcPts val="0"/>
              </a:spcBef>
              <a:spcAft>
                <a:spcPts val="0"/>
              </a:spcAft>
              <a:buSzPts val="1920"/>
              <a:buChar char="◼"/>
            </a:pPr>
            <a:r>
              <a:rPr lang="en-US" sz="2400" dirty="0">
                <a:latin typeface="Times New Roman"/>
                <a:ea typeface="Times New Roman"/>
                <a:cs typeface="Times New Roman"/>
                <a:sym typeface="Times New Roman"/>
              </a:rPr>
              <a:t>A comprehensive review of alcohol-related literature was created before performing analysis and modeling</a:t>
            </a:r>
            <a:endParaRPr dirty="0"/>
          </a:p>
          <a:p>
            <a:pPr marL="438912" lvl="0" indent="-320040" algn="l" rtl="0">
              <a:lnSpc>
                <a:spcPct val="160000"/>
              </a:lnSpc>
              <a:spcBef>
                <a:spcPts val="0"/>
              </a:spcBef>
              <a:spcAft>
                <a:spcPts val="0"/>
              </a:spcAft>
              <a:buSzPts val="1920"/>
              <a:buChar char="◼"/>
            </a:pPr>
            <a:r>
              <a:rPr lang="en-US" sz="2400" dirty="0">
                <a:latin typeface="Times New Roman"/>
                <a:ea typeface="Times New Roman"/>
                <a:cs typeface="Times New Roman"/>
                <a:sym typeface="Times New Roman"/>
              </a:rPr>
              <a:t>This will be discussed further later in the ”Results &amp; Discussion” section</a:t>
            </a:r>
            <a:endParaRPr dirty="0"/>
          </a:p>
          <a:p>
            <a:pPr marL="438912" lvl="0" indent="-320040" algn="l" rtl="0">
              <a:lnSpc>
                <a:spcPct val="160000"/>
              </a:lnSpc>
              <a:spcBef>
                <a:spcPts val="0"/>
              </a:spcBef>
              <a:spcAft>
                <a:spcPts val="0"/>
              </a:spcAft>
              <a:buSzPts val="1920"/>
              <a:buChar char="◼"/>
            </a:pPr>
            <a:r>
              <a:rPr lang="en-US" sz="2400" dirty="0">
                <a:latin typeface="Times New Roman"/>
                <a:ea typeface="Times New Roman"/>
                <a:cs typeface="Times New Roman"/>
                <a:sym typeface="Times New Roman"/>
              </a:rPr>
              <a:t>Main ideas:</a:t>
            </a:r>
            <a:endParaRPr dirty="0"/>
          </a:p>
          <a:p>
            <a:pPr marL="731520" lvl="1" indent="-274319" algn="l" rtl="0">
              <a:lnSpc>
                <a:spcPct val="160000"/>
              </a:lnSpc>
              <a:spcBef>
                <a:spcPts val="400"/>
              </a:spcBef>
              <a:spcAft>
                <a:spcPts val="0"/>
              </a:spcAft>
              <a:buSzPts val="1800"/>
              <a:buChar char="▪"/>
            </a:pPr>
            <a:r>
              <a:rPr lang="en-US" sz="2000" dirty="0">
                <a:latin typeface="Times New Roman"/>
                <a:ea typeface="Times New Roman"/>
                <a:cs typeface="Times New Roman"/>
                <a:sym typeface="Times New Roman"/>
              </a:rPr>
              <a:t>Alcohol consumption patterns are often influenced by mental health issues, participation in Greek Life, and drinking norms of friends and family</a:t>
            </a:r>
          </a:p>
          <a:p>
            <a:pPr marL="731520" lvl="1" indent="-274319" algn="l" rtl="0">
              <a:lnSpc>
                <a:spcPct val="160000"/>
              </a:lnSpc>
              <a:spcBef>
                <a:spcPts val="400"/>
              </a:spcBef>
              <a:spcAft>
                <a:spcPts val="0"/>
              </a:spcAft>
              <a:buSzPts val="1800"/>
              <a:buChar char="▪"/>
            </a:pPr>
            <a:r>
              <a:rPr lang="en-US" sz="2000" dirty="0">
                <a:latin typeface="Times New Roman"/>
                <a:cs typeface="Times New Roman"/>
                <a:sym typeface="Times New Roman"/>
              </a:rPr>
              <a:t>Alcohol misuse often leads to negative mental health outcomes and risky behaviors and choices, with some being illegal</a:t>
            </a:r>
            <a:endParaRPr dirty="0"/>
          </a:p>
        </p:txBody>
      </p:sp>
      <p:pic>
        <p:nvPicPr>
          <p:cNvPr id="154" name="Google Shape;154;p5" descr="A logo with a door and a brick wall&#10;&#10;AI-generated content may be incorrect."/>
          <p:cNvPicPr preferRelativeResize="0"/>
          <p:nvPr/>
        </p:nvPicPr>
        <p:blipFill rotWithShape="1">
          <a:blip r:embed="rId3">
            <a:alphaModFix/>
          </a:blip>
          <a:srcRect/>
          <a:stretch/>
        </p:blipFill>
        <p:spPr>
          <a:xfrm>
            <a:off x="266700" y="150876"/>
            <a:ext cx="1143000" cy="11342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457200" y="152400"/>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a:p>
        </p:txBody>
      </p:sp>
      <p:sp>
        <p:nvSpPr>
          <p:cNvPr id="160" name="Google Shape;160;p6"/>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8</a:t>
            </a:fld>
            <a:endParaRPr>
              <a:latin typeface="Times New Roman"/>
              <a:ea typeface="Times New Roman"/>
              <a:cs typeface="Times New Roman"/>
              <a:sym typeface="Times New Roman"/>
            </a:endParaRPr>
          </a:p>
        </p:txBody>
      </p:sp>
      <p:sp>
        <p:nvSpPr>
          <p:cNvPr id="161" name="Google Shape;161;p6"/>
          <p:cNvSpPr txBox="1">
            <a:spLocks noGrp="1"/>
          </p:cNvSpPr>
          <p:nvPr>
            <p:ph type="body" idx="1"/>
          </p:nvPr>
        </p:nvSpPr>
        <p:spPr>
          <a:xfrm>
            <a:off x="457200" y="1828800"/>
            <a:ext cx="8229600" cy="4038600"/>
          </a:xfrm>
          <a:prstGeom prst="rect">
            <a:avLst/>
          </a:prstGeom>
          <a:noFill/>
          <a:ln>
            <a:noFill/>
          </a:ln>
        </p:spPr>
        <p:txBody>
          <a:bodyPr spcFirstLastPara="1" wrap="square" lIns="54850" tIns="91425" rIns="91425" bIns="45700" anchor="t" anchorCtr="0">
            <a:normAutofit/>
          </a:bodyPr>
          <a:lstStyle/>
          <a:p>
            <a:pPr marL="438912" lvl="0" indent="-320040" algn="l" rtl="0">
              <a:lnSpc>
                <a:spcPct val="115000"/>
              </a:lnSpc>
              <a:spcBef>
                <a:spcPts val="0"/>
              </a:spcBef>
              <a:spcAft>
                <a:spcPts val="0"/>
              </a:spcAft>
              <a:buSzPts val="1920"/>
              <a:buChar char="◼"/>
            </a:pPr>
            <a:r>
              <a:rPr lang="en-US" sz="2400" dirty="0">
                <a:latin typeface="Times New Roman"/>
                <a:ea typeface="Times New Roman"/>
                <a:cs typeface="Times New Roman"/>
                <a:sym typeface="Times New Roman"/>
              </a:rPr>
              <a:t>Data was purchased from the ACHA-NCHA spring 2024 survey (103,639 survey responses from American college students)</a:t>
            </a:r>
            <a:endParaRPr dirty="0"/>
          </a:p>
          <a:p>
            <a:pPr marL="438912" lvl="0" indent="-320040" algn="l" rtl="0">
              <a:lnSpc>
                <a:spcPct val="115000"/>
              </a:lnSpc>
              <a:spcBef>
                <a:spcPts val="1200"/>
              </a:spcBef>
              <a:spcAft>
                <a:spcPts val="0"/>
              </a:spcAft>
              <a:buSzPts val="1920"/>
              <a:buChar char="◼"/>
            </a:pPr>
            <a:r>
              <a:rPr lang="en-US" sz="2400" dirty="0">
                <a:latin typeface="Times New Roman"/>
                <a:ea typeface="Times New Roman"/>
                <a:cs typeface="Times New Roman"/>
                <a:sym typeface="Times New Roman"/>
              </a:rPr>
              <a:t>The process of working through the data is shown on the next slide</a:t>
            </a:r>
            <a:endParaRPr dirty="0"/>
          </a:p>
          <a:p>
            <a:pPr marL="438912" lvl="0" indent="-198120" algn="l" rtl="0">
              <a:lnSpc>
                <a:spcPct val="160000"/>
              </a:lnSpc>
              <a:spcBef>
                <a:spcPts val="1200"/>
              </a:spcBef>
              <a:spcAft>
                <a:spcPts val="0"/>
              </a:spcAft>
              <a:buSzPts val="1920"/>
              <a:buNone/>
            </a:pPr>
            <a:endParaRPr sz="2400" dirty="0">
              <a:latin typeface="Times New Roman"/>
              <a:ea typeface="Times New Roman"/>
              <a:cs typeface="Times New Roman"/>
              <a:sym typeface="Times New Roman"/>
            </a:endParaRPr>
          </a:p>
        </p:txBody>
      </p:sp>
      <p:pic>
        <p:nvPicPr>
          <p:cNvPr id="162" name="Google Shape;162;p6" descr="A logo with a door and a brick wall&#10;&#10;AI-generated content may be incorrect."/>
          <p:cNvPicPr preferRelativeResize="0"/>
          <p:nvPr/>
        </p:nvPicPr>
        <p:blipFill rotWithShape="1">
          <a:blip r:embed="rId3">
            <a:alphaModFix/>
          </a:blip>
          <a:srcRect/>
          <a:stretch/>
        </p:blipFill>
        <p:spPr>
          <a:xfrm>
            <a:off x="7428328" y="152400"/>
            <a:ext cx="1143000" cy="11342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a:spLocks noGrp="1"/>
          </p:cNvSpPr>
          <p:nvPr>
            <p:ph type="title"/>
          </p:nvPr>
        </p:nvSpPr>
        <p:spPr>
          <a:xfrm>
            <a:off x="457200" y="118872"/>
            <a:ext cx="8229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 (Pipeline)</a:t>
            </a:r>
            <a:endParaRPr/>
          </a:p>
        </p:txBody>
      </p:sp>
      <p:sp>
        <p:nvSpPr>
          <p:cNvPr id="169" name="Google Shape;169;p7"/>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9</a:t>
            </a:fld>
            <a:endParaRPr>
              <a:latin typeface="Times New Roman"/>
              <a:ea typeface="Times New Roman"/>
              <a:cs typeface="Times New Roman"/>
              <a:sym typeface="Times New Roman"/>
            </a:endParaRPr>
          </a:p>
        </p:txBody>
      </p:sp>
      <p:sp>
        <p:nvSpPr>
          <p:cNvPr id="170" name="Google Shape;170;p7"/>
          <p:cNvSpPr txBox="1">
            <a:spLocks noGrp="1"/>
          </p:cNvSpPr>
          <p:nvPr>
            <p:ph type="body" idx="1"/>
          </p:nvPr>
        </p:nvSpPr>
        <p:spPr>
          <a:xfrm>
            <a:off x="457200" y="1735698"/>
            <a:ext cx="8229600" cy="4588901"/>
          </a:xfrm>
          <a:prstGeom prst="rect">
            <a:avLst/>
          </a:prstGeom>
          <a:noFill/>
          <a:ln>
            <a:noFill/>
          </a:ln>
        </p:spPr>
        <p:txBody>
          <a:bodyPr spcFirstLastPara="1" wrap="square" lIns="54850" tIns="91425" rIns="91425" bIns="45700" anchor="t" anchorCtr="0">
            <a:noAutofit/>
          </a:bodyPr>
          <a:lstStyle/>
          <a:p>
            <a:pPr marL="118871" lvl="0" indent="0" algn="l" rtl="0">
              <a:lnSpc>
                <a:spcPct val="160000"/>
              </a:lnSpc>
              <a:spcBef>
                <a:spcPts val="0"/>
              </a:spcBef>
              <a:spcAft>
                <a:spcPts val="0"/>
              </a:spcAft>
              <a:buSzPts val="1920"/>
              <a:buNone/>
            </a:pPr>
            <a:endParaRPr sz="2400">
              <a:latin typeface="Times New Roman"/>
              <a:ea typeface="Times New Roman"/>
              <a:cs typeface="Times New Roman"/>
              <a:sym typeface="Times New Roman"/>
            </a:endParaRPr>
          </a:p>
          <a:p>
            <a:pPr marL="438912" lvl="0" indent="-198120" algn="l" rtl="0">
              <a:lnSpc>
                <a:spcPct val="160000"/>
              </a:lnSpc>
              <a:spcBef>
                <a:spcPts val="0"/>
              </a:spcBef>
              <a:spcAft>
                <a:spcPts val="0"/>
              </a:spcAft>
              <a:buSzPts val="1920"/>
              <a:buNone/>
            </a:pPr>
            <a:endParaRPr sz="2400">
              <a:latin typeface="Times New Roman"/>
              <a:ea typeface="Times New Roman"/>
              <a:cs typeface="Times New Roman"/>
              <a:sym typeface="Times New Roman"/>
            </a:endParaRPr>
          </a:p>
          <a:p>
            <a:pPr marL="438912" lvl="0" indent="-198120" algn="l" rtl="0">
              <a:lnSpc>
                <a:spcPct val="160000"/>
              </a:lnSpc>
              <a:spcBef>
                <a:spcPts val="0"/>
              </a:spcBef>
              <a:spcAft>
                <a:spcPts val="0"/>
              </a:spcAft>
              <a:buSzPts val="1920"/>
              <a:buNone/>
            </a:pPr>
            <a:endParaRPr sz="2400">
              <a:latin typeface="Times New Roman"/>
              <a:ea typeface="Times New Roman"/>
              <a:cs typeface="Times New Roman"/>
              <a:sym typeface="Times New Roman"/>
            </a:endParaRPr>
          </a:p>
        </p:txBody>
      </p:sp>
      <p:pic>
        <p:nvPicPr>
          <p:cNvPr id="171" name="Google Shape;171;p7" descr="A diagram of data visualization&#10;&#10;AI-generated content may be incorrect."/>
          <p:cNvPicPr preferRelativeResize="0"/>
          <p:nvPr/>
        </p:nvPicPr>
        <p:blipFill rotWithShape="1">
          <a:blip r:embed="rId3">
            <a:alphaModFix/>
          </a:blip>
          <a:srcRect/>
          <a:stretch/>
        </p:blipFill>
        <p:spPr>
          <a:xfrm>
            <a:off x="-14416" y="2975521"/>
            <a:ext cx="9153525" cy="3577677"/>
          </a:xfrm>
          <a:prstGeom prst="rect">
            <a:avLst/>
          </a:prstGeom>
          <a:noFill/>
          <a:ln>
            <a:noFill/>
          </a:ln>
        </p:spPr>
      </p:pic>
      <p:sp>
        <p:nvSpPr>
          <p:cNvPr id="172" name="Google Shape;172;p7"/>
          <p:cNvSpPr txBox="1"/>
          <p:nvPr/>
        </p:nvSpPr>
        <p:spPr>
          <a:xfrm>
            <a:off x="457200" y="1828800"/>
            <a:ext cx="8229600" cy="4038600"/>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Times New Roman"/>
                <a:ea typeface="Times New Roman"/>
                <a:cs typeface="Times New Roman"/>
                <a:sym typeface="Times New Roman"/>
              </a:rPr>
              <a:t>Nearly all of the processes in the pipeline were completed using the Python programming language and its libraries</a:t>
            </a:r>
            <a:endParaRPr/>
          </a:p>
          <a:p>
            <a:pPr marL="438912" marR="0" lvl="0" indent="-198120" algn="l" rtl="0">
              <a:lnSpc>
                <a:spcPct val="160000"/>
              </a:lnSpc>
              <a:spcBef>
                <a:spcPts val="1200"/>
              </a:spcBef>
              <a:spcAft>
                <a:spcPts val="0"/>
              </a:spcAft>
              <a:buClr>
                <a:schemeClr val="accent1"/>
              </a:buClr>
              <a:buSzPts val="192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pic>
        <p:nvPicPr>
          <p:cNvPr id="173" name="Google Shape;173;p7" descr="A logo with a door and a brick wall&#10;&#10;AI-generated content may be incorrect."/>
          <p:cNvPicPr preferRelativeResize="0"/>
          <p:nvPr/>
        </p:nvPicPr>
        <p:blipFill rotWithShape="1">
          <a:blip r:embed="rId4">
            <a:alphaModFix/>
          </a:blip>
          <a:srcRect/>
          <a:stretch/>
        </p:blipFill>
        <p:spPr>
          <a:xfrm>
            <a:off x="266700" y="150876"/>
            <a:ext cx="1143000" cy="11342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txBox="1">
            <a:spLocks noGrp="1"/>
          </p:cNvSpPr>
          <p:nvPr>
            <p:ph type="title"/>
          </p:nvPr>
        </p:nvSpPr>
        <p:spPr>
          <a:xfrm>
            <a:off x="457200" y="116401"/>
            <a:ext cx="67056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200"/>
              <a:buFont typeface="Times New Roman"/>
              <a:buNone/>
            </a:pPr>
            <a:r>
              <a:rPr lang="en-US" sz="3200"/>
              <a:t>Methodology</a:t>
            </a:r>
            <a:endParaRPr sz="3200"/>
          </a:p>
          <a:p>
            <a:pPr marL="0" lvl="0" indent="0" algn="ctr" rtl="0">
              <a:spcBef>
                <a:spcPts val="0"/>
              </a:spcBef>
              <a:spcAft>
                <a:spcPts val="0"/>
              </a:spcAft>
              <a:buClr>
                <a:srgbClr val="FFC700"/>
              </a:buClr>
              <a:buSzPts val="3200"/>
              <a:buFont typeface="Times New Roman"/>
              <a:buNone/>
            </a:pPr>
            <a:r>
              <a:rPr lang="en-US" sz="2800"/>
              <a:t>(Data Collection &amp; Profiling)</a:t>
            </a:r>
            <a:endParaRPr sz="2800"/>
          </a:p>
        </p:txBody>
      </p:sp>
      <p:sp>
        <p:nvSpPr>
          <p:cNvPr id="180" name="Google Shape;180;p8"/>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10</a:t>
            </a:fld>
            <a:endParaRPr>
              <a:latin typeface="Times New Roman"/>
              <a:ea typeface="Times New Roman"/>
              <a:cs typeface="Times New Roman"/>
              <a:sym typeface="Times New Roman"/>
            </a:endParaRPr>
          </a:p>
        </p:txBody>
      </p:sp>
      <p:sp>
        <p:nvSpPr>
          <p:cNvPr id="181" name="Google Shape;181;p8"/>
          <p:cNvSpPr txBox="1">
            <a:spLocks noGrp="1"/>
          </p:cNvSpPr>
          <p:nvPr>
            <p:ph type="body" idx="1"/>
          </p:nvPr>
        </p:nvSpPr>
        <p:spPr>
          <a:xfrm>
            <a:off x="457200" y="1735700"/>
            <a:ext cx="8305800" cy="4284100"/>
          </a:xfrm>
          <a:prstGeom prst="rect">
            <a:avLst/>
          </a:prstGeom>
          <a:noFill/>
          <a:ln>
            <a:noFill/>
          </a:ln>
        </p:spPr>
        <p:txBody>
          <a:bodyPr spcFirstLastPara="1" wrap="square" lIns="54850" tIns="91425" rIns="91425" bIns="45700" anchor="t" anchorCtr="0">
            <a:normAutofit/>
          </a:bodyPr>
          <a:lstStyle/>
          <a:p>
            <a:pPr marL="438912" lvl="0" indent="-320040" algn="l" rtl="0">
              <a:lnSpc>
                <a:spcPct val="115000"/>
              </a:lnSpc>
              <a:spcBef>
                <a:spcPts val="0"/>
              </a:spcBef>
              <a:spcAft>
                <a:spcPts val="0"/>
              </a:spcAft>
              <a:buSzPts val="1920"/>
              <a:buChar char="◼"/>
            </a:pPr>
            <a:r>
              <a:rPr lang="en-US" sz="2400" dirty="0">
                <a:latin typeface="Times New Roman"/>
                <a:ea typeface="Times New Roman"/>
                <a:cs typeface="Times New Roman"/>
                <a:sym typeface="Times New Roman"/>
              </a:rPr>
              <a:t>The data represents 103,639 American college students, representing 154 higher education institutions</a:t>
            </a:r>
            <a:endParaRPr dirty="0"/>
          </a:p>
          <a:p>
            <a:pPr marL="438912" lvl="0" indent="-320040" algn="l" rtl="0">
              <a:lnSpc>
                <a:spcPct val="115000"/>
              </a:lnSpc>
              <a:spcBef>
                <a:spcPts val="1200"/>
              </a:spcBef>
              <a:spcAft>
                <a:spcPts val="1200"/>
              </a:spcAft>
              <a:buSzPts val="1920"/>
              <a:buChar char="◼"/>
            </a:pPr>
            <a:r>
              <a:rPr lang="en-US" sz="2400" dirty="0">
                <a:latin typeface="Times New Roman"/>
                <a:ea typeface="Times New Roman"/>
                <a:cs typeface="Times New Roman"/>
                <a:sym typeface="Times New Roman"/>
              </a:rPr>
              <a:t>The next two slides will display tables of the features that were most essential to the upcoming data analysis and modeling section</a:t>
            </a:r>
            <a:endParaRPr dirty="0"/>
          </a:p>
        </p:txBody>
      </p:sp>
      <p:pic>
        <p:nvPicPr>
          <p:cNvPr id="182" name="Google Shape;182;p8" descr="A logo with a door and a brick wall&#10;&#10;AI-generated content may be incorrect."/>
          <p:cNvPicPr preferRelativeResize="0"/>
          <p:nvPr/>
        </p:nvPicPr>
        <p:blipFill rotWithShape="1">
          <a:blip r:embed="rId3">
            <a:alphaModFix/>
          </a:blip>
          <a:srcRect/>
          <a:stretch/>
        </p:blipFill>
        <p:spPr>
          <a:xfrm>
            <a:off x="7428328" y="155448"/>
            <a:ext cx="1143000" cy="11342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txBox="1">
            <a:spLocks noGrp="1"/>
          </p:cNvSpPr>
          <p:nvPr>
            <p:ph type="title"/>
          </p:nvPr>
        </p:nvSpPr>
        <p:spPr>
          <a:xfrm>
            <a:off x="2057400" y="118872"/>
            <a:ext cx="6629400" cy="1252728"/>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3600"/>
          </a:p>
          <a:p>
            <a:pPr marL="0" lvl="0" indent="0" algn="ctr" rtl="0">
              <a:spcBef>
                <a:spcPts val="0"/>
              </a:spcBef>
              <a:spcAft>
                <a:spcPts val="0"/>
              </a:spcAft>
              <a:buClr>
                <a:srgbClr val="FFC700"/>
              </a:buClr>
              <a:buSzPts val="3600"/>
              <a:buFont typeface="Times New Roman"/>
              <a:buNone/>
            </a:pPr>
            <a:r>
              <a:rPr lang="en-US" sz="2800"/>
              <a:t>(List of Most Important Variables)</a:t>
            </a:r>
            <a:endParaRPr sz="2800"/>
          </a:p>
        </p:txBody>
      </p:sp>
      <p:sp>
        <p:nvSpPr>
          <p:cNvPr id="189" name="Google Shape;189;p9"/>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11</a:t>
            </a:fld>
            <a:endParaRPr>
              <a:latin typeface="Times New Roman"/>
              <a:ea typeface="Times New Roman"/>
              <a:cs typeface="Times New Roman"/>
              <a:sym typeface="Times New Roman"/>
            </a:endParaRPr>
          </a:p>
        </p:txBody>
      </p:sp>
      <p:graphicFrame>
        <p:nvGraphicFramePr>
          <p:cNvPr id="190" name="Google Shape;190;p9"/>
          <p:cNvGraphicFramePr/>
          <p:nvPr>
            <p:extLst>
              <p:ext uri="{D42A27DB-BD31-4B8C-83A1-F6EECF244321}">
                <p14:modId xmlns:p14="http://schemas.microsoft.com/office/powerpoint/2010/main" val="3865307934"/>
              </p:ext>
            </p:extLst>
          </p:nvPr>
        </p:nvGraphicFramePr>
        <p:xfrm>
          <a:off x="457200" y="1725617"/>
          <a:ext cx="8229600" cy="4450200"/>
        </p:xfrm>
        <a:graphic>
          <a:graphicData uri="http://schemas.openxmlformats.org/drawingml/2006/table">
            <a:tbl>
              <a:tblPr firstRow="1" bandRow="1">
                <a:noFill/>
                <a:tableStyleId>{E148F040-0A8B-4E72-A747-29BAFFFC2B0B}</a:tableStyleId>
              </a:tblPr>
              <a:tblGrid>
                <a:gridCol w="12954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u="none" strike="noStrike" cap="none">
                          <a:solidFill>
                            <a:schemeClr val="tx1"/>
                          </a:solidFill>
                          <a:latin typeface="Times New Roman" panose="02020603050405020304" pitchFamily="18" charset="0"/>
                          <a:ea typeface="Times New Roman"/>
                          <a:cs typeface="Times New Roman" panose="02020603050405020304" pitchFamily="18" charset="0"/>
                          <a:sym typeface="Times New Roman"/>
                        </a:rPr>
                        <a:t>Variable</a:t>
                      </a:r>
                      <a:endParaRPr sz="180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ea typeface="Times New Roman"/>
                          <a:cs typeface="Times New Roman" panose="02020603050405020304" pitchFamily="18" charset="0"/>
                          <a:sym typeface="Times New Roman"/>
                        </a:rPr>
                        <a:t>Description</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panose="02020603050405020304" pitchFamily="18" charset="0"/>
                          <a:ea typeface="Times New Roman"/>
                          <a:cs typeface="Times New Roman" panose="02020603050405020304" pitchFamily="18" charset="0"/>
                          <a:sym typeface="Times New Roman"/>
                        </a:rPr>
                        <a:t>N3Q1</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a:latin typeface="Times New Roman" panose="02020603050405020304" pitchFamily="18" charset="0"/>
                          <a:ea typeface="Times New Roman"/>
                          <a:cs typeface="Times New Roman" panose="02020603050405020304" pitchFamily="18" charset="0"/>
                          <a:sym typeface="Times New Roman"/>
                        </a:rPr>
                        <a:t>Self-reported overall health rating</a:t>
                      </a:r>
                      <a:endParaRPr sz="18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N3Q48</a:t>
                      </a:r>
                      <a:endParaRPr sz="1800" b="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Self-reported overall stress level (last 30 days)</a:t>
                      </a:r>
                      <a:endParaRPr lang="en-US" sz="1800" b="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dirty="0">
                          <a:latin typeface="Times New Roman" panose="02020603050405020304" pitchFamily="18" charset="0"/>
                          <a:ea typeface="Times New Roman"/>
                          <a:cs typeface="Times New Roman" panose="02020603050405020304" pitchFamily="18" charset="0"/>
                          <a:sym typeface="Times New Roman"/>
                        </a:rPr>
                        <a:t>N3Q65A2</a:t>
                      </a:r>
                      <a:endParaRPr sz="18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ea typeface="Times New Roman"/>
                          <a:cs typeface="Times New Roman" panose="02020603050405020304" pitchFamily="18" charset="0"/>
                          <a:sym typeface="Times New Roman"/>
                        </a:rPr>
                        <a:t>Has the student been diagnosed with ADD/ADHD?</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0">
                          <a:latin typeface="Times New Roman" panose="02020603050405020304" pitchFamily="18" charset="0"/>
                          <a:ea typeface="Times New Roman"/>
                          <a:cs typeface="Times New Roman" panose="02020603050405020304" pitchFamily="18" charset="0"/>
                          <a:sym typeface="Times New Roman"/>
                        </a:rPr>
                        <a:t>N3Q65A3</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a:latin typeface="Times New Roman" panose="02020603050405020304" pitchFamily="18" charset="0"/>
                          <a:ea typeface="Times New Roman"/>
                          <a:cs typeface="Times New Roman" panose="02020603050405020304" pitchFamily="18" charset="0"/>
                          <a:sym typeface="Times New Roman"/>
                        </a:rPr>
                        <a:t>Has the student been diagnosed with alcohol or drug abuse/addiction?</a:t>
                      </a:r>
                      <a:endParaRPr sz="18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b="0">
                          <a:latin typeface="Times New Roman" panose="02020603050405020304" pitchFamily="18" charset="0"/>
                          <a:ea typeface="Times New Roman"/>
                          <a:cs typeface="Times New Roman" panose="02020603050405020304" pitchFamily="18" charset="0"/>
                          <a:sym typeface="Times New Roman"/>
                        </a:rPr>
                        <a:t>N3Q65A7</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Has the student been diagnosed with anxiety?</a:t>
                      </a:r>
                      <a:endParaRPr sz="18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b="0">
                          <a:latin typeface="Times New Roman" panose="02020603050405020304" pitchFamily="18" charset="0"/>
                          <a:ea typeface="Times New Roman"/>
                          <a:cs typeface="Times New Roman" panose="02020603050405020304" pitchFamily="18" charset="0"/>
                          <a:sym typeface="Times New Roman"/>
                        </a:rPr>
                        <a:t>N3Q65A15</a:t>
                      </a:r>
                      <a:endParaRPr sz="1800" b="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Has the student been diagnosed with depression?</a:t>
                      </a: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N3Q65A19</a:t>
                      </a:r>
                      <a:endParaRPr sz="18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Has the student been diagnosed with gambling disorder</a:t>
                      </a:r>
                    </a:p>
                  </a:txBody>
                  <a:tcPr marL="91450" marR="91450" marT="45725" marB="45725"/>
                </a:tc>
                <a:extLst>
                  <a:ext uri="{0D108BD9-81ED-4DB2-BD59-A6C34878D82A}">
                    <a16:rowId xmlns:a16="http://schemas.microsoft.com/office/drawing/2014/main" val="158040734"/>
                  </a:ext>
                </a:extLst>
              </a:tr>
              <a:tr h="370850">
                <a:tc>
                  <a:txBody>
                    <a:bodyPr/>
                    <a:lstStyle/>
                    <a:p>
                      <a:pPr marL="0" marR="0" lvl="0" indent="0" algn="l" rtl="0">
                        <a:spcBef>
                          <a:spcPts val="0"/>
                        </a:spcBef>
                        <a:spcAft>
                          <a:spcPts val="0"/>
                        </a:spcAft>
                        <a:buNone/>
                      </a:pPr>
                      <a:r>
                        <a:rPr lang="en-US" sz="1800" b="0">
                          <a:latin typeface="Times New Roman" panose="02020603050405020304" pitchFamily="18" charset="0"/>
                          <a:ea typeface="Times New Roman"/>
                          <a:cs typeface="Times New Roman" panose="02020603050405020304" pitchFamily="18" charset="0"/>
                          <a:sym typeface="Times New Roman"/>
                        </a:rPr>
                        <a:t>N3Q65A28</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ea typeface="Times New Roman"/>
                          <a:cs typeface="Times New Roman" panose="02020603050405020304" pitchFamily="18" charset="0"/>
                          <a:sym typeface="Times New Roman"/>
                        </a:rPr>
                        <a:t>Has the student been diagnosed with insomnia?</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N3Q65A31</a:t>
                      </a:r>
                      <a:endParaRPr sz="18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Times New Roman" panose="02020603050405020304" pitchFamily="18" charset="0"/>
                          <a:ea typeface="Times New Roman"/>
                          <a:cs typeface="Times New Roman" panose="02020603050405020304" pitchFamily="18" charset="0"/>
                          <a:sym typeface="Times New Roman"/>
                        </a:rPr>
                        <a:t>Has the student been diagnosed with OCD?</a:t>
                      </a:r>
                      <a:endParaRPr lang="en-US"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550847882"/>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Times New Roman" panose="02020603050405020304" pitchFamily="18" charset="0"/>
                          <a:cs typeface="Times New Roman" panose="02020603050405020304" pitchFamily="18" charset="0"/>
                        </a:rPr>
                        <a:t>N3Q65A33</a:t>
                      </a: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Times New Roman" panose="02020603050405020304" pitchFamily="18" charset="0"/>
                          <a:ea typeface="Times New Roman"/>
                          <a:cs typeface="Times New Roman" panose="02020603050405020304" pitchFamily="18" charset="0"/>
                          <a:sym typeface="Times New Roman"/>
                        </a:rPr>
                        <a:t>Has the student been diagnosed with PTSD?</a:t>
                      </a:r>
                      <a:endParaRPr lang="en-US"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404741432"/>
                  </a:ext>
                </a:extLst>
              </a:tr>
              <a:tr h="370850">
                <a:tc>
                  <a:txBody>
                    <a:bodyPr/>
                    <a:lstStyle/>
                    <a:p>
                      <a:pPr marL="0" marR="0" lvl="0" indent="0" algn="l" rtl="0">
                        <a:spcBef>
                          <a:spcPts val="0"/>
                        </a:spcBef>
                        <a:spcAft>
                          <a:spcPts val="0"/>
                        </a:spcAft>
                        <a:buNone/>
                      </a:pPr>
                      <a:r>
                        <a:rPr lang="en-US" sz="1800">
                          <a:latin typeface="Times New Roman" panose="02020603050405020304" pitchFamily="18" charset="0"/>
                          <a:ea typeface="Times New Roman"/>
                          <a:cs typeface="Times New Roman" panose="02020603050405020304" pitchFamily="18" charset="0"/>
                          <a:sym typeface="Times New Roman"/>
                        </a:rPr>
                        <a:t>N3Q65A35</a:t>
                      </a:r>
                      <a:endParaRPr sz="18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ea typeface="Times New Roman"/>
                          <a:cs typeface="Times New Roman" panose="02020603050405020304" pitchFamily="18" charset="0"/>
                          <a:sym typeface="Times New Roman"/>
                        </a:rPr>
                        <a:t>Has the student been diagnosed with sleep apnea?</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8"/>
                  </a:ext>
                </a:extLst>
              </a:tr>
            </a:tbl>
          </a:graphicData>
        </a:graphic>
      </p:graphicFrame>
      <p:pic>
        <p:nvPicPr>
          <p:cNvPr id="191" name="Google Shape;191;p9" descr="A logo with a door and a brick wall&#10;&#10;AI-generated content may be incorrect."/>
          <p:cNvPicPr preferRelativeResize="0"/>
          <p:nvPr/>
        </p:nvPicPr>
        <p:blipFill rotWithShape="1">
          <a:blip r:embed="rId3">
            <a:alphaModFix/>
          </a:blip>
          <a:srcRect/>
          <a:stretch/>
        </p:blipFill>
        <p:spPr>
          <a:xfrm>
            <a:off x="266700" y="150876"/>
            <a:ext cx="1143000" cy="11342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12</a:t>
            </a:fld>
            <a:endParaRPr>
              <a:latin typeface="Times New Roman"/>
              <a:ea typeface="Times New Roman"/>
              <a:cs typeface="Times New Roman"/>
              <a:sym typeface="Times New Roman"/>
            </a:endParaRPr>
          </a:p>
        </p:txBody>
      </p:sp>
      <p:sp>
        <p:nvSpPr>
          <p:cNvPr id="198" name="Google Shape;198;p10"/>
          <p:cNvSpPr txBox="1"/>
          <p:nvPr/>
        </p:nvSpPr>
        <p:spPr>
          <a:xfrm>
            <a:off x="314975" y="73150"/>
            <a:ext cx="7170000" cy="1252800"/>
          </a:xfrm>
          <a:prstGeom prst="rect">
            <a:avLst/>
          </a:prstGeom>
          <a:noFill/>
          <a:ln>
            <a:noFill/>
          </a:ln>
        </p:spPr>
        <p:txBody>
          <a:bodyPr spcFirstLastPara="1" wrap="square" lIns="91425" tIns="45700" rIns="45700" bIns="45700" anchor="ctr" anchorCtr="0">
            <a:normAutofit/>
          </a:bodyPr>
          <a:lstStyle/>
          <a:p>
            <a:pPr marL="0" marR="0" lvl="0" indent="0" algn="ctr" rtl="0">
              <a:spcBef>
                <a:spcPts val="0"/>
              </a:spcBef>
              <a:spcAft>
                <a:spcPts val="0"/>
              </a:spcAft>
              <a:buClr>
                <a:srgbClr val="FFC700"/>
              </a:buClr>
              <a:buSzPts val="3600"/>
              <a:buFont typeface="Times New Roman"/>
              <a:buNone/>
            </a:pPr>
            <a:r>
              <a:rPr lang="en-US" sz="3600" b="1" i="0" u="none" strike="noStrike" cap="none">
                <a:solidFill>
                  <a:srgbClr val="FFC700"/>
                </a:solidFill>
                <a:latin typeface="Times New Roman"/>
                <a:ea typeface="Times New Roman"/>
                <a:cs typeface="Times New Roman"/>
                <a:sym typeface="Times New Roman"/>
              </a:rPr>
              <a:t>Methodology</a:t>
            </a:r>
            <a:endParaRPr sz="3600" b="1">
              <a:solidFill>
                <a:srgbClr val="FFC700"/>
              </a:solidFill>
              <a:latin typeface="Times New Roman"/>
              <a:ea typeface="Times New Roman"/>
              <a:cs typeface="Times New Roman"/>
              <a:sym typeface="Times New Roman"/>
            </a:endParaRPr>
          </a:p>
          <a:p>
            <a:pPr marL="0" marR="0" lvl="0" indent="0" algn="ctr" rtl="0">
              <a:spcBef>
                <a:spcPts val="0"/>
              </a:spcBef>
              <a:spcAft>
                <a:spcPts val="0"/>
              </a:spcAft>
              <a:buClr>
                <a:srgbClr val="FFC700"/>
              </a:buClr>
              <a:buSzPts val="3600"/>
              <a:buFont typeface="Times New Roman"/>
              <a:buNone/>
            </a:pPr>
            <a:r>
              <a:rPr lang="en-US" sz="2800" b="1" i="0" u="none" strike="noStrike" cap="none">
                <a:solidFill>
                  <a:srgbClr val="FFC700"/>
                </a:solidFill>
                <a:latin typeface="Times New Roman"/>
                <a:ea typeface="Times New Roman"/>
                <a:cs typeface="Times New Roman"/>
                <a:sym typeface="Times New Roman"/>
              </a:rPr>
              <a:t>(List of Most Important Variables Cont</a:t>
            </a:r>
            <a:r>
              <a:rPr lang="en-US" sz="2800" b="1">
                <a:solidFill>
                  <a:srgbClr val="FFC700"/>
                </a:solidFill>
                <a:latin typeface="Times New Roman"/>
                <a:ea typeface="Times New Roman"/>
                <a:cs typeface="Times New Roman"/>
                <a:sym typeface="Times New Roman"/>
              </a:rPr>
              <a:t>’</a:t>
            </a:r>
            <a:r>
              <a:rPr lang="en-US" sz="2800" b="1" i="0" u="none" strike="noStrike" cap="none">
                <a:solidFill>
                  <a:srgbClr val="FFC700"/>
                </a:solidFill>
                <a:latin typeface="Times New Roman"/>
                <a:ea typeface="Times New Roman"/>
                <a:cs typeface="Times New Roman"/>
                <a:sym typeface="Times New Roman"/>
              </a:rPr>
              <a:t>d)</a:t>
            </a:r>
            <a:endParaRPr sz="2800"/>
          </a:p>
        </p:txBody>
      </p:sp>
      <p:graphicFrame>
        <p:nvGraphicFramePr>
          <p:cNvPr id="199" name="Google Shape;199;p10"/>
          <p:cNvGraphicFramePr/>
          <p:nvPr>
            <p:extLst>
              <p:ext uri="{D42A27DB-BD31-4B8C-83A1-F6EECF244321}">
                <p14:modId xmlns:p14="http://schemas.microsoft.com/office/powerpoint/2010/main" val="1033951368"/>
              </p:ext>
            </p:extLst>
          </p:nvPr>
        </p:nvGraphicFramePr>
        <p:xfrm>
          <a:off x="260357" y="1559459"/>
          <a:ext cx="8623285" cy="4691440"/>
        </p:xfrm>
        <a:graphic>
          <a:graphicData uri="http://schemas.openxmlformats.org/drawingml/2006/table">
            <a:tbl>
              <a:tblPr firstRow="1" bandRow="1">
                <a:noFill/>
                <a:tableStyleId>{E148F040-0A8B-4E72-A747-29BAFFFC2B0B}</a:tableStyleId>
              </a:tblPr>
              <a:tblGrid>
                <a:gridCol w="1986968">
                  <a:extLst>
                    <a:ext uri="{9D8B030D-6E8A-4147-A177-3AD203B41FA5}">
                      <a16:colId xmlns:a16="http://schemas.microsoft.com/office/drawing/2014/main" val="20000"/>
                    </a:ext>
                  </a:extLst>
                </a:gridCol>
                <a:gridCol w="6636317">
                  <a:extLst>
                    <a:ext uri="{9D8B030D-6E8A-4147-A177-3AD203B41FA5}">
                      <a16:colId xmlns:a16="http://schemas.microsoft.com/office/drawing/2014/main" val="20001"/>
                    </a:ext>
                  </a:extLst>
                </a:gridCol>
              </a:tblGrid>
              <a:tr h="341198">
                <a:tc>
                  <a:txBody>
                    <a:bodyPr/>
                    <a:lstStyle/>
                    <a:p>
                      <a:pPr marL="0" marR="0" lvl="0" indent="0" algn="l" rtl="0">
                        <a:spcBef>
                          <a:spcPts val="0"/>
                        </a:spcBef>
                        <a:spcAft>
                          <a:spcPts val="0"/>
                        </a:spcAft>
                        <a:buNone/>
                      </a:pPr>
                      <a:r>
                        <a:rPr lang="en-US" sz="1600" dirty="0">
                          <a:solidFill>
                            <a:schemeClr val="tx1"/>
                          </a:solidFill>
                          <a:latin typeface="Times New Roman"/>
                          <a:ea typeface="Times New Roman"/>
                          <a:cs typeface="Times New Roman"/>
                          <a:sym typeface="Times New Roman"/>
                        </a:rPr>
                        <a:t>Variable</a:t>
                      </a:r>
                      <a:endParaRPr sz="1600" dirty="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a:ea typeface="Times New Roman"/>
                          <a:cs typeface="Times New Roman"/>
                          <a:sym typeface="Times New Roman"/>
                        </a:rPr>
                        <a:t>Description</a:t>
                      </a:r>
                      <a:endParaRPr sz="1600" dirty="0">
                        <a:solidFill>
                          <a:schemeClr val="tx1"/>
                        </a:solidFill>
                      </a:endParaRPr>
                    </a:p>
                  </a:txBody>
                  <a:tcPr marL="91450" marR="91450" marT="45725" marB="45725"/>
                </a:tc>
                <a:extLst>
                  <a:ext uri="{0D108BD9-81ED-4DB2-BD59-A6C34878D82A}">
                    <a16:rowId xmlns:a16="http://schemas.microsoft.com/office/drawing/2014/main" val="10000"/>
                  </a:ext>
                </a:extLst>
              </a:tr>
              <a:tr h="341198">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N3Q77A</a:t>
                      </a:r>
                      <a:endParaRPr lang="en-US" sz="1600"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Is the student a member of a fraternity or a sorority? (Greek life)</a:t>
                      </a:r>
                      <a:endParaRPr lang="en-US" sz="1600" dirty="0"/>
                    </a:p>
                  </a:txBody>
                  <a:tcPr marL="91450" marR="91450" marT="45725" marB="45725"/>
                </a:tc>
                <a:extLst>
                  <a:ext uri="{0D108BD9-81ED-4DB2-BD59-A6C34878D82A}">
                    <a16:rowId xmlns:a16="http://schemas.microsoft.com/office/drawing/2014/main" val="10001"/>
                  </a:ext>
                </a:extLst>
              </a:tr>
              <a:tr h="341198">
                <a:tc>
                  <a:txBody>
                    <a:bodyPr/>
                    <a:lstStyle/>
                    <a:p>
                      <a:pPr marL="0" marR="0" lvl="0" indent="0" algn="l" rtl="0">
                        <a:spcBef>
                          <a:spcPts val="0"/>
                        </a:spcBef>
                        <a:spcAft>
                          <a:spcPts val="0"/>
                        </a:spcAft>
                        <a:buNone/>
                      </a:pPr>
                      <a:r>
                        <a:rPr lang="en-US" sz="1600" b="0" dirty="0">
                          <a:latin typeface="Times New Roman"/>
                          <a:ea typeface="Times New Roman"/>
                          <a:cs typeface="Times New Roman"/>
                          <a:sym typeface="Times New Roman"/>
                        </a:rPr>
                        <a:t>N3Q77B</a:t>
                      </a:r>
                      <a:endParaRPr lang="en-US" sz="1600"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Does the student live in a fraternity or a sorority?</a:t>
                      </a:r>
                      <a:endParaRPr lang="en-US" sz="1600" dirty="0"/>
                    </a:p>
                  </a:txBody>
                  <a:tcPr marL="91450" marR="91450" marT="45725" marB="45725"/>
                </a:tc>
                <a:extLst>
                  <a:ext uri="{0D108BD9-81ED-4DB2-BD59-A6C34878D82A}">
                    <a16:rowId xmlns:a16="http://schemas.microsoft.com/office/drawing/2014/main" val="10002"/>
                  </a:ext>
                </a:extLst>
              </a:tr>
              <a:tr h="341198">
                <a:tc>
                  <a:txBody>
                    <a:bodyPr/>
                    <a:lstStyle/>
                    <a:p>
                      <a:pPr marL="0" marR="0" lvl="0" indent="0" algn="l" rtl="0">
                        <a:spcBef>
                          <a:spcPts val="0"/>
                        </a:spcBef>
                        <a:spcAft>
                          <a:spcPts val="0"/>
                        </a:spcAft>
                        <a:buNone/>
                      </a:pPr>
                      <a:r>
                        <a:rPr lang="en-US" sz="1600" b="0" dirty="0">
                          <a:latin typeface="Times New Roman"/>
                          <a:ea typeface="Times New Roman"/>
                          <a:cs typeface="Times New Roman"/>
                          <a:sym typeface="Times New Roman"/>
                        </a:rPr>
                        <a:t>N3Q80</a:t>
                      </a:r>
                      <a:endParaRPr lang="en-US" sz="160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Times New Roman"/>
                        <a:buNone/>
                      </a:pPr>
                      <a:r>
                        <a:rPr lang="en-US" sz="1600" b="0" i="0" u="none" strike="noStrike" cap="none" dirty="0">
                          <a:solidFill>
                            <a:srgbClr val="000000"/>
                          </a:solidFill>
                          <a:latin typeface="Times New Roman"/>
                          <a:ea typeface="Times New Roman"/>
                          <a:cs typeface="Times New Roman"/>
                          <a:sym typeface="Times New Roman"/>
                        </a:rPr>
                        <a:t>What is the student’s GPA?</a:t>
                      </a:r>
                      <a:endParaRPr lang="en-US" sz="1600" dirty="0"/>
                    </a:p>
                  </a:txBody>
                  <a:tcPr marL="91450" marR="91450" marT="45725" marB="45725"/>
                </a:tc>
                <a:extLst>
                  <a:ext uri="{0D108BD9-81ED-4DB2-BD59-A6C34878D82A}">
                    <a16:rowId xmlns:a16="http://schemas.microsoft.com/office/drawing/2014/main" val="10003"/>
                  </a:ext>
                </a:extLst>
              </a:tr>
              <a:tr h="597090">
                <a:tc>
                  <a:txBody>
                    <a:bodyPr/>
                    <a:lstStyle/>
                    <a:p>
                      <a:pPr marL="0" marR="0" lvl="0" indent="0" algn="l" rtl="0">
                        <a:spcBef>
                          <a:spcPts val="0"/>
                        </a:spcBef>
                        <a:spcAft>
                          <a:spcPts val="0"/>
                        </a:spcAft>
                        <a:buNone/>
                      </a:pPr>
                      <a:r>
                        <a:rPr lang="en-US" sz="1600" b="0" dirty="0">
                          <a:latin typeface="Times New Roman"/>
                          <a:ea typeface="Times New Roman"/>
                          <a:cs typeface="Times New Roman"/>
                          <a:sym typeface="Times New Roman"/>
                        </a:rPr>
                        <a:t>RKESSLER6</a:t>
                      </a:r>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Kessler-6 score for mental distress (0-12 negative for mental distress, 13-24 positive)</a:t>
                      </a:r>
                      <a:endParaRPr lang="en-US" sz="1600" dirty="0"/>
                    </a:p>
                  </a:txBody>
                  <a:tcPr marL="91450" marR="91450" marT="45725" marB="45725"/>
                </a:tc>
                <a:extLst>
                  <a:ext uri="{0D108BD9-81ED-4DB2-BD59-A6C34878D82A}">
                    <a16:rowId xmlns:a16="http://schemas.microsoft.com/office/drawing/2014/main" val="10004"/>
                  </a:ext>
                </a:extLst>
              </a:tr>
              <a:tr h="341198">
                <a:tc>
                  <a:txBody>
                    <a:bodyPr/>
                    <a:lstStyle/>
                    <a:p>
                      <a:pPr marL="0" marR="0" lvl="0" indent="0" algn="l" rtl="0">
                        <a:spcBef>
                          <a:spcPts val="0"/>
                        </a:spcBef>
                        <a:spcAft>
                          <a:spcPts val="0"/>
                        </a:spcAft>
                        <a:buNone/>
                      </a:pPr>
                      <a:r>
                        <a:rPr lang="en-US" sz="1600" b="0" dirty="0">
                          <a:latin typeface="Times New Roman"/>
                          <a:ea typeface="Times New Roman"/>
                          <a:cs typeface="Times New Roman"/>
                          <a:sym typeface="Times New Roman"/>
                        </a:rPr>
                        <a:t>RULS3</a:t>
                      </a:r>
                      <a:endParaRPr lang="en-US" sz="1600"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UCLA Loneliness Scale (3-5 negative for loneliness, 6-9 positive) </a:t>
                      </a:r>
                      <a:endParaRPr lang="en-US" sz="1600" dirty="0"/>
                    </a:p>
                  </a:txBody>
                  <a:tcPr marL="91450" marR="91450" marT="45725" marB="45725"/>
                </a:tc>
                <a:extLst>
                  <a:ext uri="{0D108BD9-81ED-4DB2-BD59-A6C34878D82A}">
                    <a16:rowId xmlns:a16="http://schemas.microsoft.com/office/drawing/2014/main" val="10005"/>
                  </a:ext>
                </a:extLst>
              </a:tr>
              <a:tr h="597090">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RSBQR</a:t>
                      </a:r>
                      <a:endParaRPr lang="en-US" sz="1600"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Suicide Behavior Questionnaire-Revised</a:t>
                      </a:r>
                    </a:p>
                    <a:p>
                      <a:pPr marL="0" marR="0" lvl="0" indent="0" algn="l" rtl="0">
                        <a:spcBef>
                          <a:spcPts val="0"/>
                        </a:spcBef>
                        <a:spcAft>
                          <a:spcPts val="0"/>
                        </a:spcAft>
                        <a:buNone/>
                      </a:pPr>
                      <a:r>
                        <a:rPr lang="en-US" sz="1600" dirty="0">
                          <a:latin typeface="Times New Roman"/>
                          <a:ea typeface="Times New Roman"/>
                          <a:cs typeface="Times New Roman"/>
                          <a:sym typeface="Times New Roman"/>
                        </a:rPr>
                        <a:t>Screening Score (3-6 negative for suicidal behavior, 7-18 positive)</a:t>
                      </a:r>
                      <a:endParaRPr lang="en-US" sz="1600" dirty="0"/>
                    </a:p>
                  </a:txBody>
                  <a:tcPr marL="91450" marR="91450" marT="45725" marB="45725"/>
                </a:tc>
                <a:extLst>
                  <a:ext uri="{0D108BD9-81ED-4DB2-BD59-A6C34878D82A}">
                    <a16:rowId xmlns:a16="http://schemas.microsoft.com/office/drawing/2014/main" val="10006"/>
                  </a:ext>
                </a:extLst>
              </a:tr>
              <a:tr h="597090">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DIENER</a:t>
                      </a:r>
                      <a:endParaRPr lang="en-US" sz="1600"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ea typeface="Times New Roman"/>
                          <a:cs typeface="Times New Roman" panose="02020603050405020304" pitchFamily="18" charset="0"/>
                          <a:sym typeface="Times New Roman"/>
                        </a:rPr>
                        <a:t>Diener Flourishing Scale – Psychological Well-Being (PWB) Score (8-56), with higher scores reflecting higher PWB.</a:t>
                      </a:r>
                      <a:endParaRPr lang="en-US"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7"/>
                  </a:ext>
                </a:extLst>
              </a:tr>
              <a:tr h="597090">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CDRISC2</a:t>
                      </a:r>
                      <a:endParaRPr sz="1600"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Kessler-6 score for mental distress (0-12 negative for mental distress, 13-24 positive)</a:t>
                      </a:r>
                      <a:endParaRPr sz="1600" dirty="0"/>
                    </a:p>
                  </a:txBody>
                  <a:tcPr marL="91450" marR="91450" marT="45725" marB="45725"/>
                </a:tc>
                <a:extLst>
                  <a:ext uri="{0D108BD9-81ED-4DB2-BD59-A6C34878D82A}">
                    <a16:rowId xmlns:a16="http://schemas.microsoft.com/office/drawing/2014/main" val="10008"/>
                  </a:ext>
                </a:extLst>
              </a:tr>
              <a:tr h="597090">
                <a:tc>
                  <a:txBody>
                    <a:bodyPr/>
                    <a:lstStyle/>
                    <a:p>
                      <a:pPr marL="0" marR="0" lvl="0" indent="0" algn="l" rtl="0">
                        <a:spcBef>
                          <a:spcPts val="0"/>
                        </a:spcBef>
                        <a:spcAft>
                          <a:spcPts val="0"/>
                        </a:spcAft>
                        <a:buNone/>
                      </a:pPr>
                      <a:r>
                        <a:rPr lang="en-US" sz="1600" b="1" dirty="0">
                          <a:latin typeface="Times New Roman"/>
                          <a:ea typeface="Times New Roman"/>
                          <a:cs typeface="Times New Roman"/>
                          <a:sym typeface="Times New Roman"/>
                        </a:rPr>
                        <a:t>ALCOHOLRISK</a:t>
                      </a:r>
                      <a:endParaRPr sz="1600" b="1" dirty="0"/>
                    </a:p>
                  </a:txBody>
                  <a:tcPr marL="91450" marR="91450" marT="45725" marB="45725"/>
                </a:tc>
                <a:tc>
                  <a:txBody>
                    <a:bodyPr/>
                    <a:lstStyle/>
                    <a:p>
                      <a:pPr marL="0" marR="0" lvl="0" indent="0" algn="l" rtl="0">
                        <a:spcBef>
                          <a:spcPts val="0"/>
                        </a:spcBef>
                        <a:spcAft>
                          <a:spcPts val="0"/>
                        </a:spcAft>
                        <a:buNone/>
                      </a:pPr>
                      <a:r>
                        <a:rPr lang="en-US" sz="1600" b="1" dirty="0">
                          <a:latin typeface="Times New Roman"/>
                          <a:ea typeface="Times New Roman"/>
                          <a:cs typeface="Times New Roman"/>
                          <a:sym typeface="Times New Roman"/>
                        </a:rPr>
                        <a:t>Risk of alcohol misuse-a score of 0-10 indicates low risk, 11-26 indicates moderate risk, and 27-39 indicates high risk</a:t>
                      </a:r>
                      <a:endParaRPr sz="1600" b="1" dirty="0"/>
                    </a:p>
                  </a:txBody>
                  <a:tcPr marL="91450" marR="91450" marT="45725" marB="45725"/>
                </a:tc>
                <a:extLst>
                  <a:ext uri="{0D108BD9-81ED-4DB2-BD59-A6C34878D82A}">
                    <a16:rowId xmlns:a16="http://schemas.microsoft.com/office/drawing/2014/main" val="10009"/>
                  </a:ext>
                </a:extLst>
              </a:tr>
            </a:tbl>
          </a:graphicData>
        </a:graphic>
      </p:graphicFrame>
      <p:pic>
        <p:nvPicPr>
          <p:cNvPr id="200" name="Google Shape;200;p10" descr="A logo with a door and a brick wall&#10;&#10;AI-generated content may be incorrect."/>
          <p:cNvPicPr preferRelativeResize="0"/>
          <p:nvPr/>
        </p:nvPicPr>
        <p:blipFill rotWithShape="1">
          <a:blip r:embed="rId3">
            <a:alphaModFix/>
          </a:blip>
          <a:srcRect/>
          <a:stretch/>
        </p:blipFill>
        <p:spPr>
          <a:xfrm>
            <a:off x="7484978" y="132448"/>
            <a:ext cx="1143000" cy="11342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1"/>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13</a:t>
            </a:fld>
            <a:endParaRPr>
              <a:latin typeface="Times New Roman"/>
              <a:ea typeface="Times New Roman"/>
              <a:cs typeface="Times New Roman"/>
              <a:sym typeface="Times New Roman"/>
            </a:endParaRPr>
          </a:p>
        </p:txBody>
      </p:sp>
      <p:sp>
        <p:nvSpPr>
          <p:cNvPr id="207" name="Google Shape;207;p11"/>
          <p:cNvSpPr txBox="1">
            <a:spLocks noGrp="1"/>
          </p:cNvSpPr>
          <p:nvPr>
            <p:ph type="title"/>
          </p:nvPr>
        </p:nvSpPr>
        <p:spPr>
          <a:xfrm>
            <a:off x="2057400" y="124320"/>
            <a:ext cx="6675550" cy="1305839"/>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2800"/>
          </a:p>
          <a:p>
            <a:pPr marL="0" lvl="0" indent="0" algn="ctr" rtl="0">
              <a:spcBef>
                <a:spcPts val="0"/>
              </a:spcBef>
              <a:spcAft>
                <a:spcPts val="0"/>
              </a:spcAft>
              <a:buClr>
                <a:srgbClr val="FFC700"/>
              </a:buClr>
              <a:buSzPts val="3600"/>
              <a:buFont typeface="Times New Roman"/>
              <a:buNone/>
            </a:pPr>
            <a:r>
              <a:rPr lang="en-US" sz="2800"/>
              <a:t>(Data Cleaning &amp; Preprocessing)</a:t>
            </a:r>
            <a:endParaRPr sz="2800"/>
          </a:p>
        </p:txBody>
      </p:sp>
      <p:sp>
        <p:nvSpPr>
          <p:cNvPr id="208" name="Google Shape;208;p11"/>
          <p:cNvSpPr txBox="1"/>
          <p:nvPr/>
        </p:nvSpPr>
        <p:spPr>
          <a:xfrm>
            <a:off x="364898" y="2133600"/>
            <a:ext cx="8398101" cy="3581400"/>
          </a:xfrm>
          <a:prstGeom prst="rect">
            <a:avLst/>
          </a:prstGeom>
          <a:noFill/>
          <a:ln>
            <a:noFill/>
          </a:ln>
        </p:spPr>
        <p:txBody>
          <a:bodyPr spcFirstLastPara="1" wrap="square" lIns="54850" tIns="91425" rIns="91425" bIns="45700" anchor="t" anchorCtr="0">
            <a:normAutofit/>
          </a:bodyPr>
          <a:lstStyle/>
          <a:p>
            <a:pPr marL="118871" marR="0" lvl="0" indent="0" algn="l" rtl="0">
              <a:lnSpc>
                <a:spcPct val="150000"/>
              </a:lnSpc>
              <a:spcBef>
                <a:spcPts val="0"/>
              </a:spcBef>
              <a:spcAft>
                <a:spcPts val="0"/>
              </a:spcAft>
              <a:buClr>
                <a:schemeClr val="accent1"/>
              </a:buClr>
              <a:buSzPts val="2240"/>
              <a:buFont typeface="Noto Sans Symbols"/>
              <a:buNone/>
            </a:pPr>
            <a:endParaRPr sz="2800" b="0" i="0" u="none" strike="noStrike" cap="none">
              <a:solidFill>
                <a:schemeClr val="dk1"/>
              </a:solidFill>
              <a:latin typeface="Arial"/>
              <a:ea typeface="Arial"/>
              <a:cs typeface="Arial"/>
              <a:sym typeface="Arial"/>
            </a:endParaRPr>
          </a:p>
        </p:txBody>
      </p:sp>
      <p:sp>
        <p:nvSpPr>
          <p:cNvPr id="209" name="Google Shape;209;p11"/>
          <p:cNvSpPr txBox="1">
            <a:spLocks noGrp="1"/>
          </p:cNvSpPr>
          <p:nvPr>
            <p:ph type="body" idx="1"/>
          </p:nvPr>
        </p:nvSpPr>
        <p:spPr>
          <a:xfrm>
            <a:off x="457200" y="1735700"/>
            <a:ext cx="8229600" cy="2988700"/>
          </a:xfrm>
          <a:prstGeom prst="rect">
            <a:avLst/>
          </a:prstGeom>
          <a:noFill/>
          <a:ln>
            <a:noFill/>
          </a:ln>
        </p:spPr>
        <p:txBody>
          <a:bodyPr spcFirstLastPara="1" wrap="square" lIns="54850" tIns="91425" rIns="91425" bIns="45700" anchor="t" anchorCtr="0">
            <a:noAutofit/>
          </a:bodyPr>
          <a:lstStyle/>
          <a:p>
            <a:pPr marL="438912" lvl="0" indent="-320040" algn="l" rtl="0">
              <a:lnSpc>
                <a:spcPct val="105000"/>
              </a:lnSpc>
              <a:spcBef>
                <a:spcPts val="0"/>
              </a:spcBef>
              <a:spcAft>
                <a:spcPts val="0"/>
              </a:spcAft>
              <a:buSzPts val="1920"/>
              <a:buChar char="◼"/>
            </a:pPr>
            <a:r>
              <a:rPr lang="en-US" sz="2400" dirty="0">
                <a:latin typeface="Times New Roman"/>
                <a:ea typeface="Times New Roman"/>
                <a:cs typeface="Times New Roman"/>
                <a:sym typeface="Times New Roman"/>
              </a:rPr>
              <a:t>Several rounds of data cleaning were performed</a:t>
            </a:r>
            <a:endParaRPr dirty="0"/>
          </a:p>
          <a:p>
            <a:pPr marL="438912" lvl="0" indent="-320040" algn="l" rtl="0">
              <a:lnSpc>
                <a:spcPct val="105000"/>
              </a:lnSpc>
              <a:spcBef>
                <a:spcPts val="1200"/>
              </a:spcBef>
              <a:spcAft>
                <a:spcPts val="0"/>
              </a:spcAft>
              <a:buSzPts val="1920"/>
              <a:buChar char="◼"/>
            </a:pPr>
            <a:r>
              <a:rPr lang="en-US" sz="2400" dirty="0">
                <a:latin typeface="Times New Roman"/>
                <a:ea typeface="Times New Roman"/>
                <a:cs typeface="Times New Roman"/>
                <a:sym typeface="Times New Roman"/>
              </a:rPr>
              <a:t>These rounds of cleaning included...</a:t>
            </a:r>
            <a:endParaRPr dirty="0"/>
          </a:p>
          <a:p>
            <a:pPr marL="731520" lvl="1" indent="-274319" algn="l" rtl="0">
              <a:lnSpc>
                <a:spcPct val="105000"/>
              </a:lnSpc>
              <a:spcBef>
                <a:spcPts val="1200"/>
              </a:spcBef>
              <a:spcAft>
                <a:spcPts val="0"/>
              </a:spcAft>
              <a:buSzPts val="1800"/>
              <a:buChar char="▪"/>
            </a:pPr>
            <a:r>
              <a:rPr lang="en-US" sz="2000" dirty="0">
                <a:latin typeface="Times New Roman"/>
                <a:ea typeface="Times New Roman"/>
                <a:cs typeface="Times New Roman"/>
                <a:sym typeface="Times New Roman"/>
              </a:rPr>
              <a:t>Removal of irrelevant variables</a:t>
            </a:r>
            <a:endParaRPr dirty="0"/>
          </a:p>
          <a:p>
            <a:pPr marL="731520" lvl="1" indent="-274319" algn="l" rtl="0">
              <a:lnSpc>
                <a:spcPct val="105000"/>
              </a:lnSpc>
              <a:spcBef>
                <a:spcPts val="1200"/>
              </a:spcBef>
              <a:spcAft>
                <a:spcPts val="0"/>
              </a:spcAft>
              <a:buSzPts val="1800"/>
              <a:buChar char="▪"/>
            </a:pPr>
            <a:r>
              <a:rPr lang="en-US" sz="2000" dirty="0">
                <a:latin typeface="Times New Roman"/>
                <a:ea typeface="Times New Roman"/>
                <a:cs typeface="Times New Roman"/>
                <a:sym typeface="Times New Roman"/>
              </a:rPr>
              <a:t>Removal of duplicate rows</a:t>
            </a:r>
            <a:endParaRPr dirty="0"/>
          </a:p>
          <a:p>
            <a:pPr marL="731520" lvl="1" indent="-274319" algn="l" rtl="0">
              <a:lnSpc>
                <a:spcPct val="105000"/>
              </a:lnSpc>
              <a:spcBef>
                <a:spcPts val="1200"/>
              </a:spcBef>
              <a:spcAft>
                <a:spcPts val="0"/>
              </a:spcAft>
              <a:buSzPts val="1800"/>
              <a:buChar char="▪"/>
            </a:pPr>
            <a:r>
              <a:rPr lang="en-US" sz="2000" dirty="0">
                <a:latin typeface="Times New Roman"/>
                <a:ea typeface="Times New Roman"/>
                <a:cs typeface="Times New Roman"/>
                <a:sym typeface="Times New Roman"/>
              </a:rPr>
              <a:t>Recoding of categorial answers into numerical answers (for analysis)</a:t>
            </a:r>
            <a:endParaRPr dirty="0"/>
          </a:p>
          <a:p>
            <a:pPr marL="457200" lvl="1" indent="0" algn="l" rtl="0">
              <a:lnSpc>
                <a:spcPct val="160000"/>
              </a:lnSpc>
              <a:spcBef>
                <a:spcPts val="1200"/>
              </a:spcBef>
              <a:spcAft>
                <a:spcPts val="0"/>
              </a:spcAft>
              <a:buSzPts val="1800"/>
              <a:buNone/>
            </a:pPr>
            <a:endParaRPr sz="2000" dirty="0">
              <a:latin typeface="Times New Roman"/>
              <a:ea typeface="Times New Roman"/>
              <a:cs typeface="Times New Roman"/>
              <a:sym typeface="Times New Roman"/>
            </a:endParaRPr>
          </a:p>
          <a:p>
            <a:pPr marL="457200" lvl="1" indent="0" algn="l" rtl="0">
              <a:lnSpc>
                <a:spcPct val="160000"/>
              </a:lnSpc>
              <a:spcBef>
                <a:spcPts val="400"/>
              </a:spcBef>
              <a:spcAft>
                <a:spcPts val="0"/>
              </a:spcAft>
              <a:buSzPts val="1800"/>
              <a:buNone/>
            </a:pPr>
            <a:endParaRPr sz="2000" dirty="0">
              <a:latin typeface="Times New Roman"/>
              <a:ea typeface="Times New Roman"/>
              <a:cs typeface="Times New Roman"/>
              <a:sym typeface="Times New Roman"/>
            </a:endParaRPr>
          </a:p>
        </p:txBody>
      </p:sp>
      <p:sp>
        <p:nvSpPr>
          <p:cNvPr id="210" name="Google Shape;210;p11"/>
          <p:cNvSpPr txBox="1"/>
          <p:nvPr/>
        </p:nvSpPr>
        <p:spPr>
          <a:xfrm>
            <a:off x="449148" y="4386693"/>
            <a:ext cx="8229600" cy="1845600"/>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400" b="0" i="0" u="none" strike="noStrike" cap="none" dirty="0">
                <a:solidFill>
                  <a:schemeClr val="dk1"/>
                </a:solidFill>
                <a:latin typeface="Times New Roman"/>
                <a:ea typeface="Times New Roman"/>
                <a:cs typeface="Times New Roman"/>
                <a:sym typeface="Times New Roman"/>
              </a:rPr>
              <a:t>The </a:t>
            </a:r>
            <a:r>
              <a:rPr lang="en-US" sz="2400" dirty="0">
                <a:solidFill>
                  <a:schemeClr val="dk1"/>
                </a:solidFill>
                <a:latin typeface="Times New Roman"/>
                <a:ea typeface="Times New Roman"/>
                <a:cs typeface="Times New Roman"/>
                <a:sym typeface="Times New Roman"/>
              </a:rPr>
              <a:t>next few </a:t>
            </a:r>
            <a:r>
              <a:rPr lang="en-US" sz="2400" b="0" i="0" u="none" strike="noStrike" cap="none" dirty="0">
                <a:solidFill>
                  <a:schemeClr val="dk1"/>
                </a:solidFill>
                <a:latin typeface="Times New Roman"/>
                <a:ea typeface="Times New Roman"/>
                <a:cs typeface="Times New Roman"/>
                <a:sym typeface="Times New Roman"/>
              </a:rPr>
              <a:t>slides will display relevant demographic information</a:t>
            </a:r>
            <a:endParaRPr dirty="0"/>
          </a:p>
        </p:txBody>
      </p:sp>
      <p:pic>
        <p:nvPicPr>
          <p:cNvPr id="211" name="Google Shape;211;p11" descr="A logo with a door and a brick wall&#10;&#10;AI-generated content may be incorrect."/>
          <p:cNvPicPr preferRelativeResize="0"/>
          <p:nvPr/>
        </p:nvPicPr>
        <p:blipFill rotWithShape="1">
          <a:blip r:embed="rId3">
            <a:alphaModFix/>
          </a:blip>
          <a:srcRect/>
          <a:stretch/>
        </p:blipFill>
        <p:spPr>
          <a:xfrm>
            <a:off x="266700" y="150876"/>
            <a:ext cx="1143000" cy="11342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14</a:t>
            </a:fld>
            <a:endParaRPr>
              <a:latin typeface="Times New Roman"/>
              <a:ea typeface="Times New Roman"/>
              <a:cs typeface="Times New Roman"/>
              <a:sym typeface="Times New Roman"/>
            </a:endParaRPr>
          </a:p>
        </p:txBody>
      </p:sp>
      <p:sp>
        <p:nvSpPr>
          <p:cNvPr id="218" name="Google Shape;218;p12"/>
          <p:cNvSpPr txBox="1">
            <a:spLocks noGrp="1"/>
          </p:cNvSpPr>
          <p:nvPr>
            <p:ph type="body" idx="1"/>
          </p:nvPr>
        </p:nvSpPr>
        <p:spPr>
          <a:xfrm>
            <a:off x="457200" y="1735700"/>
            <a:ext cx="8305800" cy="4284100"/>
          </a:xfrm>
          <a:prstGeom prst="rect">
            <a:avLst/>
          </a:prstGeom>
          <a:noFill/>
          <a:ln>
            <a:noFill/>
          </a:ln>
        </p:spPr>
        <p:txBody>
          <a:bodyPr spcFirstLastPara="1" wrap="square" lIns="54850" tIns="91425" rIns="91425" bIns="45700" anchor="t" anchorCtr="0">
            <a:normAutofit/>
          </a:bodyPr>
          <a:lstStyle/>
          <a:p>
            <a:pPr marL="118871" lvl="0" indent="0" algn="l" rtl="0">
              <a:lnSpc>
                <a:spcPct val="160000"/>
              </a:lnSpc>
              <a:spcBef>
                <a:spcPts val="0"/>
              </a:spcBef>
              <a:spcAft>
                <a:spcPts val="0"/>
              </a:spcAft>
              <a:buSzPts val="1920"/>
              <a:buNone/>
            </a:pPr>
            <a:endParaRPr sz="2400">
              <a:latin typeface="Times New Roman"/>
              <a:ea typeface="Times New Roman"/>
              <a:cs typeface="Times New Roman"/>
              <a:sym typeface="Times New Roman"/>
            </a:endParaRPr>
          </a:p>
          <a:p>
            <a:pPr marL="438912" lvl="0" indent="-198120" algn="l" rtl="0">
              <a:lnSpc>
                <a:spcPct val="160000"/>
              </a:lnSpc>
              <a:spcBef>
                <a:spcPts val="0"/>
              </a:spcBef>
              <a:spcAft>
                <a:spcPts val="0"/>
              </a:spcAft>
              <a:buSzPts val="1920"/>
              <a:buNone/>
            </a:pPr>
            <a:endParaRPr sz="2400"/>
          </a:p>
        </p:txBody>
      </p:sp>
      <p:sp>
        <p:nvSpPr>
          <p:cNvPr id="219" name="Google Shape;219;p12"/>
          <p:cNvSpPr txBox="1">
            <a:spLocks noGrp="1"/>
          </p:cNvSpPr>
          <p:nvPr>
            <p:ph type="title"/>
          </p:nvPr>
        </p:nvSpPr>
        <p:spPr>
          <a:xfrm>
            <a:off x="457200" y="150813"/>
            <a:ext cx="6781800" cy="1252537"/>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 </a:t>
            </a:r>
            <a:endParaRPr sz="3600"/>
          </a:p>
          <a:p>
            <a:pPr marL="0" lvl="0" indent="0" algn="ctr" rtl="0">
              <a:spcBef>
                <a:spcPts val="0"/>
              </a:spcBef>
              <a:spcAft>
                <a:spcPts val="0"/>
              </a:spcAft>
              <a:buClr>
                <a:srgbClr val="FFC700"/>
              </a:buClr>
              <a:buSzPts val="3600"/>
              <a:buFont typeface="Times New Roman"/>
              <a:buNone/>
            </a:pPr>
            <a:r>
              <a:rPr lang="en-US" sz="2800"/>
              <a:t>(Key Demographics)</a:t>
            </a:r>
            <a:endParaRPr sz="2800"/>
          </a:p>
        </p:txBody>
      </p:sp>
      <p:graphicFrame>
        <p:nvGraphicFramePr>
          <p:cNvPr id="220" name="Google Shape;220;p12"/>
          <p:cNvGraphicFramePr/>
          <p:nvPr>
            <p:extLst>
              <p:ext uri="{D42A27DB-BD31-4B8C-83A1-F6EECF244321}">
                <p14:modId xmlns:p14="http://schemas.microsoft.com/office/powerpoint/2010/main" val="787899417"/>
              </p:ext>
            </p:extLst>
          </p:nvPr>
        </p:nvGraphicFramePr>
        <p:xfrm>
          <a:off x="457200" y="1752600"/>
          <a:ext cx="8229600" cy="1112550"/>
        </p:xfrm>
        <a:graphic>
          <a:graphicData uri="http://schemas.openxmlformats.org/drawingml/2006/table">
            <a:tbl>
              <a:tblPr firstRow="1" bandRow="1">
                <a:noFill/>
                <a:tableStyleId>{E148F040-0A8B-4E72-A747-29BAFFFC2B0B}</a:tableStyleId>
              </a:tblPr>
              <a:tblGrid>
                <a:gridCol w="14478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dirty="0">
                          <a:solidFill>
                            <a:schemeClr val="tx1"/>
                          </a:solidFill>
                          <a:latin typeface="Times New Roman"/>
                          <a:ea typeface="Times New Roman"/>
                          <a:cs typeface="Times New Roman"/>
                          <a:sym typeface="Times New Roman"/>
                        </a:rPr>
                        <a:t>Sex</a:t>
                      </a:r>
                      <a:endParaRPr dirty="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a:ea typeface="Times New Roman"/>
                          <a:cs typeface="Times New Roman"/>
                          <a:sym typeface="Times New Roman"/>
                        </a:rPr>
                        <a:t>Representation</a:t>
                      </a:r>
                      <a:endParaRPr dirty="0">
                        <a:solidFill>
                          <a:schemeClr val="tx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Female</a:t>
                      </a:r>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72,586 (70.9%)</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Male</a:t>
                      </a:r>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a:ea typeface="Times New Roman"/>
                          <a:cs typeface="Times New Roman"/>
                          <a:sym typeface="Times New Roman"/>
                        </a:rPr>
                        <a:t>29,775 (29.1%)</a:t>
                      </a:r>
                      <a:endParaRPr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221" name="Google Shape;221;p12"/>
          <p:cNvGraphicFramePr/>
          <p:nvPr/>
        </p:nvGraphicFramePr>
        <p:xfrm>
          <a:off x="457200" y="2973790"/>
          <a:ext cx="8229600" cy="370850"/>
        </p:xfrm>
        <a:graphic>
          <a:graphicData uri="http://schemas.openxmlformats.org/drawingml/2006/table">
            <a:tbl>
              <a:tblPr firstRow="1" bandRow="1">
                <a:noFill/>
                <a:tableStyleId>{E148F040-0A8B-4E72-A747-29BAFFFC2B0B}</a:tableStyleId>
              </a:tblPr>
              <a:tblGrid>
                <a:gridCol w="14478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b="0" dirty="0">
                          <a:solidFill>
                            <a:schemeClr val="dk1"/>
                          </a:solidFill>
                          <a:latin typeface="Times New Roman"/>
                          <a:ea typeface="Times New Roman"/>
                          <a:cs typeface="Times New Roman"/>
                          <a:sym typeface="Times New Roman"/>
                        </a:rPr>
                        <a:t>Average Age</a:t>
                      </a:r>
                      <a:endParaRPr dirty="0"/>
                    </a:p>
                  </a:txBody>
                  <a:tcPr marL="91450" marR="91450" marT="45725" marB="45725">
                    <a:solidFill>
                      <a:srgbClr val="FAE6DB"/>
                    </a:solidFill>
                  </a:tcPr>
                </a:tc>
                <a:tc>
                  <a:txBody>
                    <a:bodyPr/>
                    <a:lstStyle/>
                    <a:p>
                      <a:pPr marL="0" marR="0" lvl="0" indent="0" algn="l" rtl="0">
                        <a:spcBef>
                          <a:spcPts val="0"/>
                        </a:spcBef>
                        <a:spcAft>
                          <a:spcPts val="0"/>
                        </a:spcAft>
                        <a:buNone/>
                      </a:pPr>
                      <a:r>
                        <a:rPr lang="en-US" sz="1800" b="0" dirty="0">
                          <a:solidFill>
                            <a:schemeClr val="dk1"/>
                          </a:solidFill>
                          <a:latin typeface="Times New Roman"/>
                          <a:ea typeface="Times New Roman"/>
                          <a:cs typeface="Times New Roman"/>
                          <a:sym typeface="Times New Roman"/>
                        </a:rPr>
                        <a:t>23.4</a:t>
                      </a:r>
                      <a:endParaRPr dirty="0"/>
                    </a:p>
                  </a:txBody>
                  <a:tcPr marL="91450" marR="91450" marT="45725" marB="45725">
                    <a:solidFill>
                      <a:srgbClr val="FAE6DB"/>
                    </a:solidFill>
                  </a:tcPr>
                </a:tc>
                <a:extLst>
                  <a:ext uri="{0D108BD9-81ED-4DB2-BD59-A6C34878D82A}">
                    <a16:rowId xmlns:a16="http://schemas.microsoft.com/office/drawing/2014/main" val="10000"/>
                  </a:ext>
                </a:extLst>
              </a:tr>
            </a:tbl>
          </a:graphicData>
        </a:graphic>
      </p:graphicFrame>
      <p:graphicFrame>
        <p:nvGraphicFramePr>
          <p:cNvPr id="222" name="Google Shape;222;p12"/>
          <p:cNvGraphicFramePr/>
          <p:nvPr>
            <p:extLst>
              <p:ext uri="{D42A27DB-BD31-4B8C-83A1-F6EECF244321}">
                <p14:modId xmlns:p14="http://schemas.microsoft.com/office/powerpoint/2010/main" val="3044031804"/>
              </p:ext>
            </p:extLst>
          </p:nvPr>
        </p:nvGraphicFramePr>
        <p:xfrm>
          <a:off x="446903" y="3462900"/>
          <a:ext cx="8229600" cy="2966800"/>
        </p:xfrm>
        <a:graphic>
          <a:graphicData uri="http://schemas.openxmlformats.org/drawingml/2006/table">
            <a:tbl>
              <a:tblPr firstRow="1" bandRow="1">
                <a:noFill/>
                <a:tableStyleId>{E148F040-0A8B-4E72-A747-29BAFFFC2B0B}</a:tableStyleId>
              </a:tblPr>
              <a:tblGrid>
                <a:gridCol w="2677300">
                  <a:extLst>
                    <a:ext uri="{9D8B030D-6E8A-4147-A177-3AD203B41FA5}">
                      <a16:colId xmlns:a16="http://schemas.microsoft.com/office/drawing/2014/main" val="20000"/>
                    </a:ext>
                  </a:extLst>
                </a:gridCol>
                <a:gridCol w="55523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solidFill>
                            <a:schemeClr val="tx1"/>
                          </a:solidFill>
                          <a:latin typeface="Times New Roman"/>
                          <a:ea typeface="Times New Roman"/>
                          <a:cs typeface="Times New Roman"/>
                          <a:sym typeface="Times New Roman"/>
                        </a:rPr>
                        <a:t>Year in School</a:t>
                      </a:r>
                      <a:endParaRPr>
                        <a:solidFill>
                          <a:schemeClr val="tx1"/>
                        </a:solidFill>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a:ea typeface="Times New Roman"/>
                          <a:cs typeface="Times New Roman"/>
                          <a:sym typeface="Times New Roman"/>
                        </a:rPr>
                        <a:t>Representation</a:t>
                      </a:r>
                      <a:endParaRPr dirty="0">
                        <a:solidFill>
                          <a:schemeClr val="tx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Freshman</a:t>
                      </a:r>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20,832 (20.7%)</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Sophomore</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17,239 (17.1%)</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Junior</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20,600 (20.5%)</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Senior</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15,796 (15.7%)</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5</a:t>
                      </a:r>
                      <a:r>
                        <a:rPr lang="en-US" sz="1800" b="0" baseline="30000">
                          <a:latin typeface="Times New Roman"/>
                          <a:ea typeface="Times New Roman"/>
                          <a:cs typeface="Times New Roman"/>
                          <a:sym typeface="Times New Roman"/>
                        </a:rPr>
                        <a:t>th</a:t>
                      </a:r>
                      <a:r>
                        <a:rPr lang="en-US" sz="1800" b="0">
                          <a:latin typeface="Times New Roman"/>
                          <a:ea typeface="Times New Roman"/>
                          <a:cs typeface="Times New Roman"/>
                          <a:sym typeface="Times New Roman"/>
                        </a:rPr>
                        <a:t>+ Year Undergraduate</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4,779 (4.7%)</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Master’s Student</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13,646 (13.6%)</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b="0" dirty="0">
                          <a:latin typeface="Times New Roman"/>
                          <a:ea typeface="Times New Roman"/>
                          <a:cs typeface="Times New Roman"/>
                          <a:sym typeface="Times New Roman"/>
                        </a:rPr>
                        <a:t>Doctorate Student</a:t>
                      </a:r>
                      <a:endParaRPr dirty="0"/>
                    </a:p>
                  </a:txBody>
                  <a:tcPr marL="91450" marR="91450" marT="45725" marB="45725"/>
                </a:tc>
                <a:tc>
                  <a:txBody>
                    <a:bodyPr/>
                    <a:lstStyle/>
                    <a:p>
                      <a:pPr marL="0" marR="0" lvl="0" indent="0" algn="l" rtl="0">
                        <a:spcBef>
                          <a:spcPts val="0"/>
                        </a:spcBef>
                        <a:spcAft>
                          <a:spcPts val="0"/>
                        </a:spcAft>
                        <a:buNone/>
                      </a:pPr>
                      <a:r>
                        <a:rPr lang="en-US" sz="1800" b="0" dirty="0">
                          <a:latin typeface="Times New Roman"/>
                          <a:ea typeface="Times New Roman"/>
                          <a:cs typeface="Times New Roman"/>
                          <a:sym typeface="Times New Roman"/>
                        </a:rPr>
                        <a:t>8,198 (8.1%)</a:t>
                      </a:r>
                      <a:endParaRPr dirty="0"/>
                    </a:p>
                  </a:txBody>
                  <a:tcPr marL="91450" marR="91450" marT="45725" marB="45725"/>
                </a:tc>
                <a:extLst>
                  <a:ext uri="{0D108BD9-81ED-4DB2-BD59-A6C34878D82A}">
                    <a16:rowId xmlns:a16="http://schemas.microsoft.com/office/drawing/2014/main" val="10007"/>
                  </a:ext>
                </a:extLst>
              </a:tr>
            </a:tbl>
          </a:graphicData>
        </a:graphic>
      </p:graphicFrame>
      <p:pic>
        <p:nvPicPr>
          <p:cNvPr id="223" name="Google Shape;223;p12" descr="A logo with a door and a brick wall&#10;&#10;AI-generated content may be incorrect."/>
          <p:cNvPicPr preferRelativeResize="0"/>
          <p:nvPr/>
        </p:nvPicPr>
        <p:blipFill rotWithShape="1">
          <a:blip r:embed="rId3">
            <a:alphaModFix/>
          </a:blip>
          <a:srcRect/>
          <a:stretch/>
        </p:blipFill>
        <p:spPr>
          <a:xfrm>
            <a:off x="7428328" y="155448"/>
            <a:ext cx="1143000" cy="11342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15</a:t>
            </a:fld>
            <a:endParaRPr>
              <a:latin typeface="Times New Roman"/>
              <a:ea typeface="Times New Roman"/>
              <a:cs typeface="Times New Roman"/>
              <a:sym typeface="Times New Roman"/>
            </a:endParaRPr>
          </a:p>
        </p:txBody>
      </p:sp>
      <p:sp>
        <p:nvSpPr>
          <p:cNvPr id="239" name="Google Shape;239;p13"/>
          <p:cNvSpPr txBox="1">
            <a:spLocks noGrp="1"/>
          </p:cNvSpPr>
          <p:nvPr>
            <p:ph type="title"/>
          </p:nvPr>
        </p:nvSpPr>
        <p:spPr>
          <a:xfrm>
            <a:off x="1828799" y="139148"/>
            <a:ext cx="6549291" cy="1217212"/>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3600"/>
          </a:p>
          <a:p>
            <a:pPr marL="0" lvl="0" indent="0" algn="ctr" rtl="0">
              <a:spcBef>
                <a:spcPts val="0"/>
              </a:spcBef>
              <a:spcAft>
                <a:spcPts val="0"/>
              </a:spcAft>
              <a:buClr>
                <a:srgbClr val="FFC700"/>
              </a:buClr>
              <a:buSzPts val="3600"/>
              <a:buFont typeface="Times New Roman"/>
              <a:buNone/>
            </a:pPr>
            <a:r>
              <a:rPr lang="en-US" sz="2800"/>
              <a:t>(Key Demographics Cont’d)</a:t>
            </a:r>
            <a:endParaRPr sz="2800"/>
          </a:p>
        </p:txBody>
      </p:sp>
      <p:graphicFrame>
        <p:nvGraphicFramePr>
          <p:cNvPr id="240" name="Google Shape;240;p13"/>
          <p:cNvGraphicFramePr/>
          <p:nvPr>
            <p:extLst>
              <p:ext uri="{D42A27DB-BD31-4B8C-83A1-F6EECF244321}">
                <p14:modId xmlns:p14="http://schemas.microsoft.com/office/powerpoint/2010/main" val="3158766354"/>
              </p:ext>
            </p:extLst>
          </p:nvPr>
        </p:nvGraphicFramePr>
        <p:xfrm>
          <a:off x="315937" y="1653116"/>
          <a:ext cx="8229600" cy="3139510"/>
        </p:xfrm>
        <a:graphic>
          <a:graphicData uri="http://schemas.openxmlformats.org/drawingml/2006/table">
            <a:tbl>
              <a:tblPr firstRow="1" bandRow="1">
                <a:noFill/>
                <a:tableStyleId>{E148F040-0A8B-4E72-A747-29BAFFFC2B0B}</a:tableStyleId>
              </a:tblPr>
              <a:tblGrid>
                <a:gridCol w="3849275">
                  <a:extLst>
                    <a:ext uri="{9D8B030D-6E8A-4147-A177-3AD203B41FA5}">
                      <a16:colId xmlns:a16="http://schemas.microsoft.com/office/drawing/2014/main" val="20000"/>
                    </a:ext>
                  </a:extLst>
                </a:gridCol>
                <a:gridCol w="43803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solidFill>
                            <a:schemeClr val="tx1"/>
                          </a:solidFill>
                          <a:latin typeface="Times New Roman"/>
                          <a:ea typeface="Times New Roman"/>
                          <a:cs typeface="Times New Roman"/>
                          <a:sym typeface="Times New Roman"/>
                        </a:rPr>
                        <a:t>Race/Ethnicity</a:t>
                      </a:r>
                      <a:endParaRPr>
                        <a:solidFill>
                          <a:schemeClr val="tx1"/>
                        </a:solidFill>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a:ea typeface="Times New Roman"/>
                          <a:cs typeface="Times New Roman"/>
                          <a:sym typeface="Times New Roman"/>
                        </a:rPr>
                        <a:t>Representation</a:t>
                      </a:r>
                      <a:endParaRPr dirty="0">
                        <a:solidFill>
                          <a:schemeClr val="tx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White</a:t>
                      </a:r>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62,857 (60.6%)</a:t>
                      </a:r>
                      <a:endParaRPr dirty="0"/>
                    </a:p>
                  </a:txBody>
                  <a:tcPr marL="91450" marR="91450" marT="45725" marB="45725"/>
                </a:tc>
                <a:extLst>
                  <a:ext uri="{0D108BD9-81ED-4DB2-BD59-A6C34878D82A}">
                    <a16:rowId xmlns:a16="http://schemas.microsoft.com/office/drawing/2014/main" val="10001"/>
                  </a:ext>
                </a:extLst>
              </a:tr>
              <a:tr h="370850">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Hispanic/Latina/Latino</a:t>
                      </a:r>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19,120 (18.4%)</a:t>
                      </a:r>
                      <a:endParaRPr/>
                    </a:p>
                  </a:txBody>
                  <a:tcPr marL="91450" marR="91450" marT="45725" marB="45725"/>
                </a:tc>
                <a:extLst>
                  <a:ext uri="{0D108BD9-81ED-4DB2-BD59-A6C34878D82A}">
                    <a16:rowId xmlns:a16="http://schemas.microsoft.com/office/drawing/2014/main" val="10002"/>
                  </a:ext>
                </a:extLst>
              </a:tr>
              <a:tr h="370850">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Asian/Asian American</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17,425 (16.8%)</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370850">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Black/African American</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6,920 (6.7%)</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Biracial/Multiracial</a:t>
                      </a:r>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800">
                          <a:latin typeface="Times New Roman"/>
                          <a:ea typeface="Times New Roman"/>
                          <a:cs typeface="Times New Roman"/>
                          <a:sym typeface="Times New Roman"/>
                        </a:rPr>
                        <a:t>5,183 (5%)</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Other (includes Pacific Islander, Middle-Eastern, etc)</a:t>
                      </a:r>
                      <a:endParaRPr sz="1800">
                        <a:latin typeface="Times New Roman"/>
                        <a:ea typeface="Times New Roman"/>
                        <a:cs typeface="Times New Roman"/>
                        <a:sym typeface="Times New Roman"/>
                      </a:endParaRPr>
                    </a:p>
                    <a:p>
                      <a:pPr marL="0" marR="0" lvl="0" indent="0" algn="l" rtl="0">
                        <a:spcBef>
                          <a:spcPts val="0"/>
                        </a:spcBef>
                        <a:spcAft>
                          <a:spcPts val="0"/>
                        </a:spcAft>
                        <a:buNone/>
                      </a:pP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4,954 (4.8%)</a:t>
                      </a:r>
                      <a:endParaRPr sz="1800" b="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241" name="Google Shape;241;p13"/>
          <p:cNvGraphicFramePr/>
          <p:nvPr>
            <p:extLst>
              <p:ext uri="{D42A27DB-BD31-4B8C-83A1-F6EECF244321}">
                <p14:modId xmlns:p14="http://schemas.microsoft.com/office/powerpoint/2010/main" val="407851207"/>
              </p:ext>
            </p:extLst>
          </p:nvPr>
        </p:nvGraphicFramePr>
        <p:xfrm>
          <a:off x="315937" y="4605214"/>
          <a:ext cx="8229600" cy="1854250"/>
        </p:xfrm>
        <a:graphic>
          <a:graphicData uri="http://schemas.openxmlformats.org/drawingml/2006/table">
            <a:tbl>
              <a:tblPr firstRow="1" bandRow="1">
                <a:noFill/>
                <a:tableStyleId>{E148F040-0A8B-4E72-A747-29BAFFFC2B0B}</a:tableStyleId>
              </a:tblPr>
              <a:tblGrid>
                <a:gridCol w="2312375">
                  <a:extLst>
                    <a:ext uri="{9D8B030D-6E8A-4147-A177-3AD203B41FA5}">
                      <a16:colId xmlns:a16="http://schemas.microsoft.com/office/drawing/2014/main" val="20000"/>
                    </a:ext>
                  </a:extLst>
                </a:gridCol>
                <a:gridCol w="59172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solidFill>
                            <a:schemeClr val="tx1"/>
                          </a:solidFill>
                          <a:latin typeface="Times New Roman"/>
                          <a:ea typeface="Times New Roman"/>
                          <a:cs typeface="Times New Roman"/>
                          <a:sym typeface="Times New Roman"/>
                        </a:rPr>
                        <a:t>Approximate GPA</a:t>
                      </a:r>
                      <a:endParaRPr>
                        <a:solidFill>
                          <a:schemeClr val="tx1"/>
                        </a:solidFill>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a:ea typeface="Times New Roman"/>
                          <a:cs typeface="Times New Roman"/>
                          <a:sym typeface="Times New Roman"/>
                        </a:rPr>
                        <a:t>Representation</a:t>
                      </a:r>
                      <a:endParaRPr dirty="0">
                        <a:solidFill>
                          <a:schemeClr val="tx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A</a:t>
                      </a:r>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63,718 (63.7%)</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B</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29,899 (29.9%)</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C</a:t>
                      </a:r>
                      <a:endParaRPr/>
                    </a:p>
                  </a:txBody>
                  <a:tcPr marL="91450" marR="91450" marT="45725" marB="45725"/>
                </a:tc>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5,841 (5.8%)</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0">
                          <a:latin typeface="Times New Roman"/>
                          <a:ea typeface="Times New Roman"/>
                          <a:cs typeface="Times New Roman"/>
                          <a:sym typeface="Times New Roman"/>
                        </a:rPr>
                        <a:t>D/F</a:t>
                      </a:r>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a:ea typeface="Times New Roman"/>
                          <a:cs typeface="Times New Roman"/>
                          <a:sym typeface="Times New Roman"/>
                        </a:rPr>
                        <a:t>551 (0.6%)</a:t>
                      </a:r>
                      <a:endParaRPr dirty="0"/>
                    </a:p>
                  </a:txBody>
                  <a:tcPr marL="91450" marR="91450" marT="45725" marB="45725"/>
                </a:tc>
                <a:extLst>
                  <a:ext uri="{0D108BD9-81ED-4DB2-BD59-A6C34878D82A}">
                    <a16:rowId xmlns:a16="http://schemas.microsoft.com/office/drawing/2014/main" val="10004"/>
                  </a:ext>
                </a:extLst>
              </a:tr>
            </a:tbl>
          </a:graphicData>
        </a:graphic>
      </p:graphicFrame>
      <p:pic>
        <p:nvPicPr>
          <p:cNvPr id="242" name="Google Shape;242;p13" descr="A logo with a door and a brick wall&#10;&#10;AI-generated content may be incorrect."/>
          <p:cNvPicPr preferRelativeResize="0"/>
          <p:nvPr/>
        </p:nvPicPr>
        <p:blipFill rotWithShape="1">
          <a:blip r:embed="rId3">
            <a:alphaModFix/>
          </a:blip>
          <a:srcRect/>
          <a:stretch/>
        </p:blipFill>
        <p:spPr>
          <a:xfrm>
            <a:off x="266700" y="150876"/>
            <a:ext cx="1143000" cy="11342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74D5FBB0-6C02-6C56-BBBF-C2CB9081BB3C}"/>
            </a:ext>
          </a:extLst>
        </p:cNvPr>
        <p:cNvGrpSpPr/>
        <p:nvPr/>
      </p:nvGrpSpPr>
      <p:grpSpPr>
        <a:xfrm>
          <a:off x="0" y="0"/>
          <a:ext cx="0" cy="0"/>
          <a:chOff x="0" y="0"/>
          <a:chExt cx="0" cy="0"/>
        </a:xfrm>
      </p:grpSpPr>
      <p:sp>
        <p:nvSpPr>
          <p:cNvPr id="217" name="Google Shape;217;p12">
            <a:extLst>
              <a:ext uri="{FF2B5EF4-FFF2-40B4-BE49-F238E27FC236}">
                <a16:creationId xmlns:a16="http://schemas.microsoft.com/office/drawing/2014/main" id="{AAD46AB0-04C9-7C8A-81C6-614815B8D19F}"/>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16</a:t>
            </a:fld>
            <a:endParaRPr>
              <a:latin typeface="Times New Roman"/>
              <a:ea typeface="Times New Roman"/>
              <a:cs typeface="Times New Roman"/>
              <a:sym typeface="Times New Roman"/>
            </a:endParaRPr>
          </a:p>
        </p:txBody>
      </p:sp>
      <p:sp>
        <p:nvSpPr>
          <p:cNvPr id="219" name="Google Shape;219;p12">
            <a:extLst>
              <a:ext uri="{FF2B5EF4-FFF2-40B4-BE49-F238E27FC236}">
                <a16:creationId xmlns:a16="http://schemas.microsoft.com/office/drawing/2014/main" id="{A6BED2EB-987D-2A8F-12C1-588B04017714}"/>
              </a:ext>
            </a:extLst>
          </p:cNvPr>
          <p:cNvSpPr txBox="1">
            <a:spLocks noGrp="1"/>
          </p:cNvSpPr>
          <p:nvPr>
            <p:ph type="title"/>
          </p:nvPr>
        </p:nvSpPr>
        <p:spPr>
          <a:xfrm>
            <a:off x="457200" y="150813"/>
            <a:ext cx="6781800" cy="1252537"/>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Methodology </a:t>
            </a:r>
            <a:endParaRPr sz="3600" dirty="0"/>
          </a:p>
          <a:p>
            <a:pPr marL="0" lvl="0" indent="0" algn="ctr" rtl="0">
              <a:spcBef>
                <a:spcPts val="0"/>
              </a:spcBef>
              <a:spcAft>
                <a:spcPts val="0"/>
              </a:spcAft>
              <a:buClr>
                <a:srgbClr val="FFC700"/>
              </a:buClr>
              <a:buSzPts val="3600"/>
              <a:buFont typeface="Times New Roman"/>
              <a:buNone/>
            </a:pPr>
            <a:r>
              <a:rPr lang="en-US" sz="2800" dirty="0"/>
              <a:t>(Alcohol-Related Questions)</a:t>
            </a:r>
            <a:endParaRPr sz="2800" dirty="0"/>
          </a:p>
        </p:txBody>
      </p:sp>
      <p:graphicFrame>
        <p:nvGraphicFramePr>
          <p:cNvPr id="220" name="Google Shape;220;p12">
            <a:extLst>
              <a:ext uri="{FF2B5EF4-FFF2-40B4-BE49-F238E27FC236}">
                <a16:creationId xmlns:a16="http://schemas.microsoft.com/office/drawing/2014/main" id="{B0EB54B8-B5B2-7EC5-0C39-FE418A1B320A}"/>
              </a:ext>
            </a:extLst>
          </p:cNvPr>
          <p:cNvGraphicFramePr/>
          <p:nvPr>
            <p:extLst>
              <p:ext uri="{D42A27DB-BD31-4B8C-83A1-F6EECF244321}">
                <p14:modId xmlns:p14="http://schemas.microsoft.com/office/powerpoint/2010/main" val="1702537681"/>
              </p:ext>
            </p:extLst>
          </p:nvPr>
        </p:nvGraphicFramePr>
        <p:xfrm>
          <a:off x="102869" y="1634831"/>
          <a:ext cx="8938262" cy="2016790"/>
        </p:xfrm>
        <a:graphic>
          <a:graphicData uri="http://schemas.openxmlformats.org/drawingml/2006/table">
            <a:tbl>
              <a:tblPr firstRow="1" bandRow="1">
                <a:noFill/>
                <a:tableStyleId>{E148F040-0A8B-4E72-A747-29BAFFFC2B0B}</a:tableStyleId>
              </a:tblPr>
              <a:tblGrid>
                <a:gridCol w="2355517">
                  <a:extLst>
                    <a:ext uri="{9D8B030D-6E8A-4147-A177-3AD203B41FA5}">
                      <a16:colId xmlns:a16="http://schemas.microsoft.com/office/drawing/2014/main" val="20000"/>
                    </a:ext>
                  </a:extLst>
                </a:gridCol>
                <a:gridCol w="1244183">
                  <a:extLst>
                    <a:ext uri="{9D8B030D-6E8A-4147-A177-3AD203B41FA5}">
                      <a16:colId xmlns:a16="http://schemas.microsoft.com/office/drawing/2014/main" val="20001"/>
                    </a:ext>
                  </a:extLst>
                </a:gridCol>
                <a:gridCol w="1693889">
                  <a:extLst>
                    <a:ext uri="{9D8B030D-6E8A-4147-A177-3AD203B41FA5}">
                      <a16:colId xmlns:a16="http://schemas.microsoft.com/office/drawing/2014/main" val="799320418"/>
                    </a:ext>
                  </a:extLst>
                </a:gridCol>
                <a:gridCol w="1034321">
                  <a:extLst>
                    <a:ext uri="{9D8B030D-6E8A-4147-A177-3AD203B41FA5}">
                      <a16:colId xmlns:a16="http://schemas.microsoft.com/office/drawing/2014/main" val="3970612811"/>
                    </a:ext>
                  </a:extLst>
                </a:gridCol>
                <a:gridCol w="1064302">
                  <a:extLst>
                    <a:ext uri="{9D8B030D-6E8A-4147-A177-3AD203B41FA5}">
                      <a16:colId xmlns:a16="http://schemas.microsoft.com/office/drawing/2014/main" val="3484590946"/>
                    </a:ext>
                  </a:extLst>
                </a:gridCol>
                <a:gridCol w="1546050">
                  <a:extLst>
                    <a:ext uri="{9D8B030D-6E8A-4147-A177-3AD203B41FA5}">
                      <a16:colId xmlns:a16="http://schemas.microsoft.com/office/drawing/2014/main" val="2750461711"/>
                    </a:ext>
                  </a:extLst>
                </a:gridCol>
              </a:tblGrid>
              <a:tr h="370850">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Question</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Never</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Once or Twice</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Monthly</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Weekly</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Daily/Almost</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sym typeface="Times New Roman"/>
                        </a:rPr>
                        <a:t>Frequency of alcohol use in the last 3 months</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5.9%</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21.3%</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17.8%</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21.8%</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1.7%</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Have you experienced health, social, legal, and/or financial problems from alcohol?</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55.6%</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4.8%</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1.1%</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0.7%</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0.2%</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150930957"/>
                  </a:ext>
                </a:extLst>
              </a:tr>
            </a:tbl>
          </a:graphicData>
        </a:graphic>
      </p:graphicFrame>
      <p:pic>
        <p:nvPicPr>
          <p:cNvPr id="223" name="Google Shape;223;p12" descr="A logo with a door and a brick wall&#10;&#10;AI-generated content may be incorrect.">
            <a:extLst>
              <a:ext uri="{FF2B5EF4-FFF2-40B4-BE49-F238E27FC236}">
                <a16:creationId xmlns:a16="http://schemas.microsoft.com/office/drawing/2014/main" id="{2F622AAA-884B-2A98-3643-D8465762767D}"/>
              </a:ext>
            </a:extLst>
          </p:cNvPr>
          <p:cNvPicPr preferRelativeResize="0"/>
          <p:nvPr/>
        </p:nvPicPr>
        <p:blipFill rotWithShape="1">
          <a:blip r:embed="rId3">
            <a:alphaModFix/>
          </a:blip>
          <a:srcRect/>
          <a:stretch/>
        </p:blipFill>
        <p:spPr>
          <a:xfrm>
            <a:off x="7428328" y="155448"/>
            <a:ext cx="1143000" cy="1134208"/>
          </a:xfrm>
          <a:prstGeom prst="rect">
            <a:avLst/>
          </a:prstGeom>
          <a:noFill/>
          <a:ln>
            <a:noFill/>
          </a:ln>
        </p:spPr>
      </p:pic>
      <p:graphicFrame>
        <p:nvGraphicFramePr>
          <p:cNvPr id="4" name="Google Shape;220;p12">
            <a:extLst>
              <a:ext uri="{FF2B5EF4-FFF2-40B4-BE49-F238E27FC236}">
                <a16:creationId xmlns:a16="http://schemas.microsoft.com/office/drawing/2014/main" id="{548BA9DB-D6C6-7D5C-5486-9A961560EF1D}"/>
              </a:ext>
            </a:extLst>
          </p:cNvPr>
          <p:cNvGraphicFramePr/>
          <p:nvPr>
            <p:extLst>
              <p:ext uri="{D42A27DB-BD31-4B8C-83A1-F6EECF244321}">
                <p14:modId xmlns:p14="http://schemas.microsoft.com/office/powerpoint/2010/main" val="3440136052"/>
              </p:ext>
            </p:extLst>
          </p:nvPr>
        </p:nvGraphicFramePr>
        <p:xfrm>
          <a:off x="102869" y="3743480"/>
          <a:ext cx="8938262" cy="1320830"/>
        </p:xfrm>
        <a:graphic>
          <a:graphicData uri="http://schemas.openxmlformats.org/drawingml/2006/table">
            <a:tbl>
              <a:tblPr firstRow="1" bandRow="1">
                <a:noFill/>
                <a:tableStyleId>{E148F040-0A8B-4E72-A747-29BAFFFC2B0B}</a:tableStyleId>
              </a:tblPr>
              <a:tblGrid>
                <a:gridCol w="6219449">
                  <a:extLst>
                    <a:ext uri="{9D8B030D-6E8A-4147-A177-3AD203B41FA5}">
                      <a16:colId xmlns:a16="http://schemas.microsoft.com/office/drawing/2014/main" val="20000"/>
                    </a:ext>
                  </a:extLst>
                </a:gridCol>
                <a:gridCol w="1576314">
                  <a:extLst>
                    <a:ext uri="{9D8B030D-6E8A-4147-A177-3AD203B41FA5}">
                      <a16:colId xmlns:a16="http://schemas.microsoft.com/office/drawing/2014/main" val="20001"/>
                    </a:ext>
                  </a:extLst>
                </a:gridCol>
                <a:gridCol w="1142499">
                  <a:extLst>
                    <a:ext uri="{9D8B030D-6E8A-4147-A177-3AD203B41FA5}">
                      <a16:colId xmlns:a16="http://schemas.microsoft.com/office/drawing/2014/main" val="799320418"/>
                    </a:ext>
                  </a:extLst>
                </a:gridCol>
              </a:tblGrid>
              <a:tr h="370850">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Question</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Never</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Yes</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sym typeface="Times New Roman"/>
                        </a:rPr>
                        <a:t>Has anyone expressed concern about your alcohol use?</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61%</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7.2%</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Have you ever tried and failed to control/cut/down/stop your alcohol consumption?</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62.5%</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5.8%</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150930957"/>
                  </a:ext>
                </a:extLst>
              </a:tr>
            </a:tbl>
          </a:graphicData>
        </a:graphic>
      </p:graphicFrame>
      <p:graphicFrame>
        <p:nvGraphicFramePr>
          <p:cNvPr id="2" name="Google Shape;220;p12">
            <a:extLst>
              <a:ext uri="{FF2B5EF4-FFF2-40B4-BE49-F238E27FC236}">
                <a16:creationId xmlns:a16="http://schemas.microsoft.com/office/drawing/2014/main" id="{B19CB404-C6D0-F347-A08C-C90EA9B30E98}"/>
              </a:ext>
            </a:extLst>
          </p:cNvPr>
          <p:cNvGraphicFramePr/>
          <p:nvPr>
            <p:extLst>
              <p:ext uri="{D42A27DB-BD31-4B8C-83A1-F6EECF244321}">
                <p14:modId xmlns:p14="http://schemas.microsoft.com/office/powerpoint/2010/main" val="332858441"/>
              </p:ext>
            </p:extLst>
          </p:nvPr>
        </p:nvGraphicFramePr>
        <p:xfrm>
          <a:off x="102869" y="5156169"/>
          <a:ext cx="8938264" cy="1010940"/>
        </p:xfrm>
        <a:graphic>
          <a:graphicData uri="http://schemas.openxmlformats.org/drawingml/2006/table">
            <a:tbl>
              <a:tblPr firstRow="1" bandRow="1">
                <a:noFill/>
                <a:tableStyleId>{E148F040-0A8B-4E72-A747-29BAFFFC2B0B}</a:tableStyleId>
              </a:tblPr>
              <a:tblGrid>
                <a:gridCol w="4597765">
                  <a:extLst>
                    <a:ext uri="{9D8B030D-6E8A-4147-A177-3AD203B41FA5}">
                      <a16:colId xmlns:a16="http://schemas.microsoft.com/office/drawing/2014/main" val="20000"/>
                    </a:ext>
                  </a:extLst>
                </a:gridCol>
                <a:gridCol w="1165300">
                  <a:extLst>
                    <a:ext uri="{9D8B030D-6E8A-4147-A177-3AD203B41FA5}">
                      <a16:colId xmlns:a16="http://schemas.microsoft.com/office/drawing/2014/main" val="20001"/>
                    </a:ext>
                  </a:extLst>
                </a:gridCol>
                <a:gridCol w="1165300">
                  <a:extLst>
                    <a:ext uri="{9D8B030D-6E8A-4147-A177-3AD203B41FA5}">
                      <a16:colId xmlns:a16="http://schemas.microsoft.com/office/drawing/2014/main" val="129049195"/>
                    </a:ext>
                  </a:extLst>
                </a:gridCol>
                <a:gridCol w="1165300">
                  <a:extLst>
                    <a:ext uri="{9D8B030D-6E8A-4147-A177-3AD203B41FA5}">
                      <a16:colId xmlns:a16="http://schemas.microsoft.com/office/drawing/2014/main" val="1665958758"/>
                    </a:ext>
                  </a:extLst>
                </a:gridCol>
                <a:gridCol w="844599">
                  <a:extLst>
                    <a:ext uri="{9D8B030D-6E8A-4147-A177-3AD203B41FA5}">
                      <a16:colId xmlns:a16="http://schemas.microsoft.com/office/drawing/2014/main" val="799320418"/>
                    </a:ext>
                  </a:extLst>
                </a:gridCol>
              </a:tblGrid>
              <a:tr h="370850">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ea typeface="Times New Roman"/>
                          <a:cs typeface="Times New Roman" panose="02020603050405020304" pitchFamily="18" charset="0"/>
                          <a:sym typeface="Times New Roman"/>
                        </a:rPr>
                        <a:t>Question</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0x</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rPr>
                        <a:t>1x</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rPr>
                        <a:t>2x</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rPr>
                        <a:t>3x +</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sym typeface="Times New Roman"/>
                        </a:rPr>
                        <a:t>In the last two weeks, how many times have you binge drank?</a:t>
                      </a:r>
                      <a:endParaRPr sz="18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1" dirty="0">
                          <a:latin typeface="Times New Roman" panose="02020603050405020304" pitchFamily="18" charset="0"/>
                          <a:cs typeface="Times New Roman" panose="02020603050405020304" pitchFamily="18" charset="0"/>
                        </a:rPr>
                        <a:t>23.7%</a:t>
                      </a:r>
                      <a:endParaRPr sz="18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cs typeface="Times New Roman" panose="02020603050405020304" pitchFamily="18" charset="0"/>
                        </a:rPr>
                        <a:t>10.6%</a:t>
                      </a:r>
                      <a:endParaRPr sz="1800" b="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cs typeface="Times New Roman" panose="02020603050405020304" pitchFamily="18" charset="0"/>
                        </a:rPr>
                        <a:t>5.3%</a:t>
                      </a:r>
                      <a:endParaRPr sz="1800" b="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4.6%</a:t>
                      </a:r>
                      <a:endParaRPr sz="18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65149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3F9A2140-201B-46FD-88F4-F269C7E40E89}"/>
            </a:ext>
          </a:extLst>
        </p:cNvPr>
        <p:cNvGrpSpPr/>
        <p:nvPr/>
      </p:nvGrpSpPr>
      <p:grpSpPr>
        <a:xfrm>
          <a:off x="0" y="0"/>
          <a:ext cx="0" cy="0"/>
          <a:chOff x="0" y="0"/>
          <a:chExt cx="0" cy="0"/>
        </a:xfrm>
      </p:grpSpPr>
      <p:sp>
        <p:nvSpPr>
          <p:cNvPr id="217" name="Google Shape;217;p12">
            <a:extLst>
              <a:ext uri="{FF2B5EF4-FFF2-40B4-BE49-F238E27FC236}">
                <a16:creationId xmlns:a16="http://schemas.microsoft.com/office/drawing/2014/main" id="{0EB6934A-1A31-D34B-3A52-B3A4C6BC101E}"/>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17</a:t>
            </a:fld>
            <a:endParaRPr>
              <a:latin typeface="Times New Roman"/>
              <a:ea typeface="Times New Roman"/>
              <a:cs typeface="Times New Roman"/>
              <a:sym typeface="Times New Roman"/>
            </a:endParaRPr>
          </a:p>
        </p:txBody>
      </p:sp>
      <p:sp>
        <p:nvSpPr>
          <p:cNvPr id="219" name="Google Shape;219;p12">
            <a:extLst>
              <a:ext uri="{FF2B5EF4-FFF2-40B4-BE49-F238E27FC236}">
                <a16:creationId xmlns:a16="http://schemas.microsoft.com/office/drawing/2014/main" id="{D36ACC60-63BD-F93A-B2A9-871A4379138E}"/>
              </a:ext>
            </a:extLst>
          </p:cNvPr>
          <p:cNvSpPr txBox="1">
            <a:spLocks noGrp="1"/>
          </p:cNvSpPr>
          <p:nvPr>
            <p:ph type="title"/>
          </p:nvPr>
        </p:nvSpPr>
        <p:spPr>
          <a:xfrm>
            <a:off x="1422596" y="91648"/>
            <a:ext cx="6781800" cy="1252537"/>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Methodology </a:t>
            </a:r>
            <a:endParaRPr sz="3600" dirty="0"/>
          </a:p>
          <a:p>
            <a:pPr marL="0" lvl="0" indent="0" algn="ctr" rtl="0">
              <a:spcBef>
                <a:spcPts val="0"/>
              </a:spcBef>
              <a:spcAft>
                <a:spcPts val="0"/>
              </a:spcAft>
              <a:buClr>
                <a:srgbClr val="FFC700"/>
              </a:buClr>
              <a:buSzPts val="3600"/>
              <a:buFont typeface="Times New Roman"/>
              <a:buNone/>
            </a:pPr>
            <a:r>
              <a:rPr lang="en-US" sz="2800" dirty="0"/>
              <a:t>(Alcohol-Related Questions)</a:t>
            </a:r>
            <a:endParaRPr sz="2800" dirty="0"/>
          </a:p>
        </p:txBody>
      </p:sp>
      <p:pic>
        <p:nvPicPr>
          <p:cNvPr id="223" name="Google Shape;223;p12" descr="A logo with a door and a brick wall&#10;&#10;AI-generated content may be incorrect.">
            <a:extLst>
              <a:ext uri="{FF2B5EF4-FFF2-40B4-BE49-F238E27FC236}">
                <a16:creationId xmlns:a16="http://schemas.microsoft.com/office/drawing/2014/main" id="{C6A8EDF3-AAAB-6E3F-E9F1-7EBEEA9A4BF5}"/>
              </a:ext>
            </a:extLst>
          </p:cNvPr>
          <p:cNvPicPr preferRelativeResize="0"/>
          <p:nvPr/>
        </p:nvPicPr>
        <p:blipFill rotWithShape="1">
          <a:blip r:embed="rId3">
            <a:alphaModFix/>
          </a:blip>
          <a:srcRect/>
          <a:stretch/>
        </p:blipFill>
        <p:spPr>
          <a:xfrm>
            <a:off x="337980" y="150813"/>
            <a:ext cx="1143000" cy="1134208"/>
          </a:xfrm>
          <a:prstGeom prst="rect">
            <a:avLst/>
          </a:prstGeom>
          <a:noFill/>
          <a:ln>
            <a:noFill/>
          </a:ln>
        </p:spPr>
      </p:pic>
      <p:graphicFrame>
        <p:nvGraphicFramePr>
          <p:cNvPr id="3" name="Google Shape;220;p12">
            <a:extLst>
              <a:ext uri="{FF2B5EF4-FFF2-40B4-BE49-F238E27FC236}">
                <a16:creationId xmlns:a16="http://schemas.microsoft.com/office/drawing/2014/main" id="{4D74A78F-724C-F7CC-3F13-B3FD11FB0C3E}"/>
              </a:ext>
            </a:extLst>
          </p:cNvPr>
          <p:cNvGraphicFramePr/>
          <p:nvPr>
            <p:extLst>
              <p:ext uri="{D42A27DB-BD31-4B8C-83A1-F6EECF244321}">
                <p14:modId xmlns:p14="http://schemas.microsoft.com/office/powerpoint/2010/main" val="1238065352"/>
              </p:ext>
            </p:extLst>
          </p:nvPr>
        </p:nvGraphicFramePr>
        <p:xfrm>
          <a:off x="102869" y="1551895"/>
          <a:ext cx="8938262" cy="3337650"/>
        </p:xfrm>
        <a:graphic>
          <a:graphicData uri="http://schemas.openxmlformats.org/drawingml/2006/table">
            <a:tbl>
              <a:tblPr firstRow="1" bandRow="1">
                <a:noFill/>
                <a:tableStyleId>{E148F040-0A8B-4E72-A747-29BAFFFC2B0B}</a:tableStyleId>
              </a:tblPr>
              <a:tblGrid>
                <a:gridCol w="6219449">
                  <a:extLst>
                    <a:ext uri="{9D8B030D-6E8A-4147-A177-3AD203B41FA5}">
                      <a16:colId xmlns:a16="http://schemas.microsoft.com/office/drawing/2014/main" val="20000"/>
                    </a:ext>
                  </a:extLst>
                </a:gridCol>
                <a:gridCol w="1576314">
                  <a:extLst>
                    <a:ext uri="{9D8B030D-6E8A-4147-A177-3AD203B41FA5}">
                      <a16:colId xmlns:a16="http://schemas.microsoft.com/office/drawing/2014/main" val="20001"/>
                    </a:ext>
                  </a:extLst>
                </a:gridCol>
                <a:gridCol w="1142499">
                  <a:extLst>
                    <a:ext uri="{9D8B030D-6E8A-4147-A177-3AD203B41FA5}">
                      <a16:colId xmlns:a16="http://schemas.microsoft.com/office/drawing/2014/main" val="799320418"/>
                    </a:ext>
                  </a:extLst>
                </a:gridCol>
              </a:tblGrid>
              <a:tr h="370850">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When drinking alcohol in the last 12 months...</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ea typeface="Times New Roman"/>
                          <a:cs typeface="Times New Roman" panose="02020603050405020304" pitchFamily="18" charset="0"/>
                          <a:sym typeface="Times New Roman"/>
                        </a:rPr>
                        <a:t>No</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latin typeface="Times New Roman" panose="02020603050405020304" pitchFamily="18" charset="0"/>
                          <a:cs typeface="Times New Roman" panose="02020603050405020304" pitchFamily="18" charset="0"/>
                        </a:rPr>
                        <a:t>Yes</a:t>
                      </a:r>
                      <a:endParaRPr sz="16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sym typeface="Times New Roman"/>
                        </a:rPr>
                        <a:t>Did you do something you later regretted?</a:t>
                      </a:r>
                      <a:endParaRPr sz="16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58.8%</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12.6%</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Did you blackout? (complete memory loss while drunk)</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64.2%</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7.2%</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150930957"/>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Did you brownout? (partial memory loss while drunk)</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57.6%</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13.8%</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590105055"/>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Did you get in trouble with police or college authorities?</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70.8%</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0.6%</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845622166"/>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Did you have sex with someone without consent?</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70.5%</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0.8%</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283146358"/>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Did you have unprotected sex?</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64.1%</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7.3%</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2519944110"/>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Did you physically injure yourself?</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67.1%</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4.2%</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862564890"/>
                  </a:ext>
                </a:extLst>
              </a:tr>
              <a:tr h="370850">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Did you drive after drinking?</a:t>
                      </a:r>
                    </a:p>
                  </a:txBody>
                  <a:tcPr marL="91450" marR="91450" marT="45725" marB="45725"/>
                </a:tc>
                <a:tc>
                  <a:txBody>
                    <a:bodyPr/>
                    <a:lstStyle/>
                    <a:p>
                      <a:pPr marL="0" marR="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37.8%</a:t>
                      </a:r>
                      <a:endParaRPr sz="16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5.5%</a:t>
                      </a:r>
                      <a:endParaRPr sz="16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3541704318"/>
                  </a:ext>
                </a:extLst>
              </a:tr>
            </a:tbl>
          </a:graphicData>
        </a:graphic>
      </p:graphicFrame>
      <p:graphicFrame>
        <p:nvGraphicFramePr>
          <p:cNvPr id="2" name="Google Shape;220;p12">
            <a:extLst>
              <a:ext uri="{FF2B5EF4-FFF2-40B4-BE49-F238E27FC236}">
                <a16:creationId xmlns:a16="http://schemas.microsoft.com/office/drawing/2014/main" id="{FACD3317-99E3-04B0-CB39-30F82EB3318F}"/>
              </a:ext>
            </a:extLst>
          </p:cNvPr>
          <p:cNvGraphicFramePr/>
          <p:nvPr>
            <p:extLst>
              <p:ext uri="{D42A27DB-BD31-4B8C-83A1-F6EECF244321}">
                <p14:modId xmlns:p14="http://schemas.microsoft.com/office/powerpoint/2010/main" val="1637266133"/>
              </p:ext>
            </p:extLst>
          </p:nvPr>
        </p:nvGraphicFramePr>
        <p:xfrm>
          <a:off x="102866" y="5040642"/>
          <a:ext cx="8938265" cy="1285260"/>
        </p:xfrm>
        <a:graphic>
          <a:graphicData uri="http://schemas.openxmlformats.org/drawingml/2006/table">
            <a:tbl>
              <a:tblPr firstRow="1" bandRow="1">
                <a:tableStyleId>{10A1B5D5-9B99-4C35-A422-299274C87663}</a:tableStyleId>
              </a:tblPr>
              <a:tblGrid>
                <a:gridCol w="4783924">
                  <a:extLst>
                    <a:ext uri="{9D8B030D-6E8A-4147-A177-3AD203B41FA5}">
                      <a16:colId xmlns:a16="http://schemas.microsoft.com/office/drawing/2014/main" val="20000"/>
                    </a:ext>
                  </a:extLst>
                </a:gridCol>
                <a:gridCol w="1184223">
                  <a:extLst>
                    <a:ext uri="{9D8B030D-6E8A-4147-A177-3AD203B41FA5}">
                      <a16:colId xmlns:a16="http://schemas.microsoft.com/office/drawing/2014/main" val="20001"/>
                    </a:ext>
                  </a:extLst>
                </a:gridCol>
                <a:gridCol w="1683215">
                  <a:extLst>
                    <a:ext uri="{9D8B030D-6E8A-4147-A177-3AD203B41FA5}">
                      <a16:colId xmlns:a16="http://schemas.microsoft.com/office/drawing/2014/main" val="129049195"/>
                    </a:ext>
                  </a:extLst>
                </a:gridCol>
                <a:gridCol w="1286903">
                  <a:extLst>
                    <a:ext uri="{9D8B030D-6E8A-4147-A177-3AD203B41FA5}">
                      <a16:colId xmlns:a16="http://schemas.microsoft.com/office/drawing/2014/main" val="1665958758"/>
                    </a:ext>
                  </a:extLst>
                </a:gridCol>
              </a:tblGrid>
              <a:tr h="370850">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Question</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sym typeface="Times New Roman"/>
                        </a:rPr>
                        <a:t>Low risk</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rPr>
                        <a:t>Moderate risk</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dirty="0">
                          <a:solidFill>
                            <a:schemeClr val="tx1"/>
                          </a:solidFill>
                          <a:latin typeface="Times New Roman" panose="02020603050405020304" pitchFamily="18" charset="0"/>
                          <a:cs typeface="Times New Roman" panose="02020603050405020304" pitchFamily="18" charset="0"/>
                        </a:rPr>
                        <a:t>High risk</a:t>
                      </a:r>
                      <a:endParaRPr sz="180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A score to represent a student’s risk of alcohol misuse, based on many questions, the majority being from the previous slides</a:t>
                      </a:r>
                      <a:endParaRPr sz="18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1" dirty="0">
                          <a:latin typeface="Times New Roman" panose="02020603050405020304" pitchFamily="18" charset="0"/>
                          <a:cs typeface="Times New Roman" panose="02020603050405020304" pitchFamily="18" charset="0"/>
                        </a:rPr>
                        <a:t>55.3%</a:t>
                      </a:r>
                      <a:endParaRPr sz="1800" b="1"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cs typeface="Times New Roman" panose="02020603050405020304" pitchFamily="18" charset="0"/>
                        </a:rPr>
                        <a:t>9.6%</a:t>
                      </a:r>
                      <a:endParaRPr sz="1800" b="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800" b="0" dirty="0">
                          <a:latin typeface="Times New Roman" panose="02020603050405020304" pitchFamily="18" charset="0"/>
                          <a:cs typeface="Times New Roman" panose="02020603050405020304" pitchFamily="18" charset="0"/>
                        </a:rPr>
                        <a:t>1.0%</a:t>
                      </a:r>
                      <a:endParaRPr sz="1800" b="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5502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4"/>
          <p:cNvPicPr preferRelativeResize="0"/>
          <p:nvPr/>
        </p:nvPicPr>
        <p:blipFill rotWithShape="1">
          <a:blip r:embed="rId3">
            <a:alphaModFix/>
          </a:blip>
          <a:srcRect/>
          <a:stretch/>
        </p:blipFill>
        <p:spPr>
          <a:xfrm>
            <a:off x="7696200" y="152400"/>
            <a:ext cx="1097280" cy="1097280"/>
          </a:xfrm>
          <a:prstGeom prst="rect">
            <a:avLst/>
          </a:prstGeom>
          <a:noFill/>
          <a:ln>
            <a:noFill/>
          </a:ln>
        </p:spPr>
      </p:pic>
      <p:sp>
        <p:nvSpPr>
          <p:cNvPr id="230" name="Google Shape;230;p14"/>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18</a:t>
            </a:fld>
            <a:endParaRPr>
              <a:latin typeface="Times New Roman"/>
              <a:ea typeface="Times New Roman"/>
              <a:cs typeface="Times New Roman"/>
              <a:sym typeface="Times New Roman"/>
            </a:endParaRPr>
          </a:p>
        </p:txBody>
      </p:sp>
      <p:sp>
        <p:nvSpPr>
          <p:cNvPr id="231" name="Google Shape;231;p14"/>
          <p:cNvSpPr txBox="1">
            <a:spLocks noGrp="1"/>
          </p:cNvSpPr>
          <p:nvPr>
            <p:ph type="title"/>
          </p:nvPr>
        </p:nvSpPr>
        <p:spPr>
          <a:xfrm>
            <a:off x="350520"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2800"/>
          </a:p>
          <a:p>
            <a:pPr marL="0" lvl="0" indent="0" algn="ctr" rtl="0">
              <a:spcBef>
                <a:spcPts val="0"/>
              </a:spcBef>
              <a:spcAft>
                <a:spcPts val="0"/>
              </a:spcAft>
              <a:buClr>
                <a:srgbClr val="FFC700"/>
              </a:buClr>
              <a:buSzPts val="3600"/>
              <a:buFont typeface="Times New Roman"/>
              <a:buNone/>
            </a:pPr>
            <a:r>
              <a:rPr lang="en-US" sz="2800"/>
              <a:t>(Data Analysis &amp; Visualization)</a:t>
            </a:r>
            <a:endParaRPr sz="2800"/>
          </a:p>
        </p:txBody>
      </p:sp>
      <p:sp>
        <p:nvSpPr>
          <p:cNvPr id="232" name="Google Shape;232;p14"/>
          <p:cNvSpPr txBox="1"/>
          <p:nvPr/>
        </p:nvSpPr>
        <p:spPr>
          <a:xfrm>
            <a:off x="364898" y="1759887"/>
            <a:ext cx="8573362" cy="5098113"/>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400" b="0" i="0" u="none" strike="noStrike" cap="none" dirty="0">
                <a:solidFill>
                  <a:schemeClr val="dk1"/>
                </a:solidFill>
                <a:latin typeface="Times New Roman"/>
                <a:ea typeface="Times New Roman"/>
                <a:cs typeface="Times New Roman"/>
                <a:sym typeface="Times New Roman"/>
              </a:rPr>
              <a:t>This section of the presentation will contain the most relevant findings from exploratory data analysis and visualization</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b="0" i="0" u="none" strike="noStrike" cap="none" dirty="0">
                <a:solidFill>
                  <a:schemeClr val="dk1"/>
                </a:solidFill>
                <a:latin typeface="Times New Roman"/>
                <a:ea typeface="Times New Roman"/>
                <a:cs typeface="Times New Roman"/>
                <a:sym typeface="Times New Roman"/>
              </a:rPr>
              <a:t>These findings and visualization helped inform the model development and testing, which will be discussed later</a:t>
            </a:r>
            <a:endParaRPr sz="2400" b="0" i="0" u="none" strike="noStrike" cap="none" dirty="0">
              <a:solidFill>
                <a:schemeClr val="dk1"/>
              </a:solidFill>
              <a:latin typeface="Times New Roman"/>
              <a:ea typeface="Times New Roman"/>
              <a:cs typeface="Times New Roman"/>
              <a:sym typeface="Times New Roman"/>
            </a:endParaRPr>
          </a:p>
          <a:p>
            <a:pPr marL="438912" marR="0" lvl="0" indent="-198120" algn="l" rtl="0">
              <a:spcBef>
                <a:spcPts val="1200"/>
              </a:spcBef>
              <a:spcAft>
                <a:spcPts val="0"/>
              </a:spcAft>
              <a:buClr>
                <a:schemeClr val="accent1"/>
              </a:buClr>
              <a:buSzPts val="1920"/>
              <a:buFont typeface="Noto Sans Symbols"/>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5"/>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19</a:t>
            </a:fld>
            <a:endParaRPr>
              <a:latin typeface="Times New Roman"/>
              <a:ea typeface="Times New Roman"/>
              <a:cs typeface="Times New Roman"/>
              <a:sym typeface="Times New Roman"/>
            </a:endParaRPr>
          </a:p>
        </p:txBody>
      </p:sp>
      <p:sp>
        <p:nvSpPr>
          <p:cNvPr id="249" name="Google Shape;249;p15"/>
          <p:cNvSpPr txBox="1">
            <a:spLocks noGrp="1"/>
          </p:cNvSpPr>
          <p:nvPr>
            <p:ph type="title"/>
          </p:nvPr>
        </p:nvSpPr>
        <p:spPr>
          <a:xfrm>
            <a:off x="1676399" y="139148"/>
            <a:ext cx="6701691" cy="1217212"/>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3600"/>
          </a:p>
          <a:p>
            <a:pPr marL="0" lvl="0" indent="0" algn="ctr" rtl="0">
              <a:spcBef>
                <a:spcPts val="0"/>
              </a:spcBef>
              <a:spcAft>
                <a:spcPts val="0"/>
              </a:spcAft>
              <a:buClr>
                <a:srgbClr val="FFC700"/>
              </a:buClr>
              <a:buSzPts val="3600"/>
              <a:buFont typeface="Times New Roman"/>
              <a:buNone/>
            </a:pPr>
            <a:r>
              <a:rPr lang="en-US" sz="2800"/>
              <a:t>(Data Analysis &amp; Visualization)</a:t>
            </a:r>
            <a:endParaRPr sz="2800"/>
          </a:p>
        </p:txBody>
      </p:sp>
      <p:sp>
        <p:nvSpPr>
          <p:cNvPr id="250" name="Google Shape;250;p15"/>
          <p:cNvSpPr txBox="1"/>
          <p:nvPr/>
        </p:nvSpPr>
        <p:spPr>
          <a:xfrm>
            <a:off x="372949" y="1859279"/>
            <a:ext cx="8398101" cy="4114801"/>
          </a:xfrm>
          <a:prstGeom prst="rect">
            <a:avLst/>
          </a:prstGeom>
          <a:noFill/>
          <a:ln>
            <a:noFill/>
          </a:ln>
        </p:spPr>
        <p:txBody>
          <a:bodyPr spcFirstLastPara="1" wrap="square" lIns="54850" tIns="91425" rIns="91425" bIns="45700" anchor="t" anchorCtr="0">
            <a:noAutofit/>
          </a:bodyPr>
          <a:lstStyle/>
          <a:p>
            <a:pPr marL="438912" lvl="0" indent="-370840">
              <a:lnSpc>
                <a:spcPct val="115000"/>
              </a:lnSpc>
              <a:buClr>
                <a:schemeClr val="accent1"/>
              </a:buClr>
              <a:buSzPts val="2400"/>
              <a:buFont typeface="Noto Sans Symbols"/>
              <a:buChar char="◼"/>
            </a:pPr>
            <a:r>
              <a:rPr lang="en-US" sz="2400" dirty="0">
                <a:latin typeface="Times New Roman"/>
                <a:ea typeface="Times New Roman"/>
                <a:cs typeface="Times New Roman"/>
                <a:sym typeface="Times New Roman"/>
              </a:rPr>
              <a:t>Males drank more than women overall </a:t>
            </a:r>
            <a:endParaRPr lang="en-US" sz="2400" dirty="0"/>
          </a:p>
          <a:p>
            <a:pPr marL="438912" lvl="0" indent="-370840">
              <a:lnSpc>
                <a:spcPct val="115000"/>
              </a:lnSpc>
              <a:spcBef>
                <a:spcPts val="1200"/>
              </a:spcBef>
              <a:buClr>
                <a:schemeClr val="accent1"/>
              </a:buClr>
              <a:buSzPts val="2400"/>
              <a:buFont typeface="Noto Sans Symbols"/>
              <a:buChar char="◼"/>
            </a:pPr>
            <a:r>
              <a:rPr lang="en-US" sz="2400" dirty="0">
                <a:solidFill>
                  <a:schemeClr val="dk1"/>
                </a:solidFill>
                <a:latin typeface="Times New Roman"/>
                <a:ea typeface="Times New Roman"/>
                <a:cs typeface="Times New Roman"/>
                <a:sym typeface="Times New Roman"/>
              </a:rPr>
              <a:t>Males were more often moderate-to-high risk for alcohol misuse than women</a:t>
            </a:r>
            <a:endParaRPr lang="en-US" sz="2400" dirty="0">
              <a:latin typeface="Times New Roman"/>
              <a:ea typeface="Times New Roman"/>
              <a:cs typeface="Times New Roman"/>
              <a:sym typeface="Times New Roman"/>
            </a:endParaRPr>
          </a:p>
          <a:p>
            <a:pPr marL="438912" lvl="0" indent="-370840">
              <a:lnSpc>
                <a:spcPct val="115000"/>
              </a:lnSpc>
              <a:spcBef>
                <a:spcPts val="1200"/>
              </a:spcBef>
              <a:buClr>
                <a:schemeClr val="accent1"/>
              </a:buClr>
              <a:buSzPts val="2400"/>
              <a:buFont typeface="Times New Roman"/>
              <a:buChar char="◼"/>
            </a:pPr>
            <a:r>
              <a:rPr lang="en-US" sz="2400" dirty="0">
                <a:solidFill>
                  <a:schemeClr val="dk1"/>
                </a:solidFill>
                <a:latin typeface="Times New Roman"/>
                <a:ea typeface="Times New Roman"/>
                <a:cs typeface="Times New Roman"/>
                <a:sym typeface="Times New Roman"/>
              </a:rPr>
              <a:t>For students who participate in Greek life, both alcohol consumption rates and the risk for alcohol misuse were notably higher than the rates for those not in Greek life</a:t>
            </a:r>
            <a:endParaRPr lang="en-US" sz="2400" dirty="0">
              <a:latin typeface="Times New Roman"/>
              <a:ea typeface="Times New Roman"/>
              <a:cs typeface="Times New Roman"/>
              <a:sym typeface="Times New Roman"/>
            </a:endParaRPr>
          </a:p>
          <a:p>
            <a:pPr marL="438912" lvl="0" indent="-370840">
              <a:lnSpc>
                <a:spcPct val="115000"/>
              </a:lnSpc>
              <a:spcBef>
                <a:spcPts val="1200"/>
              </a:spcBef>
              <a:spcAft>
                <a:spcPts val="1200"/>
              </a:spcAft>
              <a:buClr>
                <a:schemeClr val="accent1"/>
              </a:buClr>
              <a:buSzPts val="2400"/>
              <a:buFont typeface="Times New Roman"/>
              <a:buChar char="◼"/>
            </a:pPr>
            <a:r>
              <a:rPr lang="en-US" sz="2400" dirty="0">
                <a:solidFill>
                  <a:schemeClr val="dk1"/>
                </a:solidFill>
                <a:latin typeface="Times New Roman"/>
                <a:ea typeface="Times New Roman"/>
                <a:cs typeface="Times New Roman"/>
                <a:sym typeface="Times New Roman"/>
              </a:rPr>
              <a:t>Furthermore, students who live in Greek housing drink even more and are at an even higher risk of alcohol misuse</a:t>
            </a:r>
            <a:endParaRPr lang="en-US" sz="2400" dirty="0">
              <a:latin typeface="Times New Roman"/>
              <a:ea typeface="Times New Roman"/>
              <a:cs typeface="Times New Roman"/>
              <a:sym typeface="Times New Roman"/>
            </a:endParaRPr>
          </a:p>
          <a:p>
            <a:pPr marL="118872" marR="0" lvl="0" algn="l" rtl="0">
              <a:lnSpc>
                <a:spcPct val="115000"/>
              </a:lnSpc>
              <a:spcBef>
                <a:spcPts val="0"/>
              </a:spcBef>
              <a:spcAft>
                <a:spcPts val="0"/>
              </a:spcAft>
              <a:buClr>
                <a:schemeClr val="accent1"/>
              </a:buClr>
              <a:buSzPts val="1920"/>
            </a:pPr>
            <a:endParaRPr dirty="0"/>
          </a:p>
        </p:txBody>
      </p:sp>
      <p:pic>
        <p:nvPicPr>
          <p:cNvPr id="251" name="Google Shape;251;p15"/>
          <p:cNvPicPr preferRelativeResize="0"/>
          <p:nvPr/>
        </p:nvPicPr>
        <p:blipFill rotWithShape="1">
          <a:blip r:embed="rId3">
            <a:alphaModFix/>
          </a:blip>
          <a:srcRect/>
          <a:stretch/>
        </p:blipFill>
        <p:spPr>
          <a:xfrm>
            <a:off x="579120" y="228600"/>
            <a:ext cx="1097280" cy="10972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B49DE225-92C5-D99D-C927-E2933111E9BA}"/>
            </a:ext>
          </a:extLst>
        </p:cNvPr>
        <p:cNvGrpSpPr/>
        <p:nvPr/>
      </p:nvGrpSpPr>
      <p:grpSpPr>
        <a:xfrm>
          <a:off x="0" y="0"/>
          <a:ext cx="0" cy="0"/>
          <a:chOff x="0" y="0"/>
          <a:chExt cx="0" cy="0"/>
        </a:xfrm>
      </p:grpSpPr>
      <p:sp>
        <p:nvSpPr>
          <p:cNvPr id="267" name="Google Shape;267;p17">
            <a:extLst>
              <a:ext uri="{FF2B5EF4-FFF2-40B4-BE49-F238E27FC236}">
                <a16:creationId xmlns:a16="http://schemas.microsoft.com/office/drawing/2014/main" id="{6CC6A00B-AE39-09F3-3118-94CEBBD57907}"/>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20</a:t>
            </a:fld>
            <a:endParaRPr>
              <a:latin typeface="Times New Roman"/>
              <a:ea typeface="Times New Roman"/>
              <a:cs typeface="Times New Roman"/>
              <a:sym typeface="Times New Roman"/>
            </a:endParaRPr>
          </a:p>
        </p:txBody>
      </p:sp>
      <p:sp>
        <p:nvSpPr>
          <p:cNvPr id="268" name="Google Shape;268;p17">
            <a:extLst>
              <a:ext uri="{FF2B5EF4-FFF2-40B4-BE49-F238E27FC236}">
                <a16:creationId xmlns:a16="http://schemas.microsoft.com/office/drawing/2014/main" id="{DB6BDA59-D56F-B7B5-F3D1-0524016BBD33}"/>
              </a:ext>
            </a:extLst>
          </p:cNvPr>
          <p:cNvSpPr txBox="1">
            <a:spLocks noGrp="1"/>
          </p:cNvSpPr>
          <p:nvPr>
            <p:ph type="title"/>
          </p:nvPr>
        </p:nvSpPr>
        <p:spPr>
          <a:xfrm>
            <a:off x="1480103" y="79193"/>
            <a:ext cx="6701691" cy="1217212"/>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Methodology</a:t>
            </a:r>
            <a:endParaRPr sz="2800" dirty="0"/>
          </a:p>
          <a:p>
            <a:pPr marL="0" lvl="0" indent="0" algn="ctr" rtl="0">
              <a:spcBef>
                <a:spcPts val="0"/>
              </a:spcBef>
              <a:spcAft>
                <a:spcPts val="0"/>
              </a:spcAft>
              <a:buClr>
                <a:srgbClr val="FFC700"/>
              </a:buClr>
              <a:buSzPts val="3600"/>
              <a:buFont typeface="Times New Roman"/>
              <a:buNone/>
            </a:pPr>
            <a:r>
              <a:rPr lang="en-US" sz="2800" dirty="0"/>
              <a:t>(Data Analysis &amp; Visualization)</a:t>
            </a:r>
            <a:endParaRPr sz="2800" dirty="0"/>
          </a:p>
        </p:txBody>
      </p:sp>
      <p:pic>
        <p:nvPicPr>
          <p:cNvPr id="269" name="Google Shape;269;p17">
            <a:extLst>
              <a:ext uri="{FF2B5EF4-FFF2-40B4-BE49-F238E27FC236}">
                <a16:creationId xmlns:a16="http://schemas.microsoft.com/office/drawing/2014/main" id="{77B02596-2D12-82FA-3BA2-A61BB185C4A6}"/>
              </a:ext>
            </a:extLst>
          </p:cNvPr>
          <p:cNvPicPr preferRelativeResize="0"/>
          <p:nvPr/>
        </p:nvPicPr>
        <p:blipFill rotWithShape="1">
          <a:blip r:embed="rId3">
            <a:alphaModFix/>
          </a:blip>
          <a:srcRect/>
          <a:stretch/>
        </p:blipFill>
        <p:spPr>
          <a:xfrm>
            <a:off x="7663897" y="139159"/>
            <a:ext cx="1097280" cy="1097280"/>
          </a:xfrm>
          <a:prstGeom prst="rect">
            <a:avLst/>
          </a:prstGeom>
          <a:noFill/>
          <a:ln>
            <a:noFill/>
          </a:ln>
        </p:spPr>
      </p:pic>
      <p:pic>
        <p:nvPicPr>
          <p:cNvPr id="4" name="Picture 3" descr="A chart of alcohol misuse&#10;&#10;AI-generated content may be incorrect.">
            <a:extLst>
              <a:ext uri="{FF2B5EF4-FFF2-40B4-BE49-F238E27FC236}">
                <a16:creationId xmlns:a16="http://schemas.microsoft.com/office/drawing/2014/main" id="{E4CC16AE-44E0-2D8B-1255-6D1F9BAF7F08}"/>
              </a:ext>
            </a:extLst>
          </p:cNvPr>
          <p:cNvPicPr>
            <a:picLocks noChangeAspect="1"/>
          </p:cNvPicPr>
          <p:nvPr/>
        </p:nvPicPr>
        <p:blipFill>
          <a:blip r:embed="rId4"/>
          <a:stretch>
            <a:fillRect/>
          </a:stretch>
        </p:blipFill>
        <p:spPr>
          <a:xfrm>
            <a:off x="1322387" y="1557247"/>
            <a:ext cx="7007226" cy="5194072"/>
          </a:xfrm>
          <a:prstGeom prst="rect">
            <a:avLst/>
          </a:prstGeom>
        </p:spPr>
      </p:pic>
    </p:spTree>
    <p:extLst>
      <p:ext uri="{BB962C8B-B14F-4D97-AF65-F5344CB8AC3E}">
        <p14:creationId xmlns:p14="http://schemas.microsoft.com/office/powerpoint/2010/main" val="4208281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16"/>
          <p:cNvPicPr preferRelativeResize="0"/>
          <p:nvPr/>
        </p:nvPicPr>
        <p:blipFill rotWithShape="1">
          <a:blip r:embed="rId3">
            <a:alphaModFix/>
          </a:blip>
          <a:srcRect/>
          <a:stretch/>
        </p:blipFill>
        <p:spPr>
          <a:xfrm>
            <a:off x="231648" y="240459"/>
            <a:ext cx="1097280" cy="1097280"/>
          </a:xfrm>
          <a:prstGeom prst="rect">
            <a:avLst/>
          </a:prstGeom>
          <a:noFill/>
          <a:ln>
            <a:noFill/>
          </a:ln>
        </p:spPr>
      </p:pic>
      <p:sp>
        <p:nvSpPr>
          <p:cNvPr id="258" name="Google Shape;258;p16"/>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21</a:t>
            </a:fld>
            <a:endParaRPr>
              <a:latin typeface="Times New Roman"/>
              <a:ea typeface="Times New Roman"/>
              <a:cs typeface="Times New Roman"/>
              <a:sym typeface="Times New Roman"/>
            </a:endParaRPr>
          </a:p>
        </p:txBody>
      </p:sp>
      <p:sp>
        <p:nvSpPr>
          <p:cNvPr id="259" name="Google Shape;259;p16"/>
          <p:cNvSpPr txBox="1">
            <a:spLocks noGrp="1"/>
          </p:cNvSpPr>
          <p:nvPr>
            <p:ph type="title"/>
          </p:nvPr>
        </p:nvSpPr>
        <p:spPr>
          <a:xfrm>
            <a:off x="350520"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Methodology</a:t>
            </a:r>
            <a:endParaRPr sz="2800" dirty="0"/>
          </a:p>
          <a:p>
            <a:pPr marL="0" lvl="0" indent="0" algn="ctr" rtl="0">
              <a:spcBef>
                <a:spcPts val="0"/>
              </a:spcBef>
              <a:spcAft>
                <a:spcPts val="0"/>
              </a:spcAft>
              <a:buClr>
                <a:srgbClr val="FFC700"/>
              </a:buClr>
              <a:buSzPts val="3600"/>
              <a:buFont typeface="Times New Roman"/>
              <a:buNone/>
            </a:pPr>
            <a:r>
              <a:rPr lang="en-US" sz="2800" dirty="0"/>
              <a:t>(Data Analysis &amp; Visualization)</a:t>
            </a:r>
            <a:endParaRPr sz="2800" dirty="0"/>
          </a:p>
        </p:txBody>
      </p:sp>
      <p:pic>
        <p:nvPicPr>
          <p:cNvPr id="3" name="Picture 2" descr="A chart of alcohol misuse&#10;&#10;AI-generated content may be incorrect.">
            <a:extLst>
              <a:ext uri="{FF2B5EF4-FFF2-40B4-BE49-F238E27FC236}">
                <a16:creationId xmlns:a16="http://schemas.microsoft.com/office/drawing/2014/main" id="{F63DEEDB-167C-89FE-9EF6-8C3926F551A5}"/>
              </a:ext>
            </a:extLst>
          </p:cNvPr>
          <p:cNvPicPr>
            <a:picLocks noChangeAspect="1"/>
          </p:cNvPicPr>
          <p:nvPr/>
        </p:nvPicPr>
        <p:blipFill>
          <a:blip r:embed="rId4"/>
          <a:stretch>
            <a:fillRect/>
          </a:stretch>
        </p:blipFill>
        <p:spPr>
          <a:xfrm>
            <a:off x="1161484" y="1607487"/>
            <a:ext cx="7042912" cy="50758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txBox="1"/>
          <p:nvPr/>
        </p:nvSpPr>
        <p:spPr>
          <a:xfrm>
            <a:off x="364898" y="1683688"/>
            <a:ext cx="8573362" cy="5174312"/>
          </a:xfrm>
          <a:prstGeom prst="rect">
            <a:avLst/>
          </a:prstGeom>
          <a:noFill/>
          <a:ln>
            <a:noFill/>
          </a:ln>
        </p:spPr>
        <p:txBody>
          <a:bodyPr spcFirstLastPara="1" wrap="square" lIns="54850" tIns="91425" rIns="91425" bIns="45700" anchor="t" anchorCtr="0">
            <a:normAutofit/>
          </a:bodyPr>
          <a:lstStyle/>
          <a:p>
            <a:pPr marL="438912" marR="0" lvl="0" indent="-198120" algn="l" rtl="0">
              <a:spcBef>
                <a:spcPts val="0"/>
              </a:spcBef>
              <a:spcAft>
                <a:spcPts val="0"/>
              </a:spcAft>
              <a:buClr>
                <a:schemeClr val="accent1"/>
              </a:buClr>
              <a:buSzPts val="1920"/>
              <a:buFont typeface="Noto Sans Symbols"/>
              <a:buNone/>
            </a:pPr>
            <a:endParaRPr sz="2400" dirty="0">
              <a:solidFill>
                <a:schemeClr val="dk1"/>
              </a:solidFill>
              <a:latin typeface="Times New Roman"/>
              <a:ea typeface="Times New Roman"/>
              <a:cs typeface="Times New Roman"/>
              <a:sym typeface="Times New Roman"/>
            </a:endParaRPr>
          </a:p>
          <a:p>
            <a:pPr marL="438912" marR="0" lvl="0" indent="-198120" algn="l" rtl="0">
              <a:spcBef>
                <a:spcPts val="1200"/>
              </a:spcBef>
              <a:spcAft>
                <a:spcPts val="0"/>
              </a:spcAft>
              <a:buClr>
                <a:schemeClr val="accent1"/>
              </a:buClr>
              <a:buSzPts val="1920"/>
              <a:buFont typeface="Noto Sans Symbols"/>
              <a:buNone/>
            </a:pPr>
            <a:endParaRPr sz="2400" dirty="0">
              <a:solidFill>
                <a:schemeClr val="dk1"/>
              </a:solidFill>
              <a:latin typeface="Times New Roman"/>
              <a:ea typeface="Times New Roman"/>
              <a:cs typeface="Times New Roman"/>
              <a:sym typeface="Times New Roman"/>
            </a:endParaRPr>
          </a:p>
        </p:txBody>
      </p:sp>
      <p:pic>
        <p:nvPicPr>
          <p:cNvPr id="275" name="Google Shape;275;p18"/>
          <p:cNvPicPr preferRelativeResize="0"/>
          <p:nvPr/>
        </p:nvPicPr>
        <p:blipFill rotWithShape="1">
          <a:blip r:embed="rId3">
            <a:alphaModFix/>
          </a:blip>
          <a:srcRect/>
          <a:stretch/>
        </p:blipFill>
        <p:spPr>
          <a:xfrm>
            <a:off x="7696200" y="152400"/>
            <a:ext cx="1097280" cy="1097280"/>
          </a:xfrm>
          <a:prstGeom prst="rect">
            <a:avLst/>
          </a:prstGeom>
          <a:noFill/>
          <a:ln>
            <a:noFill/>
          </a:ln>
        </p:spPr>
      </p:pic>
      <p:pic>
        <p:nvPicPr>
          <p:cNvPr id="4" name="Picture 3" descr="A screenshot of a report&#10;&#10;AI-generated content may be incorrect.">
            <a:extLst>
              <a:ext uri="{FF2B5EF4-FFF2-40B4-BE49-F238E27FC236}">
                <a16:creationId xmlns:a16="http://schemas.microsoft.com/office/drawing/2014/main" id="{2CFD5F93-07D2-9EBF-B1DA-A7869553FA32}"/>
              </a:ext>
            </a:extLst>
          </p:cNvPr>
          <p:cNvPicPr>
            <a:picLocks noChangeAspect="1"/>
          </p:cNvPicPr>
          <p:nvPr/>
        </p:nvPicPr>
        <p:blipFill>
          <a:blip r:embed="rId4"/>
          <a:stretch>
            <a:fillRect/>
          </a:stretch>
        </p:blipFill>
        <p:spPr>
          <a:xfrm>
            <a:off x="600993" y="4939589"/>
            <a:ext cx="8101172" cy="1704687"/>
          </a:xfrm>
          <a:prstGeom prst="rect">
            <a:avLst/>
          </a:prstGeom>
        </p:spPr>
      </p:pic>
      <p:sp>
        <p:nvSpPr>
          <p:cNvPr id="276" name="Google Shape;276;p18"/>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22</a:t>
            </a:fld>
            <a:endParaRPr>
              <a:latin typeface="Times New Roman"/>
              <a:ea typeface="Times New Roman"/>
              <a:cs typeface="Times New Roman"/>
              <a:sym typeface="Times New Roman"/>
            </a:endParaRPr>
          </a:p>
        </p:txBody>
      </p:sp>
      <p:sp>
        <p:nvSpPr>
          <p:cNvPr id="277" name="Google Shape;277;p18"/>
          <p:cNvSpPr txBox="1">
            <a:spLocks noGrp="1"/>
          </p:cNvSpPr>
          <p:nvPr>
            <p:ph type="title"/>
          </p:nvPr>
        </p:nvSpPr>
        <p:spPr>
          <a:xfrm>
            <a:off x="350520"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3600"/>
          </a:p>
          <a:p>
            <a:pPr marL="0" lvl="0" indent="0" algn="ctr" rtl="0">
              <a:spcBef>
                <a:spcPts val="0"/>
              </a:spcBef>
              <a:spcAft>
                <a:spcPts val="0"/>
              </a:spcAft>
              <a:buClr>
                <a:srgbClr val="FFC700"/>
              </a:buClr>
              <a:buSzPts val="3600"/>
              <a:buFont typeface="Times New Roman"/>
              <a:buNone/>
            </a:pPr>
            <a:r>
              <a:rPr lang="en-US" sz="2800"/>
              <a:t>(Data Analysis &amp; Visualization)</a:t>
            </a:r>
            <a:endParaRPr sz="3700"/>
          </a:p>
        </p:txBody>
      </p:sp>
      <p:pic>
        <p:nvPicPr>
          <p:cNvPr id="3" name="Picture 2" descr="A table with text and numbers&#10;&#10;AI-generated content may be incorrect.">
            <a:extLst>
              <a:ext uri="{FF2B5EF4-FFF2-40B4-BE49-F238E27FC236}">
                <a16:creationId xmlns:a16="http://schemas.microsoft.com/office/drawing/2014/main" id="{F992F391-4FFD-AA71-B728-511902214230}"/>
              </a:ext>
            </a:extLst>
          </p:cNvPr>
          <p:cNvPicPr>
            <a:picLocks noChangeAspect="1"/>
          </p:cNvPicPr>
          <p:nvPr/>
        </p:nvPicPr>
        <p:blipFill>
          <a:blip r:embed="rId5"/>
          <a:stretch>
            <a:fillRect/>
          </a:stretch>
        </p:blipFill>
        <p:spPr>
          <a:xfrm>
            <a:off x="642743" y="1541757"/>
            <a:ext cx="7858513" cy="3230555"/>
          </a:xfrm>
          <a:prstGeom prst="rect">
            <a:avLst/>
          </a:prstGeom>
        </p:spPr>
      </p:pic>
      <p:sp>
        <p:nvSpPr>
          <p:cNvPr id="5" name="Rectangle 4">
            <a:extLst>
              <a:ext uri="{FF2B5EF4-FFF2-40B4-BE49-F238E27FC236}">
                <a16:creationId xmlns:a16="http://schemas.microsoft.com/office/drawing/2014/main" id="{BCB4CCB4-A25D-B8F8-FBA0-8166D1682FCE}"/>
              </a:ext>
            </a:extLst>
          </p:cNvPr>
          <p:cNvSpPr/>
          <p:nvPr/>
        </p:nvSpPr>
        <p:spPr>
          <a:xfrm>
            <a:off x="364898" y="4817670"/>
            <a:ext cx="842858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3" name="Picture 2">
            <a:extLst>
              <a:ext uri="{FF2B5EF4-FFF2-40B4-BE49-F238E27FC236}">
                <a16:creationId xmlns:a16="http://schemas.microsoft.com/office/drawing/2014/main" id="{A4CA5F6B-F254-9467-8A68-529A80500862}"/>
              </a:ext>
            </a:extLst>
          </p:cNvPr>
          <p:cNvPicPr>
            <a:picLocks noChangeAspect="1"/>
          </p:cNvPicPr>
          <p:nvPr/>
        </p:nvPicPr>
        <p:blipFill>
          <a:blip r:embed="rId3"/>
          <a:stretch>
            <a:fillRect/>
          </a:stretch>
        </p:blipFill>
        <p:spPr>
          <a:xfrm>
            <a:off x="601795" y="1545335"/>
            <a:ext cx="8191685" cy="5312665"/>
          </a:xfrm>
          <a:prstGeom prst="rect">
            <a:avLst/>
          </a:prstGeom>
        </p:spPr>
      </p:pic>
      <p:sp>
        <p:nvSpPr>
          <p:cNvPr id="297" name="Google Shape;297;p20"/>
          <p:cNvSpPr txBox="1"/>
          <p:nvPr/>
        </p:nvSpPr>
        <p:spPr>
          <a:xfrm>
            <a:off x="364898" y="1545335"/>
            <a:ext cx="8573362" cy="5098113"/>
          </a:xfrm>
          <a:prstGeom prst="rect">
            <a:avLst/>
          </a:prstGeom>
          <a:noFill/>
          <a:ln>
            <a:noFill/>
          </a:ln>
        </p:spPr>
        <p:txBody>
          <a:bodyPr spcFirstLastPara="1" wrap="square" lIns="54850" tIns="91425" rIns="91425" bIns="45700" anchor="t" anchorCtr="0">
            <a:normAutofit/>
          </a:bodyPr>
          <a:lstStyle/>
          <a:p>
            <a:pPr marL="438912" marR="0" lvl="0" indent="-198120" algn="l" rtl="0">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a:p>
            <a:pPr marL="438912" marR="0" lvl="0" indent="-198120" algn="l" rtl="0">
              <a:spcBef>
                <a:spcPts val="120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pic>
        <p:nvPicPr>
          <p:cNvPr id="294" name="Google Shape;294;p20"/>
          <p:cNvPicPr preferRelativeResize="0"/>
          <p:nvPr/>
        </p:nvPicPr>
        <p:blipFill rotWithShape="1">
          <a:blip r:embed="rId4">
            <a:alphaModFix/>
          </a:blip>
          <a:srcRect/>
          <a:stretch/>
        </p:blipFill>
        <p:spPr>
          <a:xfrm>
            <a:off x="364898" y="209383"/>
            <a:ext cx="1097280" cy="1097280"/>
          </a:xfrm>
          <a:prstGeom prst="rect">
            <a:avLst/>
          </a:prstGeom>
          <a:noFill/>
          <a:ln>
            <a:noFill/>
          </a:ln>
        </p:spPr>
      </p:pic>
      <p:sp>
        <p:nvSpPr>
          <p:cNvPr id="295" name="Google Shape;295;p20"/>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23</a:t>
            </a:fld>
            <a:endParaRPr>
              <a:latin typeface="Times New Roman"/>
              <a:ea typeface="Times New Roman"/>
              <a:cs typeface="Times New Roman"/>
              <a:sym typeface="Times New Roman"/>
            </a:endParaRPr>
          </a:p>
        </p:txBody>
      </p:sp>
      <p:sp>
        <p:nvSpPr>
          <p:cNvPr id="296" name="Google Shape;296;p20"/>
          <p:cNvSpPr txBox="1">
            <a:spLocks noGrp="1"/>
          </p:cNvSpPr>
          <p:nvPr>
            <p:ph type="title"/>
          </p:nvPr>
        </p:nvSpPr>
        <p:spPr>
          <a:xfrm>
            <a:off x="350520"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Methodology</a:t>
            </a:r>
            <a:endParaRPr sz="2800"/>
          </a:p>
          <a:p>
            <a:pPr marL="0" lvl="0" indent="0" algn="ctr" rtl="0">
              <a:spcBef>
                <a:spcPts val="0"/>
              </a:spcBef>
              <a:spcAft>
                <a:spcPts val="0"/>
              </a:spcAft>
              <a:buClr>
                <a:srgbClr val="FFC700"/>
              </a:buClr>
              <a:buSzPts val="3600"/>
              <a:buFont typeface="Times New Roman"/>
              <a:buNone/>
            </a:pPr>
            <a:r>
              <a:rPr lang="en-US" sz="2800"/>
              <a:t>(Data Analysis &amp; Visualization)</a:t>
            </a:r>
            <a:endParaRPr sz="2800"/>
          </a:p>
        </p:txBody>
      </p:sp>
      <p:sp>
        <p:nvSpPr>
          <p:cNvPr id="4" name="TextBox 3">
            <a:extLst>
              <a:ext uri="{FF2B5EF4-FFF2-40B4-BE49-F238E27FC236}">
                <a16:creationId xmlns:a16="http://schemas.microsoft.com/office/drawing/2014/main" id="{3FA0279A-2A5A-D1D4-54D7-7486CC56F91B}"/>
              </a:ext>
            </a:extLst>
          </p:cNvPr>
          <p:cNvSpPr txBox="1"/>
          <p:nvPr/>
        </p:nvSpPr>
        <p:spPr>
          <a:xfrm>
            <a:off x="1785938" y="2814638"/>
            <a:ext cx="957262" cy="369332"/>
          </a:xfrm>
          <a:prstGeom prst="rect">
            <a:avLst/>
          </a:prstGeom>
          <a:noFill/>
        </p:spPr>
        <p:txBody>
          <a:bodyPr wrap="square" rtlCol="0">
            <a:spAutoFit/>
          </a:bodyPr>
          <a:lstStyle/>
          <a:p>
            <a:pPr algn="ctr"/>
            <a:r>
              <a:rPr lang="en-US" sz="1800" b="1" dirty="0">
                <a:solidFill>
                  <a:schemeClr val="bg1"/>
                </a:solidFill>
                <a:latin typeface="Times New Roman" panose="02020603050405020304" pitchFamily="18" charset="0"/>
                <a:cs typeface="Times New Roman" panose="02020603050405020304" pitchFamily="18" charset="0"/>
              </a:rPr>
              <a:t>+13.1%</a:t>
            </a:r>
          </a:p>
        </p:txBody>
      </p:sp>
      <p:sp>
        <p:nvSpPr>
          <p:cNvPr id="5" name="TextBox 4">
            <a:extLst>
              <a:ext uri="{FF2B5EF4-FFF2-40B4-BE49-F238E27FC236}">
                <a16:creationId xmlns:a16="http://schemas.microsoft.com/office/drawing/2014/main" id="{51900A71-13C5-23DB-941C-43B626384B50}"/>
              </a:ext>
            </a:extLst>
          </p:cNvPr>
          <p:cNvSpPr txBox="1"/>
          <p:nvPr/>
        </p:nvSpPr>
        <p:spPr>
          <a:xfrm>
            <a:off x="3531877" y="4094391"/>
            <a:ext cx="957262" cy="369332"/>
          </a:xfrm>
          <a:prstGeom prst="rect">
            <a:avLst/>
          </a:prstGeom>
          <a:noFill/>
        </p:spPr>
        <p:txBody>
          <a:bodyPr wrap="square" rtlCol="0">
            <a:spAutoFit/>
          </a:bodyPr>
          <a:lstStyle/>
          <a:p>
            <a:pPr algn="ctr"/>
            <a:r>
              <a:rPr lang="en-US" sz="1800" b="1" dirty="0">
                <a:solidFill>
                  <a:schemeClr val="bg1"/>
                </a:solidFill>
                <a:latin typeface="Times New Roman" panose="02020603050405020304" pitchFamily="18" charset="0"/>
                <a:cs typeface="Times New Roman" panose="02020603050405020304" pitchFamily="18" charset="0"/>
              </a:rPr>
              <a:t>+2.2%</a:t>
            </a:r>
          </a:p>
        </p:txBody>
      </p:sp>
      <p:sp>
        <p:nvSpPr>
          <p:cNvPr id="6" name="TextBox 5">
            <a:extLst>
              <a:ext uri="{FF2B5EF4-FFF2-40B4-BE49-F238E27FC236}">
                <a16:creationId xmlns:a16="http://schemas.microsoft.com/office/drawing/2014/main" id="{D2BCE14B-864D-0C6D-6F7B-D15E30B5FC7F}"/>
              </a:ext>
            </a:extLst>
          </p:cNvPr>
          <p:cNvSpPr txBox="1"/>
          <p:nvPr/>
        </p:nvSpPr>
        <p:spPr>
          <a:xfrm>
            <a:off x="5289709" y="2629972"/>
            <a:ext cx="957262" cy="369332"/>
          </a:xfrm>
          <a:prstGeom prst="rect">
            <a:avLst/>
          </a:prstGeom>
          <a:noFill/>
        </p:spPr>
        <p:txBody>
          <a:bodyPr wrap="square" rtlCol="0">
            <a:spAutoFit/>
          </a:bodyPr>
          <a:lstStyle/>
          <a:p>
            <a:pPr algn="ctr"/>
            <a:r>
              <a:rPr lang="en-US" sz="1800" b="1" dirty="0">
                <a:solidFill>
                  <a:schemeClr val="bg1"/>
                </a:solidFill>
                <a:latin typeface="Times New Roman" panose="02020603050405020304" pitchFamily="18" charset="0"/>
                <a:cs typeface="Times New Roman" panose="02020603050405020304" pitchFamily="18" charset="0"/>
              </a:rPr>
              <a:t>+16.8%</a:t>
            </a:r>
          </a:p>
        </p:txBody>
      </p:sp>
      <p:sp>
        <p:nvSpPr>
          <p:cNvPr id="7" name="TextBox 6">
            <a:extLst>
              <a:ext uri="{FF2B5EF4-FFF2-40B4-BE49-F238E27FC236}">
                <a16:creationId xmlns:a16="http://schemas.microsoft.com/office/drawing/2014/main" id="{FBBF8074-0C67-1E75-CBE4-5745355F3142}"/>
              </a:ext>
            </a:extLst>
          </p:cNvPr>
          <p:cNvSpPr txBox="1"/>
          <p:nvPr/>
        </p:nvSpPr>
        <p:spPr>
          <a:xfrm>
            <a:off x="7059901" y="3571469"/>
            <a:ext cx="957262" cy="369332"/>
          </a:xfrm>
          <a:prstGeom prst="rect">
            <a:avLst/>
          </a:prstGeom>
          <a:noFill/>
        </p:spPr>
        <p:txBody>
          <a:bodyPr wrap="square" rtlCol="0">
            <a:spAutoFit/>
          </a:bodyPr>
          <a:lstStyle/>
          <a:p>
            <a:pPr algn="ctr"/>
            <a:r>
              <a:rPr lang="en-US" sz="1800" b="1" dirty="0">
                <a:solidFill>
                  <a:schemeClr val="bg1"/>
                </a:solidFill>
                <a:latin typeface="Times New Roman" panose="02020603050405020304" pitchFamily="18" charset="0"/>
                <a:cs typeface="Times New Roman" panose="02020603050405020304" pitchFamily="18" charset="0"/>
              </a:rPr>
              <a:t>-1.2%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3"/>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24</a:t>
            </a:fld>
            <a:endParaRPr>
              <a:latin typeface="Times New Roman"/>
              <a:ea typeface="Times New Roman"/>
              <a:cs typeface="Times New Roman"/>
              <a:sym typeface="Times New Roman"/>
            </a:endParaRPr>
          </a:p>
        </p:txBody>
      </p:sp>
      <p:sp>
        <p:nvSpPr>
          <p:cNvPr id="324" name="Google Shape;324;p23"/>
          <p:cNvSpPr txBox="1">
            <a:spLocks noGrp="1"/>
          </p:cNvSpPr>
          <p:nvPr>
            <p:ph type="title"/>
          </p:nvPr>
        </p:nvSpPr>
        <p:spPr>
          <a:xfrm>
            <a:off x="1470191" y="180306"/>
            <a:ext cx="6701691" cy="1217212"/>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Model Building &amp; Testing</a:t>
            </a:r>
            <a:endParaRPr dirty="0"/>
          </a:p>
        </p:txBody>
      </p:sp>
      <p:sp>
        <p:nvSpPr>
          <p:cNvPr id="325" name="Google Shape;325;p23"/>
          <p:cNvSpPr txBox="1"/>
          <p:nvPr/>
        </p:nvSpPr>
        <p:spPr>
          <a:xfrm>
            <a:off x="372949" y="1859279"/>
            <a:ext cx="8398101" cy="4114801"/>
          </a:xfrm>
          <a:prstGeom prst="rect">
            <a:avLst/>
          </a:prstGeom>
          <a:noFill/>
          <a:ln>
            <a:noFill/>
          </a:ln>
        </p:spPr>
        <p:txBody>
          <a:bodyPr spcFirstLastPara="1" wrap="square" lIns="54850" tIns="91425" rIns="91425" bIns="45700" anchor="t" anchorCtr="0">
            <a:noAutofit/>
          </a:bodyPr>
          <a:lstStyle/>
          <a:p>
            <a:pPr marL="438912" marR="0" lvl="0" indent="-198120" algn="l" rtl="0">
              <a:lnSpc>
                <a:spcPct val="150000"/>
              </a:lnSpc>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pic>
        <p:nvPicPr>
          <p:cNvPr id="326" name="Google Shape;326;p23"/>
          <p:cNvPicPr preferRelativeResize="0"/>
          <p:nvPr/>
        </p:nvPicPr>
        <p:blipFill rotWithShape="1">
          <a:blip r:embed="rId3">
            <a:alphaModFix/>
          </a:blip>
          <a:srcRect/>
          <a:stretch/>
        </p:blipFill>
        <p:spPr>
          <a:xfrm>
            <a:off x="7673809" y="180306"/>
            <a:ext cx="1097280" cy="1097280"/>
          </a:xfrm>
          <a:prstGeom prst="rect">
            <a:avLst/>
          </a:prstGeom>
          <a:noFill/>
          <a:ln>
            <a:noFill/>
          </a:ln>
        </p:spPr>
      </p:pic>
      <p:sp>
        <p:nvSpPr>
          <p:cNvPr id="327" name="Google Shape;327;p23"/>
          <p:cNvSpPr txBox="1"/>
          <p:nvPr/>
        </p:nvSpPr>
        <p:spPr>
          <a:xfrm>
            <a:off x="372911" y="1628399"/>
            <a:ext cx="8398200" cy="4114800"/>
          </a:xfrm>
          <a:prstGeom prst="rect">
            <a:avLst/>
          </a:prstGeom>
          <a:noFill/>
          <a:ln>
            <a:noFill/>
          </a:ln>
        </p:spPr>
        <p:txBody>
          <a:bodyPr spcFirstLastPara="1" wrap="square" lIns="54850" tIns="91425" rIns="91425" bIns="45700" anchor="t" anchorCtr="0">
            <a:noAutofit/>
          </a:bodyPr>
          <a:lstStyle/>
          <a:p>
            <a:pPr marL="438912" marR="0" lvl="0" indent="-370840" algn="l" rtl="0">
              <a:lnSpc>
                <a:spcPct val="150000"/>
              </a:lnSpc>
              <a:spcBef>
                <a:spcPts val="0"/>
              </a:spcBef>
              <a:spcAft>
                <a:spcPts val="0"/>
              </a:spcAft>
              <a:buClr>
                <a:schemeClr val="accent1"/>
              </a:buClr>
              <a:buSzPts val="2400"/>
              <a:buFont typeface="Noto Sans Symbols"/>
              <a:buChar char="◼"/>
            </a:pPr>
            <a:r>
              <a:rPr lang="en-US" sz="2400" dirty="0">
                <a:solidFill>
                  <a:srgbClr val="000000"/>
                </a:solidFill>
                <a:latin typeface="Times New Roman"/>
                <a:ea typeface="Times New Roman"/>
                <a:cs typeface="Times New Roman"/>
                <a:sym typeface="Times New Roman"/>
              </a:rPr>
              <a:t>After performing exploratory data analysis (EDA) and visualization, the next step is building and testing a model</a:t>
            </a:r>
            <a:endParaRPr sz="2400" dirty="0"/>
          </a:p>
          <a:p>
            <a:pPr marL="438912" marR="0" lvl="0" indent="-370840" algn="l" rtl="0">
              <a:lnSpc>
                <a:spcPct val="150000"/>
              </a:lnSpc>
              <a:spcBef>
                <a:spcPts val="1200"/>
              </a:spcBef>
              <a:spcAft>
                <a:spcPts val="0"/>
              </a:spcAft>
              <a:buClr>
                <a:schemeClr val="accent1"/>
              </a:buClr>
              <a:buSzPts val="2400"/>
              <a:buFont typeface="Noto Sans Symbols"/>
              <a:buChar char="◼"/>
            </a:pPr>
            <a:r>
              <a:rPr lang="en-US" sz="2400" dirty="0">
                <a:solidFill>
                  <a:srgbClr val="000000"/>
                </a:solidFill>
                <a:latin typeface="Times New Roman"/>
                <a:ea typeface="Times New Roman"/>
                <a:cs typeface="Times New Roman"/>
                <a:sym typeface="Times New Roman"/>
              </a:rPr>
              <a:t>The EDA and visualization phase serve to lay out a foundation to build a more accurate and reliable model by revealing variable relationships</a:t>
            </a:r>
            <a:endParaRPr sz="2400" dirty="0"/>
          </a:p>
          <a:p>
            <a:pPr marL="220472" marR="0" lvl="0" indent="0" algn="l" rtl="0">
              <a:lnSpc>
                <a:spcPct val="150000"/>
              </a:lnSpc>
              <a:spcBef>
                <a:spcPts val="1200"/>
              </a:spcBef>
              <a:spcAft>
                <a:spcPts val="0"/>
              </a:spcAft>
              <a:buClr>
                <a:schemeClr val="accent1"/>
              </a:buClr>
              <a:buSzPts val="1600"/>
              <a:buFont typeface="Noto Sans Symbols"/>
              <a:buNone/>
            </a:pPr>
            <a:endParaRPr sz="2400" dirty="0">
              <a:solidFill>
                <a:srgbClr val="000000"/>
              </a:solidFill>
              <a:latin typeface="Times New Roman"/>
              <a:ea typeface="Times New Roman"/>
              <a:cs typeface="Times New Roman"/>
              <a:sym typeface="Times New Roman"/>
            </a:endParaRPr>
          </a:p>
          <a:p>
            <a:pPr marL="438912" marR="0" lvl="0" indent="-218440" algn="l" rtl="0">
              <a:lnSpc>
                <a:spcPct val="150000"/>
              </a:lnSpc>
              <a:spcBef>
                <a:spcPts val="1200"/>
              </a:spcBef>
              <a:spcAft>
                <a:spcPts val="0"/>
              </a:spcAft>
              <a:buClr>
                <a:schemeClr val="accent1"/>
              </a:buClr>
              <a:buSzPts val="1600"/>
              <a:buFont typeface="Noto Sans Symbols"/>
              <a:buNone/>
            </a:pPr>
            <a:endParaRPr sz="20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3ad9d644c69_0_13"/>
          <p:cNvSpPr txBox="1">
            <a:spLocks noGrp="1"/>
          </p:cNvSpPr>
          <p:nvPr>
            <p:ph type="sldNum" idx="12"/>
          </p:nvPr>
        </p:nvSpPr>
        <p:spPr>
          <a:xfrm>
            <a:off x="8204396" y="6476999"/>
            <a:ext cx="733800" cy="27420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25</a:t>
            </a:fld>
            <a:endParaRPr>
              <a:latin typeface="Times New Roman"/>
              <a:ea typeface="Times New Roman"/>
              <a:cs typeface="Times New Roman"/>
              <a:sym typeface="Times New Roman"/>
            </a:endParaRPr>
          </a:p>
        </p:txBody>
      </p:sp>
      <p:sp>
        <p:nvSpPr>
          <p:cNvPr id="334" name="Google Shape;334;g3ad9d644c69_0_13"/>
          <p:cNvSpPr txBox="1">
            <a:spLocks noGrp="1"/>
          </p:cNvSpPr>
          <p:nvPr>
            <p:ph type="title"/>
          </p:nvPr>
        </p:nvSpPr>
        <p:spPr>
          <a:xfrm>
            <a:off x="1221150" y="139160"/>
            <a:ext cx="6701700" cy="12171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Model Building &amp; Testing</a:t>
            </a:r>
            <a:endParaRPr dirty="0"/>
          </a:p>
        </p:txBody>
      </p:sp>
      <p:sp>
        <p:nvSpPr>
          <p:cNvPr id="335" name="Google Shape;335;g3ad9d644c69_0_13"/>
          <p:cNvSpPr txBox="1"/>
          <p:nvPr/>
        </p:nvSpPr>
        <p:spPr>
          <a:xfrm>
            <a:off x="372949" y="1859279"/>
            <a:ext cx="8398200" cy="4114800"/>
          </a:xfrm>
          <a:prstGeom prst="rect">
            <a:avLst/>
          </a:prstGeom>
          <a:noFill/>
          <a:ln>
            <a:noFill/>
          </a:ln>
        </p:spPr>
        <p:txBody>
          <a:bodyPr spcFirstLastPara="1" wrap="square" lIns="54850" tIns="91425" rIns="91425" bIns="45700" anchor="t" anchorCtr="0">
            <a:noAutofit/>
          </a:bodyPr>
          <a:lstStyle/>
          <a:p>
            <a:pPr marL="438912" marR="0" lvl="0" indent="-198120" algn="l" rtl="0">
              <a:lnSpc>
                <a:spcPct val="150000"/>
              </a:lnSpc>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pic>
        <p:nvPicPr>
          <p:cNvPr id="336" name="Google Shape;336;g3ad9d644c69_0_13"/>
          <p:cNvPicPr preferRelativeResize="0"/>
          <p:nvPr/>
        </p:nvPicPr>
        <p:blipFill rotWithShape="1">
          <a:blip r:embed="rId3">
            <a:alphaModFix/>
          </a:blip>
          <a:srcRect/>
          <a:stretch/>
        </p:blipFill>
        <p:spPr>
          <a:xfrm>
            <a:off x="240084" y="139160"/>
            <a:ext cx="1097280" cy="1097280"/>
          </a:xfrm>
          <a:prstGeom prst="rect">
            <a:avLst/>
          </a:prstGeom>
          <a:noFill/>
          <a:ln>
            <a:noFill/>
          </a:ln>
        </p:spPr>
      </p:pic>
      <p:sp>
        <p:nvSpPr>
          <p:cNvPr id="2" name="Google Shape;422;p30">
            <a:extLst>
              <a:ext uri="{FF2B5EF4-FFF2-40B4-BE49-F238E27FC236}">
                <a16:creationId xmlns:a16="http://schemas.microsoft.com/office/drawing/2014/main" id="{400D9BF1-4B8E-E45A-88DD-CEF7CD1A1023}"/>
              </a:ext>
            </a:extLst>
          </p:cNvPr>
          <p:cNvSpPr txBox="1"/>
          <p:nvPr/>
        </p:nvSpPr>
        <p:spPr>
          <a:xfrm>
            <a:off x="0" y="1759887"/>
            <a:ext cx="9067800" cy="5098113"/>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The model created for this project was an ordinal logistic regression model</a:t>
            </a:r>
            <a:endParaRPr sz="2200" dirty="0"/>
          </a:p>
          <a:p>
            <a:pPr marL="438912" marR="0" lvl="0" indent="-320040" algn="l" rtl="0">
              <a:lnSpc>
                <a:spcPct val="115000"/>
              </a:lnSpc>
              <a:spcBef>
                <a:spcPts val="1200"/>
              </a:spcBef>
              <a:spcAft>
                <a:spcPts val="0"/>
              </a:spcAft>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This decision was informed by the similar modeling processes in literature reviewed for this study and the choice to attempt to predict an ordinal outcome</a:t>
            </a:r>
            <a:endParaRPr sz="2200" dirty="0"/>
          </a:p>
          <a:p>
            <a:pPr marL="438912" lvl="0" indent="-320040">
              <a:lnSpc>
                <a:spcPct val="115000"/>
              </a:lnSpc>
              <a:spcBef>
                <a:spcPts val="1200"/>
              </a:spcBef>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A standard logistic regression model focuses on two outcomes, whereas ordinal logistic regression models handle outcomes with a natural order</a:t>
            </a:r>
          </a:p>
          <a:p>
            <a:pPr marL="438912" marR="0" lvl="0" indent="-320040" algn="l" rtl="0">
              <a:lnSpc>
                <a:spcPct val="115000"/>
              </a:lnSpc>
              <a:spcBef>
                <a:spcPts val="1200"/>
              </a:spcBef>
              <a:spcAft>
                <a:spcPts val="0"/>
              </a:spcAft>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The variable ALCOHOLRISK is the focus of the model, where the model will attempt to classify a student as having a low, moderate, or high risk of alcohol misuse based on a number of factors</a:t>
            </a:r>
            <a:endParaRPr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4"/>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26</a:t>
            </a:fld>
            <a:endParaRPr>
              <a:latin typeface="Times New Roman"/>
              <a:ea typeface="Times New Roman"/>
              <a:cs typeface="Times New Roman"/>
              <a:sym typeface="Times New Roman"/>
            </a:endParaRPr>
          </a:p>
        </p:txBody>
      </p:sp>
      <p:sp>
        <p:nvSpPr>
          <p:cNvPr id="344" name="Google Shape;344;p24"/>
          <p:cNvSpPr txBox="1">
            <a:spLocks noGrp="1"/>
          </p:cNvSpPr>
          <p:nvPr>
            <p:ph type="title"/>
          </p:nvPr>
        </p:nvSpPr>
        <p:spPr>
          <a:xfrm>
            <a:off x="1165800" y="0"/>
            <a:ext cx="68124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Model Building &amp; Testing</a:t>
            </a:r>
            <a:endParaRPr sz="3600" dirty="0"/>
          </a:p>
        </p:txBody>
      </p:sp>
      <p:sp>
        <p:nvSpPr>
          <p:cNvPr id="345" name="Google Shape;345;p24"/>
          <p:cNvSpPr txBox="1"/>
          <p:nvPr/>
        </p:nvSpPr>
        <p:spPr>
          <a:xfrm>
            <a:off x="76200" y="2076245"/>
            <a:ext cx="8991600" cy="3574200"/>
          </a:xfrm>
          <a:prstGeom prst="rect">
            <a:avLst/>
          </a:prstGeom>
          <a:noFill/>
          <a:ln>
            <a:noFill/>
          </a:ln>
        </p:spPr>
        <p:txBody>
          <a:bodyPr spcFirstLastPara="1" wrap="square" lIns="54850" tIns="91425" rIns="91425" bIns="45700" anchor="t" anchorCtr="0">
            <a:no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200" dirty="0">
                <a:solidFill>
                  <a:schemeClr val="dk1"/>
                </a:solidFill>
                <a:latin typeface="Times New Roman"/>
                <a:ea typeface="Times New Roman"/>
                <a:cs typeface="Times New Roman"/>
                <a:sym typeface="Times New Roman"/>
              </a:rPr>
              <a:t>After choosing predictors, missing values were cleared from every predictor column that would be used</a:t>
            </a:r>
            <a:endParaRPr sz="2200"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200" dirty="0">
                <a:solidFill>
                  <a:schemeClr val="dk1"/>
                </a:solidFill>
                <a:latin typeface="Times New Roman"/>
                <a:ea typeface="Times New Roman"/>
                <a:cs typeface="Times New Roman"/>
                <a:sym typeface="Times New Roman"/>
              </a:rPr>
              <a:t>This reduced the size of the data to 58,933 rows, which is still large, and some columns were reformatted for consistency and modeling standards</a:t>
            </a:r>
            <a:endParaRPr lang="en-US" sz="2200" dirty="0"/>
          </a:p>
        </p:txBody>
      </p:sp>
      <p:pic>
        <p:nvPicPr>
          <p:cNvPr id="346" name="Google Shape;346;p24"/>
          <p:cNvPicPr preferRelativeResize="0"/>
          <p:nvPr/>
        </p:nvPicPr>
        <p:blipFill rotWithShape="1">
          <a:blip r:embed="rId3">
            <a:alphaModFix/>
          </a:blip>
          <a:srcRect/>
          <a:stretch/>
        </p:blipFill>
        <p:spPr>
          <a:xfrm>
            <a:off x="7840980" y="152412"/>
            <a:ext cx="1097280" cy="10972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a:extLst>
            <a:ext uri="{FF2B5EF4-FFF2-40B4-BE49-F238E27FC236}">
              <a16:creationId xmlns:a16="http://schemas.microsoft.com/office/drawing/2014/main" id="{C28A8C7B-854A-3E71-658D-31B906845FF0}"/>
            </a:ext>
          </a:extLst>
        </p:cNvPr>
        <p:cNvGrpSpPr/>
        <p:nvPr/>
      </p:nvGrpSpPr>
      <p:grpSpPr>
        <a:xfrm>
          <a:off x="0" y="0"/>
          <a:ext cx="0" cy="0"/>
          <a:chOff x="0" y="0"/>
          <a:chExt cx="0" cy="0"/>
        </a:xfrm>
      </p:grpSpPr>
      <p:sp>
        <p:nvSpPr>
          <p:cNvPr id="343" name="Google Shape;343;p24">
            <a:extLst>
              <a:ext uri="{FF2B5EF4-FFF2-40B4-BE49-F238E27FC236}">
                <a16:creationId xmlns:a16="http://schemas.microsoft.com/office/drawing/2014/main" id="{C32E74FB-7126-A1A3-378E-4DA246BC0D95}"/>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27</a:t>
            </a:fld>
            <a:endParaRPr>
              <a:latin typeface="Times New Roman"/>
              <a:ea typeface="Times New Roman"/>
              <a:cs typeface="Times New Roman"/>
              <a:sym typeface="Times New Roman"/>
            </a:endParaRPr>
          </a:p>
        </p:txBody>
      </p:sp>
      <p:sp>
        <p:nvSpPr>
          <p:cNvPr id="344" name="Google Shape;344;p24">
            <a:extLst>
              <a:ext uri="{FF2B5EF4-FFF2-40B4-BE49-F238E27FC236}">
                <a16:creationId xmlns:a16="http://schemas.microsoft.com/office/drawing/2014/main" id="{B4FBB311-7129-9787-96F1-5AD64E27177F}"/>
              </a:ext>
            </a:extLst>
          </p:cNvPr>
          <p:cNvSpPr txBox="1">
            <a:spLocks noGrp="1"/>
          </p:cNvSpPr>
          <p:nvPr>
            <p:ph type="title"/>
          </p:nvPr>
        </p:nvSpPr>
        <p:spPr>
          <a:xfrm>
            <a:off x="1005840" y="-104820"/>
            <a:ext cx="68124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Model Building &amp; Testing</a:t>
            </a:r>
            <a:endParaRPr sz="3600" dirty="0"/>
          </a:p>
        </p:txBody>
      </p:sp>
      <p:sp>
        <p:nvSpPr>
          <p:cNvPr id="345" name="Google Shape;345;p24">
            <a:extLst>
              <a:ext uri="{FF2B5EF4-FFF2-40B4-BE49-F238E27FC236}">
                <a16:creationId xmlns:a16="http://schemas.microsoft.com/office/drawing/2014/main" id="{A1A36AA6-AB99-94AC-D1F4-C72E3F5647A9}"/>
              </a:ext>
            </a:extLst>
          </p:cNvPr>
          <p:cNvSpPr txBox="1"/>
          <p:nvPr/>
        </p:nvSpPr>
        <p:spPr>
          <a:xfrm>
            <a:off x="76200" y="1811475"/>
            <a:ext cx="8991600" cy="3574200"/>
          </a:xfrm>
          <a:prstGeom prst="rect">
            <a:avLst/>
          </a:prstGeom>
          <a:noFill/>
          <a:ln>
            <a:noFill/>
          </a:ln>
        </p:spPr>
        <p:txBody>
          <a:bodyPr spcFirstLastPara="1" wrap="square" lIns="54850" tIns="91425" rIns="91425" bIns="45700" anchor="t" anchorCtr="0">
            <a:noAutofit/>
          </a:bodyPr>
          <a:lstStyle/>
          <a:p>
            <a:pPr marL="438912" indent="-320040">
              <a:lnSpc>
                <a:spcPct val="115000"/>
              </a:lnSpc>
              <a:buClr>
                <a:schemeClr val="accent1"/>
              </a:buClr>
              <a:buSzPts val="1920"/>
              <a:buFont typeface="Noto Sans Symbols"/>
              <a:buChar char="◼"/>
            </a:pPr>
            <a:r>
              <a:rPr lang="en-US" sz="2200" dirty="0">
                <a:solidFill>
                  <a:schemeClr val="dk1"/>
                </a:solidFill>
                <a:latin typeface="Times New Roman"/>
                <a:ea typeface="Times New Roman"/>
                <a:cs typeface="Times New Roman"/>
                <a:sym typeface="Times New Roman"/>
              </a:rPr>
              <a:t>Additionally, two collinearity checks were performed to ensure that no variables had a prominent enough overlap to bias model results</a:t>
            </a:r>
            <a:endParaRPr sz="2200"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200" dirty="0">
                <a:solidFill>
                  <a:schemeClr val="dk1"/>
                </a:solidFill>
                <a:latin typeface="Times New Roman"/>
                <a:ea typeface="Times New Roman"/>
                <a:cs typeface="Times New Roman"/>
                <a:sym typeface="Times New Roman"/>
              </a:rPr>
              <a:t>If the collinearity checks failed, then principal component analysis would likely be required to eliminate collinearity</a:t>
            </a:r>
            <a:endParaRPr lang="en-US" sz="2200" dirty="0"/>
          </a:p>
          <a:p>
            <a:pPr marL="438912" lvl="0" indent="-320040">
              <a:lnSpc>
                <a:spcPct val="115000"/>
              </a:lnSpc>
              <a:spcBef>
                <a:spcPts val="1200"/>
              </a:spcBef>
              <a:buClr>
                <a:schemeClr val="accent1"/>
              </a:buClr>
              <a:buSzPts val="1920"/>
              <a:buFont typeface="Noto Sans Symbols"/>
              <a:buChar char="◼"/>
            </a:pPr>
            <a:r>
              <a:rPr lang="en-US" sz="2200" dirty="0">
                <a:solidFill>
                  <a:schemeClr val="dk1"/>
                </a:solidFill>
                <a:latin typeface="Times New Roman"/>
                <a:ea typeface="Times New Roman"/>
                <a:cs typeface="Times New Roman"/>
                <a:sym typeface="Times New Roman"/>
              </a:rPr>
              <a:t>Principal component analysis (PCA) is a statistical technique used to reduce redundancy and noise among similar variables by combining them into new, artificial variables</a:t>
            </a:r>
            <a:endParaRPr sz="2200" dirty="0"/>
          </a:p>
        </p:txBody>
      </p:sp>
      <p:pic>
        <p:nvPicPr>
          <p:cNvPr id="346" name="Google Shape;346;p24">
            <a:extLst>
              <a:ext uri="{FF2B5EF4-FFF2-40B4-BE49-F238E27FC236}">
                <a16:creationId xmlns:a16="http://schemas.microsoft.com/office/drawing/2014/main" id="{2192FCD2-6FE9-9B2F-9D23-2CF94F48798D}"/>
              </a:ext>
            </a:extLst>
          </p:cNvPr>
          <p:cNvPicPr preferRelativeResize="0"/>
          <p:nvPr/>
        </p:nvPicPr>
        <p:blipFill rotWithShape="1">
          <a:blip r:embed="rId3">
            <a:alphaModFix/>
          </a:blip>
          <a:srcRect/>
          <a:stretch/>
        </p:blipFill>
        <p:spPr>
          <a:xfrm>
            <a:off x="7655756" y="174675"/>
            <a:ext cx="1097280" cy="1097280"/>
          </a:xfrm>
          <a:prstGeom prst="rect">
            <a:avLst/>
          </a:prstGeom>
          <a:noFill/>
          <a:ln>
            <a:noFill/>
          </a:ln>
        </p:spPr>
      </p:pic>
    </p:spTree>
    <p:extLst>
      <p:ext uri="{BB962C8B-B14F-4D97-AF65-F5344CB8AC3E}">
        <p14:creationId xmlns:p14="http://schemas.microsoft.com/office/powerpoint/2010/main" val="321348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3" name="Google Shape;353;p25"/>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28</a:t>
            </a:fld>
            <a:endParaRPr>
              <a:latin typeface="Times New Roman"/>
              <a:ea typeface="Times New Roman"/>
              <a:cs typeface="Times New Roman"/>
              <a:sym typeface="Times New Roman"/>
            </a:endParaRPr>
          </a:p>
        </p:txBody>
      </p:sp>
      <p:pic>
        <p:nvPicPr>
          <p:cNvPr id="355" name="Google Shape;355;p25"/>
          <p:cNvPicPr preferRelativeResize="0"/>
          <p:nvPr/>
        </p:nvPicPr>
        <p:blipFill rotWithShape="1">
          <a:blip r:embed="rId3">
            <a:alphaModFix/>
          </a:blip>
          <a:srcRect/>
          <a:stretch/>
        </p:blipFill>
        <p:spPr>
          <a:xfrm>
            <a:off x="372949" y="154329"/>
            <a:ext cx="1097280" cy="1097280"/>
          </a:xfrm>
          <a:prstGeom prst="rect">
            <a:avLst/>
          </a:prstGeom>
          <a:noFill/>
          <a:ln>
            <a:noFill/>
          </a:ln>
        </p:spPr>
      </p:pic>
      <p:sp>
        <p:nvSpPr>
          <p:cNvPr id="356" name="Google Shape;356;p25"/>
          <p:cNvSpPr txBox="1"/>
          <p:nvPr/>
        </p:nvSpPr>
        <p:spPr>
          <a:xfrm>
            <a:off x="1470229" y="-133465"/>
            <a:ext cx="6812400" cy="1636800"/>
          </a:xfrm>
          <a:prstGeom prst="rect">
            <a:avLst/>
          </a:prstGeom>
          <a:noFill/>
          <a:ln>
            <a:noFill/>
          </a:ln>
        </p:spPr>
        <p:txBody>
          <a:bodyPr spcFirstLastPara="1" wrap="square" lIns="91425" tIns="45700" rIns="45700" bIns="45700" anchor="ctr" anchorCtr="0">
            <a:normAutofit/>
          </a:bodyPr>
          <a:lstStyle/>
          <a:p>
            <a:pPr marL="0" marR="0" lvl="0" indent="0" algn="ctr" rtl="0">
              <a:spcBef>
                <a:spcPts val="0"/>
              </a:spcBef>
              <a:spcAft>
                <a:spcPts val="0"/>
              </a:spcAft>
              <a:buClr>
                <a:srgbClr val="FFC700"/>
              </a:buClr>
              <a:buSzPts val="3600"/>
              <a:buFont typeface="Times New Roman"/>
              <a:buNone/>
            </a:pPr>
            <a:r>
              <a:rPr lang="en-US" sz="3600" b="1" dirty="0">
                <a:solidFill>
                  <a:srgbClr val="FFC700"/>
                </a:solidFill>
                <a:latin typeface="Times New Roman"/>
                <a:ea typeface="Times New Roman"/>
                <a:cs typeface="Times New Roman"/>
                <a:sym typeface="Times New Roman"/>
              </a:rPr>
              <a:t>Model Building &amp; Testing</a:t>
            </a:r>
            <a:endParaRPr sz="3600" b="1" dirty="0">
              <a:solidFill>
                <a:srgbClr val="FFC700"/>
              </a:solidFill>
              <a:latin typeface="Times New Roman"/>
              <a:ea typeface="Times New Roman"/>
              <a:cs typeface="Times New Roman"/>
              <a:sym typeface="Times New Roman"/>
            </a:endParaRPr>
          </a:p>
        </p:txBody>
      </p:sp>
      <p:pic>
        <p:nvPicPr>
          <p:cNvPr id="3" name="Picture 2" descr="A diagram of mental health scale&#10;&#10;AI-generated content may be incorrect.">
            <a:extLst>
              <a:ext uri="{FF2B5EF4-FFF2-40B4-BE49-F238E27FC236}">
                <a16:creationId xmlns:a16="http://schemas.microsoft.com/office/drawing/2014/main" id="{221618D3-3C89-F242-79E2-2EF736F589CF}"/>
              </a:ext>
            </a:extLst>
          </p:cNvPr>
          <p:cNvPicPr>
            <a:picLocks noChangeAspect="1"/>
          </p:cNvPicPr>
          <p:nvPr/>
        </p:nvPicPr>
        <p:blipFill>
          <a:blip r:embed="rId4"/>
          <a:stretch>
            <a:fillRect/>
          </a:stretch>
        </p:blipFill>
        <p:spPr>
          <a:xfrm>
            <a:off x="1659988" y="1503335"/>
            <a:ext cx="6083683" cy="53710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6"/>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29</a:t>
            </a:fld>
            <a:endParaRPr>
              <a:latin typeface="Times New Roman"/>
              <a:ea typeface="Times New Roman"/>
              <a:cs typeface="Times New Roman"/>
              <a:sym typeface="Times New Roman"/>
            </a:endParaRPr>
          </a:p>
        </p:txBody>
      </p:sp>
      <p:sp>
        <p:nvSpPr>
          <p:cNvPr id="363" name="Google Shape;363;p26"/>
          <p:cNvSpPr txBox="1"/>
          <p:nvPr/>
        </p:nvSpPr>
        <p:spPr>
          <a:xfrm>
            <a:off x="372949" y="1859279"/>
            <a:ext cx="8398101" cy="4114801"/>
          </a:xfrm>
          <a:prstGeom prst="rect">
            <a:avLst/>
          </a:prstGeom>
          <a:noFill/>
          <a:ln>
            <a:noFill/>
          </a:ln>
        </p:spPr>
        <p:txBody>
          <a:bodyPr spcFirstLastPara="1" wrap="square" lIns="54850" tIns="91425" rIns="91425" bIns="45700" anchor="t" anchorCtr="0">
            <a:noAutofit/>
          </a:bodyPr>
          <a:lstStyle/>
          <a:p>
            <a:pPr marL="438912" marR="0" lvl="0" indent="-198120" algn="l" rtl="0">
              <a:lnSpc>
                <a:spcPct val="150000"/>
              </a:lnSpc>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sp>
        <p:nvSpPr>
          <p:cNvPr id="364" name="Google Shape;364;p26"/>
          <p:cNvSpPr txBox="1"/>
          <p:nvPr/>
        </p:nvSpPr>
        <p:spPr>
          <a:xfrm>
            <a:off x="921320" y="-116927"/>
            <a:ext cx="7108800" cy="1636800"/>
          </a:xfrm>
          <a:prstGeom prst="rect">
            <a:avLst/>
          </a:prstGeom>
          <a:noFill/>
          <a:ln>
            <a:noFill/>
          </a:ln>
        </p:spPr>
        <p:txBody>
          <a:bodyPr spcFirstLastPara="1" wrap="square" lIns="91425" tIns="45700" rIns="45700" bIns="45700" anchor="ctr" anchorCtr="0">
            <a:normAutofit/>
          </a:bodyPr>
          <a:lstStyle/>
          <a:p>
            <a:pPr marL="0" marR="0" lvl="0" indent="0" algn="ctr" rtl="0">
              <a:spcBef>
                <a:spcPts val="0"/>
              </a:spcBef>
              <a:spcAft>
                <a:spcPts val="0"/>
              </a:spcAft>
              <a:buClr>
                <a:srgbClr val="FFC700"/>
              </a:buClr>
              <a:buSzPts val="3600"/>
              <a:buFont typeface="Times New Roman"/>
              <a:buNone/>
            </a:pPr>
            <a:r>
              <a:rPr lang="en-US" sz="3600" b="1" dirty="0">
                <a:solidFill>
                  <a:srgbClr val="FFC700"/>
                </a:solidFill>
                <a:latin typeface="Times New Roman"/>
                <a:ea typeface="Times New Roman"/>
                <a:cs typeface="Times New Roman"/>
                <a:sym typeface="Times New Roman"/>
              </a:rPr>
              <a:t>Model Building &amp; Testing</a:t>
            </a:r>
            <a:endParaRPr sz="3600" b="1" dirty="0">
              <a:solidFill>
                <a:srgbClr val="FFC700"/>
              </a:solidFill>
              <a:latin typeface="Times New Roman"/>
              <a:ea typeface="Times New Roman"/>
              <a:cs typeface="Times New Roman"/>
              <a:sym typeface="Times New Roman"/>
            </a:endParaRPr>
          </a:p>
        </p:txBody>
      </p:sp>
      <p:pic>
        <p:nvPicPr>
          <p:cNvPr id="365" name="Google Shape;365;p26"/>
          <p:cNvPicPr preferRelativeResize="0"/>
          <p:nvPr/>
        </p:nvPicPr>
        <p:blipFill rotWithShape="1">
          <a:blip r:embed="rId3">
            <a:alphaModFix/>
          </a:blip>
          <a:srcRect/>
          <a:stretch/>
        </p:blipFill>
        <p:spPr>
          <a:xfrm>
            <a:off x="7757597" y="152833"/>
            <a:ext cx="1097280" cy="1097280"/>
          </a:xfrm>
          <a:prstGeom prst="rect">
            <a:avLst/>
          </a:prstGeom>
          <a:noFill/>
          <a:ln>
            <a:noFill/>
          </a:ln>
        </p:spPr>
      </p:pic>
      <p:sp>
        <p:nvSpPr>
          <p:cNvPr id="2" name="Google Shape;422;p30">
            <a:extLst>
              <a:ext uri="{FF2B5EF4-FFF2-40B4-BE49-F238E27FC236}">
                <a16:creationId xmlns:a16="http://schemas.microsoft.com/office/drawing/2014/main" id="{09282217-B071-7F05-C0C4-CDF6139A207A}"/>
              </a:ext>
            </a:extLst>
          </p:cNvPr>
          <p:cNvSpPr txBox="1"/>
          <p:nvPr/>
        </p:nvSpPr>
        <p:spPr>
          <a:xfrm>
            <a:off x="0" y="1683687"/>
            <a:ext cx="9067800" cy="5098113"/>
          </a:xfrm>
          <a:prstGeom prst="rect">
            <a:avLst/>
          </a:prstGeom>
          <a:noFill/>
          <a:ln>
            <a:noFill/>
          </a:ln>
        </p:spPr>
        <p:txBody>
          <a:bodyPr spcFirstLastPara="1" wrap="square" lIns="54850" tIns="91425" rIns="91425" bIns="45700" anchor="t" anchorCtr="0">
            <a:normAutofit/>
          </a:bodyPr>
          <a:lstStyle/>
          <a:p>
            <a:pPr marL="438912" marR="0" lvl="0" indent="-320040" rtl="0">
              <a:lnSpc>
                <a:spcPct val="115000"/>
              </a:lnSpc>
              <a:spcBef>
                <a:spcPts val="0"/>
              </a:spcBef>
              <a:spcAft>
                <a:spcPts val="0"/>
              </a:spcAft>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During the modeling process, data is split into two groups; one being the training split and the other being the testing split</a:t>
            </a:r>
            <a:endParaRPr sz="2400" dirty="0"/>
          </a:p>
          <a:p>
            <a:pPr marL="438912" marR="0" lvl="0" indent="-320040" rtl="0">
              <a:lnSpc>
                <a:spcPct val="115000"/>
              </a:lnSpc>
              <a:spcBef>
                <a:spcPts val="1200"/>
              </a:spcBef>
              <a:spcAft>
                <a:spcPts val="0"/>
              </a:spcAft>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75% of the data was used to train the model by teaching it patterns</a:t>
            </a:r>
            <a:endParaRPr lang="en-US" sz="2400" dirty="0"/>
          </a:p>
          <a:p>
            <a:pPr marL="438912" lvl="0" indent="-320040">
              <a:lnSpc>
                <a:spcPct val="115000"/>
              </a:lnSpc>
              <a:spcBef>
                <a:spcPts val="1200"/>
              </a:spcBef>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25% was used to test the model by evaluating its accuracy on new unseen data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E9E8906B-5125-C13D-BB94-16AD13088200}"/>
            </a:ext>
          </a:extLst>
        </p:cNvPr>
        <p:cNvGrpSpPr/>
        <p:nvPr/>
      </p:nvGrpSpPr>
      <p:grpSpPr>
        <a:xfrm>
          <a:off x="0" y="0"/>
          <a:ext cx="0" cy="0"/>
          <a:chOff x="0" y="0"/>
          <a:chExt cx="0" cy="0"/>
        </a:xfrm>
      </p:grpSpPr>
      <p:sp>
        <p:nvSpPr>
          <p:cNvPr id="362" name="Google Shape;362;p26">
            <a:extLst>
              <a:ext uri="{FF2B5EF4-FFF2-40B4-BE49-F238E27FC236}">
                <a16:creationId xmlns:a16="http://schemas.microsoft.com/office/drawing/2014/main" id="{7F86E211-9384-5301-82CC-4FD7AB943017}"/>
              </a:ext>
            </a:extLst>
          </p:cNvPr>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30</a:t>
            </a:fld>
            <a:endParaRPr>
              <a:latin typeface="Times New Roman"/>
              <a:ea typeface="Times New Roman"/>
              <a:cs typeface="Times New Roman"/>
              <a:sym typeface="Times New Roman"/>
            </a:endParaRPr>
          </a:p>
        </p:txBody>
      </p:sp>
      <p:sp>
        <p:nvSpPr>
          <p:cNvPr id="363" name="Google Shape;363;p26">
            <a:extLst>
              <a:ext uri="{FF2B5EF4-FFF2-40B4-BE49-F238E27FC236}">
                <a16:creationId xmlns:a16="http://schemas.microsoft.com/office/drawing/2014/main" id="{DE0A9FB5-7E01-D88A-7F10-B45FB4989979}"/>
              </a:ext>
            </a:extLst>
          </p:cNvPr>
          <p:cNvSpPr txBox="1"/>
          <p:nvPr/>
        </p:nvSpPr>
        <p:spPr>
          <a:xfrm>
            <a:off x="372949" y="1859279"/>
            <a:ext cx="8398101" cy="4114801"/>
          </a:xfrm>
          <a:prstGeom prst="rect">
            <a:avLst/>
          </a:prstGeom>
          <a:noFill/>
          <a:ln>
            <a:noFill/>
          </a:ln>
        </p:spPr>
        <p:txBody>
          <a:bodyPr spcFirstLastPara="1" wrap="square" lIns="54850" tIns="91425" rIns="91425" bIns="45700" anchor="t" anchorCtr="0">
            <a:noAutofit/>
          </a:bodyPr>
          <a:lstStyle/>
          <a:p>
            <a:pPr marL="438912" marR="0" lvl="0" indent="-198120" algn="l" rtl="0">
              <a:lnSpc>
                <a:spcPct val="150000"/>
              </a:lnSpc>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sp>
        <p:nvSpPr>
          <p:cNvPr id="364" name="Google Shape;364;p26">
            <a:extLst>
              <a:ext uri="{FF2B5EF4-FFF2-40B4-BE49-F238E27FC236}">
                <a16:creationId xmlns:a16="http://schemas.microsoft.com/office/drawing/2014/main" id="{406749BA-DF0B-F4E6-7CC8-DA27BB1DC55F}"/>
              </a:ext>
            </a:extLst>
          </p:cNvPr>
          <p:cNvSpPr txBox="1"/>
          <p:nvPr/>
        </p:nvSpPr>
        <p:spPr>
          <a:xfrm>
            <a:off x="1095596" y="-98948"/>
            <a:ext cx="7108800" cy="1636800"/>
          </a:xfrm>
          <a:prstGeom prst="rect">
            <a:avLst/>
          </a:prstGeom>
          <a:noFill/>
          <a:ln>
            <a:noFill/>
          </a:ln>
        </p:spPr>
        <p:txBody>
          <a:bodyPr spcFirstLastPara="1" wrap="square" lIns="91425" tIns="45700" rIns="45700" bIns="45700" anchor="ctr" anchorCtr="0">
            <a:normAutofit/>
          </a:bodyPr>
          <a:lstStyle/>
          <a:p>
            <a:pPr marL="0" marR="0" lvl="0" indent="0" algn="ctr" rtl="0">
              <a:spcBef>
                <a:spcPts val="0"/>
              </a:spcBef>
              <a:spcAft>
                <a:spcPts val="0"/>
              </a:spcAft>
              <a:buClr>
                <a:srgbClr val="FFC700"/>
              </a:buClr>
              <a:buSzPts val="3600"/>
              <a:buFont typeface="Times New Roman"/>
              <a:buNone/>
            </a:pPr>
            <a:r>
              <a:rPr lang="en-US" sz="3600" b="1" dirty="0">
                <a:solidFill>
                  <a:srgbClr val="FFC700"/>
                </a:solidFill>
                <a:latin typeface="Times New Roman"/>
                <a:ea typeface="Times New Roman"/>
                <a:cs typeface="Times New Roman"/>
                <a:sym typeface="Times New Roman"/>
              </a:rPr>
              <a:t>Model Building &amp; Testing</a:t>
            </a:r>
            <a:endParaRPr sz="3600" b="1" dirty="0">
              <a:solidFill>
                <a:srgbClr val="FFC700"/>
              </a:solidFill>
              <a:latin typeface="Times New Roman"/>
              <a:ea typeface="Times New Roman"/>
              <a:cs typeface="Times New Roman"/>
              <a:sym typeface="Times New Roman"/>
            </a:endParaRPr>
          </a:p>
        </p:txBody>
      </p:sp>
      <p:pic>
        <p:nvPicPr>
          <p:cNvPr id="365" name="Google Shape;365;p26">
            <a:extLst>
              <a:ext uri="{FF2B5EF4-FFF2-40B4-BE49-F238E27FC236}">
                <a16:creationId xmlns:a16="http://schemas.microsoft.com/office/drawing/2014/main" id="{C0C77263-F7AF-AD13-9642-DEB58D522F8E}"/>
              </a:ext>
            </a:extLst>
          </p:cNvPr>
          <p:cNvPicPr preferRelativeResize="0"/>
          <p:nvPr/>
        </p:nvPicPr>
        <p:blipFill rotWithShape="1">
          <a:blip r:embed="rId3">
            <a:alphaModFix/>
          </a:blip>
          <a:srcRect/>
          <a:stretch/>
        </p:blipFill>
        <p:spPr>
          <a:xfrm>
            <a:off x="372680" y="170812"/>
            <a:ext cx="1097280" cy="1097280"/>
          </a:xfrm>
          <a:prstGeom prst="rect">
            <a:avLst/>
          </a:prstGeom>
          <a:noFill/>
          <a:ln>
            <a:noFill/>
          </a:ln>
        </p:spPr>
      </p:pic>
      <p:sp>
        <p:nvSpPr>
          <p:cNvPr id="4" name="TextBox 3">
            <a:extLst>
              <a:ext uri="{FF2B5EF4-FFF2-40B4-BE49-F238E27FC236}">
                <a16:creationId xmlns:a16="http://schemas.microsoft.com/office/drawing/2014/main" id="{A22AEA6C-3C83-F3ED-4DA3-4255676E01F2}"/>
              </a:ext>
            </a:extLst>
          </p:cNvPr>
          <p:cNvSpPr txBox="1"/>
          <p:nvPr/>
        </p:nvSpPr>
        <p:spPr>
          <a:xfrm>
            <a:off x="272955" y="1970679"/>
            <a:ext cx="8498095" cy="4415761"/>
          </a:xfrm>
          <a:prstGeom prst="rect">
            <a:avLst/>
          </a:prstGeom>
          <a:noFill/>
        </p:spPr>
        <p:txBody>
          <a:bodyPr wrap="square">
            <a:spAutoFit/>
          </a:bodyPr>
          <a:lstStyle/>
          <a:p>
            <a:pPr marL="438912" lvl="0" indent="-320040">
              <a:lnSpc>
                <a:spcPct val="115000"/>
              </a:lnSpc>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Upon running the model, some outputs were produced that give insights into the model performance</a:t>
            </a:r>
            <a:endParaRPr lang="en-US" sz="2200" dirty="0"/>
          </a:p>
          <a:p>
            <a:pPr marL="438912" lvl="0" indent="-320040">
              <a:lnSpc>
                <a:spcPct val="115000"/>
              </a:lnSpc>
              <a:spcBef>
                <a:spcPts val="1200"/>
              </a:spcBef>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The first of these is mean absolute error (MAE), which is the average size of the mistakes made by the model's predictions</a:t>
            </a:r>
            <a:endParaRPr lang="en-US" sz="2200" dirty="0"/>
          </a:p>
          <a:p>
            <a:pPr marL="438912" lvl="0" indent="-320040">
              <a:lnSpc>
                <a:spcPct val="115000"/>
              </a:lnSpc>
              <a:spcBef>
                <a:spcPts val="1200"/>
              </a:spcBef>
              <a:buClr>
                <a:schemeClr val="accent1"/>
              </a:buClr>
              <a:buSzPts val="1600"/>
              <a:buFont typeface="Noto Sans Symbols"/>
              <a:buChar char="◼"/>
            </a:pPr>
            <a:r>
              <a:rPr lang="en-US" sz="2200" dirty="0">
                <a:solidFill>
                  <a:schemeClr val="dk1"/>
                </a:solidFill>
                <a:latin typeface="Times New Roman"/>
                <a:ea typeface="Times New Roman"/>
                <a:cs typeface="Times New Roman"/>
                <a:sym typeface="Times New Roman"/>
              </a:rPr>
              <a:t>The MAE score was 0.278, which indicates that, on average, the model's predictions were less than 0.3 categories off, where the jump from low to moderate risk (or moderate to high risk) is one category</a:t>
            </a:r>
          </a:p>
          <a:p>
            <a:pPr marL="438912" indent="-320040">
              <a:lnSpc>
                <a:spcPct val="115000"/>
              </a:lnSpc>
              <a:spcBef>
                <a:spcPts val="1200"/>
              </a:spcBef>
              <a:buClr>
                <a:schemeClr val="accent1"/>
              </a:buClr>
              <a:buSzPts val="1600"/>
              <a:buFont typeface="Noto Sans Symbols"/>
              <a:buChar char="◼"/>
            </a:pPr>
            <a:r>
              <a:rPr lang="en-US" sz="2200" dirty="0">
                <a:solidFill>
                  <a:schemeClr val="dk1"/>
                </a:solidFill>
                <a:latin typeface="Times New Roman"/>
                <a:cs typeface="Times New Roman"/>
                <a:sym typeface="Times New Roman"/>
              </a:rPr>
              <a:t>Additionally, 98.7% of predictors were exact or only off by one category meaning that only 1.3% of the test data reflected the most severe misclassification</a:t>
            </a:r>
            <a:endParaRPr lang="en-US" sz="2200" dirty="0"/>
          </a:p>
        </p:txBody>
      </p:sp>
    </p:spTree>
    <p:extLst>
      <p:ext uri="{BB962C8B-B14F-4D97-AF65-F5344CB8AC3E}">
        <p14:creationId xmlns:p14="http://schemas.microsoft.com/office/powerpoint/2010/main" val="405117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3" name="Picture 2" descr="A table with numbers and text&#10;&#10;AI-generated content may be incorrect.">
            <a:extLst>
              <a:ext uri="{FF2B5EF4-FFF2-40B4-BE49-F238E27FC236}">
                <a16:creationId xmlns:a16="http://schemas.microsoft.com/office/drawing/2014/main" id="{35329FDC-5FE7-709A-1E81-6636F81399BE}"/>
              </a:ext>
            </a:extLst>
          </p:cNvPr>
          <p:cNvPicPr>
            <a:picLocks noChangeAspect="1"/>
          </p:cNvPicPr>
          <p:nvPr/>
        </p:nvPicPr>
        <p:blipFill>
          <a:blip r:embed="rId3"/>
          <a:srcRect r="1669"/>
          <a:stretch>
            <a:fillRect/>
          </a:stretch>
        </p:blipFill>
        <p:spPr>
          <a:xfrm>
            <a:off x="205740" y="1679128"/>
            <a:ext cx="8938260" cy="4935031"/>
          </a:xfrm>
          <a:prstGeom prst="rect">
            <a:avLst/>
          </a:prstGeom>
        </p:spPr>
      </p:pic>
      <p:sp>
        <p:nvSpPr>
          <p:cNvPr id="372" name="Google Shape;372;p27"/>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31</a:t>
            </a:fld>
            <a:endParaRPr>
              <a:latin typeface="Times New Roman"/>
              <a:ea typeface="Times New Roman"/>
              <a:cs typeface="Times New Roman"/>
              <a:sym typeface="Times New Roman"/>
            </a:endParaRPr>
          </a:p>
        </p:txBody>
      </p:sp>
      <p:sp>
        <p:nvSpPr>
          <p:cNvPr id="373" name="Google Shape;373;p27"/>
          <p:cNvSpPr txBox="1">
            <a:spLocks noGrp="1"/>
          </p:cNvSpPr>
          <p:nvPr>
            <p:ph type="title"/>
          </p:nvPr>
        </p:nvSpPr>
        <p:spPr>
          <a:xfrm>
            <a:off x="486769" y="-117335"/>
            <a:ext cx="68124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Model Building &amp; Testing</a:t>
            </a:r>
            <a:endParaRPr sz="3600"/>
          </a:p>
          <a:p>
            <a:pPr marL="0" lvl="0" indent="0" algn="ctr" rtl="0">
              <a:spcBef>
                <a:spcPts val="0"/>
              </a:spcBef>
              <a:spcAft>
                <a:spcPts val="0"/>
              </a:spcAft>
              <a:buClr>
                <a:srgbClr val="FFC700"/>
              </a:buClr>
              <a:buSzPts val="3600"/>
              <a:buFont typeface="Times New Roman"/>
              <a:buNone/>
            </a:pPr>
            <a:r>
              <a:rPr lang="en-US" sz="2800"/>
              <a:t>(Logistic Regression)</a:t>
            </a:r>
            <a:endParaRPr sz="2800"/>
          </a:p>
        </p:txBody>
      </p:sp>
      <p:pic>
        <p:nvPicPr>
          <p:cNvPr id="374" name="Google Shape;374;p27"/>
          <p:cNvPicPr preferRelativeResize="0"/>
          <p:nvPr/>
        </p:nvPicPr>
        <p:blipFill rotWithShape="1">
          <a:blip r:embed="rId4">
            <a:alphaModFix/>
          </a:blip>
          <a:srcRect/>
          <a:stretch/>
        </p:blipFill>
        <p:spPr>
          <a:xfrm>
            <a:off x="7661114" y="152413"/>
            <a:ext cx="1097280" cy="109728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28"/>
          <p:cNvPicPr preferRelativeResize="0"/>
          <p:nvPr/>
        </p:nvPicPr>
        <p:blipFill rotWithShape="1">
          <a:blip r:embed="rId3">
            <a:alphaModFix/>
          </a:blip>
          <a:srcRect/>
          <a:stretch/>
        </p:blipFill>
        <p:spPr>
          <a:xfrm>
            <a:off x="350520" y="240459"/>
            <a:ext cx="1097280" cy="1097280"/>
          </a:xfrm>
          <a:prstGeom prst="rect">
            <a:avLst/>
          </a:prstGeom>
          <a:noFill/>
          <a:ln>
            <a:noFill/>
          </a:ln>
        </p:spPr>
      </p:pic>
      <p:sp>
        <p:nvSpPr>
          <p:cNvPr id="391" name="Google Shape;391;p28"/>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32</a:t>
            </a:fld>
            <a:endParaRPr>
              <a:latin typeface="Times New Roman"/>
              <a:ea typeface="Times New Roman"/>
              <a:cs typeface="Times New Roman"/>
              <a:sym typeface="Times New Roman"/>
            </a:endParaRPr>
          </a:p>
        </p:txBody>
      </p:sp>
      <p:sp>
        <p:nvSpPr>
          <p:cNvPr id="392" name="Google Shape;392;p28"/>
          <p:cNvSpPr txBox="1">
            <a:spLocks noGrp="1"/>
          </p:cNvSpPr>
          <p:nvPr>
            <p:ph type="title"/>
          </p:nvPr>
        </p:nvSpPr>
        <p:spPr>
          <a:xfrm>
            <a:off x="630174"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dirty="0"/>
              <a:t>Results &amp; Discussion</a:t>
            </a:r>
            <a:endParaRPr dirty="0"/>
          </a:p>
        </p:txBody>
      </p:sp>
      <p:sp>
        <p:nvSpPr>
          <p:cNvPr id="393" name="Google Shape;393;p28"/>
          <p:cNvSpPr txBox="1"/>
          <p:nvPr/>
        </p:nvSpPr>
        <p:spPr>
          <a:xfrm>
            <a:off x="205740" y="1683687"/>
            <a:ext cx="8862060" cy="5098113"/>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The most impactful predictors of higher alcohol misuse risk are suicidal behavior and participation in Greek life</a:t>
            </a:r>
            <a:endParaRPr dirty="0"/>
          </a:p>
          <a:p>
            <a:pPr marL="731520" marR="0" lvl="1" indent="-274319" algn="l" rtl="0">
              <a:lnSpc>
                <a:spcPct val="115000"/>
              </a:lnSpc>
              <a:spcBef>
                <a:spcPts val="1200"/>
              </a:spcBef>
              <a:spcAft>
                <a:spcPts val="0"/>
              </a:spcAft>
              <a:buClr>
                <a:schemeClr val="accent2"/>
              </a:buClr>
              <a:buSzPts val="1800"/>
              <a:buFont typeface="Noto Sans Symbols"/>
              <a:buChar char="▪"/>
            </a:pPr>
            <a:r>
              <a:rPr lang="en-US" sz="2000" b="0" i="0" u="none" strike="noStrike" cap="none" dirty="0">
                <a:solidFill>
                  <a:schemeClr val="dk1"/>
                </a:solidFill>
                <a:latin typeface="Times New Roman"/>
                <a:ea typeface="Times New Roman"/>
                <a:cs typeface="Times New Roman"/>
                <a:sym typeface="Times New Roman"/>
              </a:rPr>
              <a:t>Both factors align with previous literature</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The presence of psychological distress, loneliness, a lower GPA, lower quality of life, and depression show moderate-to-strong predictive power on higher alcohol misuse risk as well</a:t>
            </a:r>
            <a:endParaRPr dirty="0"/>
          </a:p>
          <a:p>
            <a:pPr marL="731520" marR="0" lvl="1" indent="-274319" algn="l" rtl="0">
              <a:lnSpc>
                <a:spcPct val="115000"/>
              </a:lnSpc>
              <a:spcBef>
                <a:spcPts val="1200"/>
              </a:spcBef>
              <a:spcAft>
                <a:spcPts val="0"/>
              </a:spcAft>
              <a:buClr>
                <a:schemeClr val="accent2"/>
              </a:buClr>
              <a:buSzPts val="1800"/>
              <a:buFont typeface="Noto Sans Symbols"/>
              <a:buChar char="▪"/>
            </a:pPr>
            <a:r>
              <a:rPr lang="en-US" sz="2000" b="0" i="0" u="none" strike="noStrike" cap="none" dirty="0">
                <a:solidFill>
                  <a:schemeClr val="dk1"/>
                </a:solidFill>
                <a:latin typeface="Times New Roman"/>
                <a:ea typeface="Times New Roman"/>
                <a:cs typeface="Times New Roman"/>
                <a:sym typeface="Times New Roman"/>
              </a:rPr>
              <a:t>These ideas are reinforced by many studies as well</a:t>
            </a:r>
            <a:endParaRPr sz="2000" b="0" i="0" u="none" strike="noStrike" cap="none" dirty="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pic>
        <p:nvPicPr>
          <p:cNvPr id="399" name="Google Shape;399;p29"/>
          <p:cNvPicPr preferRelativeResize="0"/>
          <p:nvPr/>
        </p:nvPicPr>
        <p:blipFill rotWithShape="1">
          <a:blip r:embed="rId3">
            <a:alphaModFix/>
          </a:blip>
          <a:srcRect/>
          <a:stretch/>
        </p:blipFill>
        <p:spPr>
          <a:xfrm>
            <a:off x="7474048" y="240459"/>
            <a:ext cx="1097280" cy="1097280"/>
          </a:xfrm>
          <a:prstGeom prst="rect">
            <a:avLst/>
          </a:prstGeom>
          <a:noFill/>
          <a:ln>
            <a:noFill/>
          </a:ln>
        </p:spPr>
      </p:pic>
      <p:sp>
        <p:nvSpPr>
          <p:cNvPr id="400" name="Google Shape;400;p29"/>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33</a:t>
            </a:fld>
            <a:endParaRPr>
              <a:latin typeface="Times New Roman"/>
              <a:ea typeface="Times New Roman"/>
              <a:cs typeface="Times New Roman"/>
              <a:sym typeface="Times New Roman"/>
            </a:endParaRPr>
          </a:p>
        </p:txBody>
      </p:sp>
      <p:sp>
        <p:nvSpPr>
          <p:cNvPr id="401" name="Google Shape;401;p29"/>
          <p:cNvSpPr txBox="1">
            <a:spLocks noGrp="1"/>
          </p:cNvSpPr>
          <p:nvPr>
            <p:ph type="title"/>
          </p:nvPr>
        </p:nvSpPr>
        <p:spPr>
          <a:xfrm>
            <a:off x="350520" y="-29289"/>
            <a:ext cx="8013192" cy="1636776"/>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Results &amp; Discussion</a:t>
            </a:r>
            <a:endParaRPr/>
          </a:p>
        </p:txBody>
      </p:sp>
      <p:sp>
        <p:nvSpPr>
          <p:cNvPr id="402" name="Google Shape;402;p29"/>
          <p:cNvSpPr txBox="1"/>
          <p:nvPr/>
        </p:nvSpPr>
        <p:spPr>
          <a:xfrm>
            <a:off x="140970" y="1607487"/>
            <a:ext cx="8862060" cy="5098113"/>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The majority of general mental health issues were stronger predictors than the actual mental health diagnoses</a:t>
            </a:r>
            <a:endParaRPr dirty="0"/>
          </a:p>
          <a:p>
            <a:pPr marL="731520" marR="0" lvl="1" indent="-274319" algn="l" rtl="0">
              <a:lnSpc>
                <a:spcPct val="115000"/>
              </a:lnSpc>
              <a:spcBef>
                <a:spcPts val="1200"/>
              </a:spcBef>
              <a:spcAft>
                <a:spcPts val="0"/>
              </a:spcAft>
              <a:buClr>
                <a:schemeClr val="accent2"/>
              </a:buClr>
              <a:buSzPts val="1800"/>
              <a:buFont typeface="Noto Sans Symbols"/>
              <a:buChar char="▪"/>
            </a:pPr>
            <a:r>
              <a:rPr lang="en-US" sz="2000" b="0" i="0" u="none" strike="noStrike" cap="none" dirty="0">
                <a:solidFill>
                  <a:schemeClr val="dk1"/>
                </a:solidFill>
                <a:latin typeface="Times New Roman"/>
                <a:ea typeface="Times New Roman"/>
                <a:cs typeface="Times New Roman"/>
                <a:sym typeface="Times New Roman"/>
              </a:rPr>
              <a:t>Suicidal behavior, psychological distress, loneliness, and lower quality of life had more impact on higher alcohol risk than any mental health diagnosis</a:t>
            </a:r>
            <a:endParaRPr lang="en-US"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The analysis phase showed Greek living situation to be more impactful, while the modeling phase showed Greek life participation to be more impactful</a:t>
            </a:r>
            <a:endParaRPr lang="en-US" dirty="0"/>
          </a:p>
          <a:p>
            <a:pPr marL="731520" marR="0" lvl="1" indent="-274319" algn="l" rtl="0">
              <a:lnSpc>
                <a:spcPct val="115000"/>
              </a:lnSpc>
              <a:spcBef>
                <a:spcPts val="1200"/>
              </a:spcBef>
              <a:spcAft>
                <a:spcPts val="0"/>
              </a:spcAft>
              <a:buClr>
                <a:schemeClr val="accent2"/>
              </a:buClr>
              <a:buSzPts val="1800"/>
              <a:buFont typeface="Noto Sans Symbols"/>
              <a:buChar char="▪"/>
            </a:pPr>
            <a:r>
              <a:rPr lang="en-US" sz="2000" b="0" i="0" u="none" strike="noStrike" cap="none" dirty="0">
                <a:solidFill>
                  <a:schemeClr val="dk1"/>
                </a:solidFill>
                <a:latin typeface="Times New Roman"/>
                <a:ea typeface="Times New Roman"/>
                <a:cs typeface="Times New Roman"/>
                <a:sym typeface="Times New Roman"/>
              </a:rPr>
              <a:t>Either way, this means that students who participate in Greek life need to be educated on the risks that alcohol misuse poses</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In this model, insomnia, sleep apnea, OCD, and resilience had no predictive power on alcohol risk</a:t>
            </a:r>
            <a:endParaRPr lang="en-US" dirty="0"/>
          </a:p>
          <a:p>
            <a:pPr marL="438912" marR="0" lvl="0" indent="-198120" algn="l" rtl="0">
              <a:spcBef>
                <a:spcPts val="1200"/>
              </a:spcBef>
              <a:spcAft>
                <a:spcPts val="0"/>
              </a:spcAft>
              <a:buClr>
                <a:schemeClr val="accent1"/>
              </a:buClr>
              <a:buSzPts val="1920"/>
              <a:buFont typeface="Noto Sans Symbols"/>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pic>
        <p:nvPicPr>
          <p:cNvPr id="418" name="Google Shape;418;p30"/>
          <p:cNvPicPr preferRelativeResize="0"/>
          <p:nvPr/>
        </p:nvPicPr>
        <p:blipFill rotWithShape="1">
          <a:blip r:embed="rId3">
            <a:alphaModFix/>
          </a:blip>
          <a:srcRect/>
          <a:stretch/>
        </p:blipFill>
        <p:spPr>
          <a:xfrm>
            <a:off x="350525" y="162775"/>
            <a:ext cx="1097280" cy="1097280"/>
          </a:xfrm>
          <a:prstGeom prst="rect">
            <a:avLst/>
          </a:prstGeom>
          <a:noFill/>
          <a:ln>
            <a:noFill/>
          </a:ln>
        </p:spPr>
      </p:pic>
      <p:sp>
        <p:nvSpPr>
          <p:cNvPr id="419" name="Google Shape;419;p30"/>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34</a:t>
            </a:fld>
            <a:endParaRPr>
              <a:latin typeface="Times New Roman"/>
              <a:ea typeface="Times New Roman"/>
              <a:cs typeface="Times New Roman"/>
              <a:sym typeface="Times New Roman"/>
            </a:endParaRPr>
          </a:p>
        </p:txBody>
      </p:sp>
      <p:sp>
        <p:nvSpPr>
          <p:cNvPr id="420" name="Google Shape;420;p30"/>
          <p:cNvSpPr txBox="1">
            <a:spLocks noGrp="1"/>
          </p:cNvSpPr>
          <p:nvPr>
            <p:ph type="title"/>
          </p:nvPr>
        </p:nvSpPr>
        <p:spPr>
          <a:xfrm>
            <a:off x="350520" y="-29289"/>
            <a:ext cx="80133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Conclusion</a:t>
            </a:r>
            <a:endParaRPr/>
          </a:p>
        </p:txBody>
      </p:sp>
      <p:sp>
        <p:nvSpPr>
          <p:cNvPr id="421" name="Google Shape;421;p30"/>
          <p:cNvSpPr txBox="1"/>
          <p:nvPr/>
        </p:nvSpPr>
        <p:spPr>
          <a:xfrm>
            <a:off x="205740" y="1683687"/>
            <a:ext cx="8862060" cy="5098113"/>
          </a:xfrm>
          <a:prstGeom prst="rect">
            <a:avLst/>
          </a:prstGeom>
          <a:noFill/>
          <a:ln>
            <a:noFill/>
          </a:ln>
        </p:spPr>
        <p:txBody>
          <a:bodyPr spcFirstLastPara="1" wrap="square" lIns="54850" tIns="91425" rIns="91425" bIns="45700" anchor="t" anchorCtr="0">
            <a:normAutofit/>
          </a:bodyPr>
          <a:lstStyle/>
          <a:p>
            <a:pPr marL="438912" marR="0" lvl="0" indent="-198120" algn="l" rtl="0">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sp>
        <p:nvSpPr>
          <p:cNvPr id="422" name="Google Shape;422;p30"/>
          <p:cNvSpPr txBox="1"/>
          <p:nvPr/>
        </p:nvSpPr>
        <p:spPr>
          <a:xfrm>
            <a:off x="0" y="1607511"/>
            <a:ext cx="9067800" cy="5174289"/>
          </a:xfrm>
          <a:prstGeom prst="rect">
            <a:avLst/>
          </a:prstGeom>
          <a:noFill/>
          <a:ln>
            <a:noFill/>
          </a:ln>
        </p:spPr>
        <p:txBody>
          <a:bodyPr spcFirstLastPara="1" wrap="square" lIns="54850" tIns="91425" rIns="91425" bIns="45700" anchor="t" anchorCtr="0">
            <a:normAutofit/>
          </a:bodyPr>
          <a:lstStyle/>
          <a:p>
            <a:pPr marL="438912" marR="0" lvl="0" indent="-320040" algn="l" rtl="0">
              <a:lnSpc>
                <a:spcPct val="115000"/>
              </a:lnSpc>
              <a:spcBef>
                <a:spcPts val="0"/>
              </a:spcBef>
              <a:spcAft>
                <a:spcPts val="0"/>
              </a:spcAft>
              <a:buClr>
                <a:schemeClr val="accent1"/>
              </a:buClr>
              <a:buSzPts val="1600"/>
              <a:buFont typeface="Noto Sans Symbols"/>
              <a:buChar char="◼"/>
            </a:pPr>
            <a:r>
              <a:rPr lang="en-US" sz="2000" dirty="0">
                <a:solidFill>
                  <a:schemeClr val="dk1"/>
                </a:solidFill>
                <a:latin typeface="Times New Roman"/>
                <a:ea typeface="Times New Roman"/>
                <a:cs typeface="Times New Roman"/>
                <a:sym typeface="Times New Roman"/>
              </a:rPr>
              <a:t>This study evolved from a general investigation of alcohol-related issues into an effort of capturing relationships between predictors and alcohol misuse risk</a:t>
            </a:r>
            <a:endParaRPr dirty="0"/>
          </a:p>
          <a:p>
            <a:pPr marL="438912" marR="0" lvl="0" indent="-320040" algn="l" rtl="0">
              <a:lnSpc>
                <a:spcPct val="115000"/>
              </a:lnSpc>
              <a:spcBef>
                <a:spcPts val="1200"/>
              </a:spcBef>
              <a:spcAft>
                <a:spcPts val="0"/>
              </a:spcAft>
              <a:buClr>
                <a:schemeClr val="accent1"/>
              </a:buClr>
              <a:buSzPts val="1600"/>
              <a:buFont typeface="Noto Sans Symbols"/>
              <a:buChar char="◼"/>
            </a:pPr>
            <a:r>
              <a:rPr lang="en-US" sz="2000" dirty="0">
                <a:solidFill>
                  <a:schemeClr val="dk1"/>
                </a:solidFill>
                <a:latin typeface="Times New Roman"/>
                <a:ea typeface="Times New Roman"/>
                <a:cs typeface="Times New Roman"/>
                <a:sym typeface="Times New Roman"/>
              </a:rPr>
              <a:t>The model, which had varied class sizes, produced a MAE of 0.278 and a within-1 value of 98.7%, indicating that the model performs better at capturing ordinal relationships than precisely identifying students in higher risk categories</a:t>
            </a:r>
          </a:p>
          <a:p>
            <a:pPr marL="438912" marR="0" lvl="0" indent="-320040" algn="l" rtl="0">
              <a:lnSpc>
                <a:spcPct val="115000"/>
              </a:lnSpc>
              <a:spcBef>
                <a:spcPts val="1200"/>
              </a:spcBef>
              <a:spcAft>
                <a:spcPts val="0"/>
              </a:spcAft>
              <a:buClr>
                <a:schemeClr val="accent1"/>
              </a:buClr>
              <a:buSzPts val="1600"/>
              <a:buFont typeface="Noto Sans Symbols"/>
              <a:buChar char="◼"/>
            </a:pPr>
            <a:r>
              <a:rPr lang="en-US" sz="2000" dirty="0">
                <a:solidFill>
                  <a:schemeClr val="dk1"/>
                </a:solidFill>
                <a:latin typeface="Times New Roman"/>
                <a:ea typeface="Times New Roman"/>
                <a:cs typeface="Times New Roman"/>
                <a:sym typeface="Times New Roman"/>
              </a:rPr>
              <a:t>Greek life participation/living showed strong correlation with and predictive power of higher alcohol risk</a:t>
            </a:r>
          </a:p>
          <a:p>
            <a:pPr marL="438912" marR="0" lvl="0" indent="-320040" algn="l" rtl="0">
              <a:lnSpc>
                <a:spcPct val="115000"/>
              </a:lnSpc>
              <a:spcBef>
                <a:spcPts val="1200"/>
              </a:spcBef>
              <a:spcAft>
                <a:spcPts val="0"/>
              </a:spcAft>
              <a:buClr>
                <a:schemeClr val="accent1"/>
              </a:buClr>
              <a:buSzPts val="1600"/>
              <a:buFont typeface="Noto Sans Symbols"/>
              <a:buChar char="◼"/>
            </a:pPr>
            <a:r>
              <a:rPr lang="en-US" sz="2000" dirty="0">
                <a:solidFill>
                  <a:schemeClr val="dk1"/>
                </a:solidFill>
                <a:latin typeface="Times New Roman"/>
                <a:ea typeface="Times New Roman"/>
                <a:cs typeface="Times New Roman"/>
                <a:sym typeface="Times New Roman"/>
              </a:rPr>
              <a:t>Mental health issues showed stronger predictive power than mental health diagnoses themselves, an issue sparsely discussed in previous literature</a:t>
            </a:r>
            <a:endParaRPr lang="en-US" dirty="0"/>
          </a:p>
          <a:p>
            <a:pPr marL="438912" marR="0" lvl="0" indent="-320040" algn="l" rtl="0">
              <a:lnSpc>
                <a:spcPct val="115000"/>
              </a:lnSpc>
              <a:spcBef>
                <a:spcPts val="1200"/>
              </a:spcBef>
              <a:spcAft>
                <a:spcPts val="1200"/>
              </a:spcAft>
              <a:buClr>
                <a:schemeClr val="accent1"/>
              </a:buClr>
              <a:buSzPts val="1600"/>
              <a:buFont typeface="Noto Sans Symbols"/>
              <a:buChar char="◼"/>
            </a:pPr>
            <a:r>
              <a:rPr lang="en-US" sz="2000" dirty="0">
                <a:solidFill>
                  <a:schemeClr val="dk1"/>
                </a:solidFill>
                <a:latin typeface="Times New Roman"/>
                <a:ea typeface="Times New Roman"/>
                <a:cs typeface="Times New Roman"/>
                <a:sym typeface="Times New Roman"/>
              </a:rPr>
              <a:t>This study is especially important for students, institutions, and researchers, as it outlines efforts for future research and education on predictors and consequences of alcohol misuse</a:t>
            </a:r>
            <a:endParaRPr lang="en-US"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g3ad8ce5045d_0_0"/>
          <p:cNvPicPr preferRelativeResize="0"/>
          <p:nvPr/>
        </p:nvPicPr>
        <p:blipFill rotWithShape="1">
          <a:blip r:embed="rId3">
            <a:alphaModFix/>
          </a:blip>
          <a:srcRect/>
          <a:stretch/>
        </p:blipFill>
        <p:spPr>
          <a:xfrm>
            <a:off x="7696200" y="152400"/>
            <a:ext cx="1097280" cy="1097280"/>
          </a:xfrm>
          <a:prstGeom prst="rect">
            <a:avLst/>
          </a:prstGeom>
          <a:noFill/>
          <a:ln>
            <a:noFill/>
          </a:ln>
        </p:spPr>
      </p:pic>
      <p:sp>
        <p:nvSpPr>
          <p:cNvPr id="409" name="Google Shape;409;g3ad8ce5045d_0_0"/>
          <p:cNvSpPr txBox="1">
            <a:spLocks noGrp="1"/>
          </p:cNvSpPr>
          <p:nvPr>
            <p:ph type="sldNum" idx="12"/>
          </p:nvPr>
        </p:nvSpPr>
        <p:spPr>
          <a:xfrm>
            <a:off x="8204396" y="6476999"/>
            <a:ext cx="733800" cy="27420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35</a:t>
            </a:fld>
            <a:endParaRPr>
              <a:latin typeface="Times New Roman"/>
              <a:ea typeface="Times New Roman"/>
              <a:cs typeface="Times New Roman"/>
              <a:sym typeface="Times New Roman"/>
            </a:endParaRPr>
          </a:p>
        </p:txBody>
      </p:sp>
      <p:sp>
        <p:nvSpPr>
          <p:cNvPr id="410" name="Google Shape;410;g3ad8ce5045d_0_0"/>
          <p:cNvSpPr txBox="1">
            <a:spLocks noGrp="1"/>
          </p:cNvSpPr>
          <p:nvPr>
            <p:ph type="title"/>
          </p:nvPr>
        </p:nvSpPr>
        <p:spPr>
          <a:xfrm>
            <a:off x="350524" y="-29300"/>
            <a:ext cx="68607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200"/>
              <a:t>Connection to Ribbons of Excellence</a:t>
            </a:r>
            <a:endParaRPr sz="3200"/>
          </a:p>
        </p:txBody>
      </p:sp>
      <p:sp>
        <p:nvSpPr>
          <p:cNvPr id="411" name="Google Shape;411;g3ad8ce5045d_0_0"/>
          <p:cNvSpPr txBox="1"/>
          <p:nvPr/>
        </p:nvSpPr>
        <p:spPr>
          <a:xfrm>
            <a:off x="205740" y="1683687"/>
            <a:ext cx="8862000" cy="5098200"/>
          </a:xfrm>
          <a:prstGeom prst="rect">
            <a:avLst/>
          </a:prstGeom>
          <a:noFill/>
          <a:ln>
            <a:noFill/>
          </a:ln>
        </p:spPr>
        <p:txBody>
          <a:bodyPr spcFirstLastPara="1" wrap="square" lIns="54850" tIns="91425" rIns="91425" bIns="45700" anchor="t" anchorCtr="0">
            <a:normAutofit/>
          </a:bodyPr>
          <a:lstStyle/>
          <a:p>
            <a:pPr marL="438912" marR="0" lvl="0" indent="-198120" algn="l" rtl="0">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sp>
        <p:nvSpPr>
          <p:cNvPr id="412" name="Google Shape;412;g3ad8ce5045d_0_0"/>
          <p:cNvSpPr txBox="1"/>
          <p:nvPr/>
        </p:nvSpPr>
        <p:spPr>
          <a:xfrm>
            <a:off x="0" y="1531950"/>
            <a:ext cx="9144000" cy="5326200"/>
          </a:xfrm>
          <a:prstGeom prst="rect">
            <a:avLst/>
          </a:prstGeom>
          <a:noFill/>
          <a:ln>
            <a:noFill/>
          </a:ln>
        </p:spPr>
        <p:txBody>
          <a:bodyPr spcFirstLastPara="1" wrap="square" lIns="54850" tIns="91425" rIns="91425" bIns="45700" anchor="t" anchorCtr="0">
            <a:normAutofit/>
          </a:bodyPr>
          <a:lstStyle/>
          <a:p>
            <a:pPr marL="438912" marR="0" lvl="0" indent="-339090" algn="l" rtl="0">
              <a:lnSpc>
                <a:spcPct val="115000"/>
              </a:lnSpc>
              <a:spcBef>
                <a:spcPts val="0"/>
              </a:spcBef>
              <a:spcAft>
                <a:spcPts val="1200"/>
              </a:spcAft>
              <a:buClr>
                <a:schemeClr val="accent1"/>
              </a:buClr>
              <a:buSzPts val="1900"/>
              <a:buFont typeface="Noto Sans Symbols"/>
              <a:buChar char="◼"/>
            </a:pPr>
            <a:endParaRPr sz="1900" dirty="0">
              <a:solidFill>
                <a:schemeClr val="dk1"/>
              </a:solidFill>
              <a:latin typeface="Times New Roman"/>
              <a:ea typeface="Times New Roman"/>
              <a:cs typeface="Times New Roman"/>
              <a:sym typeface="Times New Roman"/>
            </a:endParaRPr>
          </a:p>
        </p:txBody>
      </p:sp>
      <p:pic>
        <p:nvPicPr>
          <p:cNvPr id="7" name="Google Shape;121;p1" descr="A logo with colorful columns and text&#10;&#10;AI-generated content may be incorrect.">
            <a:extLst>
              <a:ext uri="{FF2B5EF4-FFF2-40B4-BE49-F238E27FC236}">
                <a16:creationId xmlns:a16="http://schemas.microsoft.com/office/drawing/2014/main" id="{F8366D7B-B629-3BBE-D72C-B17A87E83D48}"/>
              </a:ext>
            </a:extLst>
          </p:cNvPr>
          <p:cNvPicPr preferRelativeResize="0"/>
          <p:nvPr/>
        </p:nvPicPr>
        <p:blipFill rotWithShape="1">
          <a:blip r:embed="rId4">
            <a:alphaModFix/>
          </a:blip>
          <a:srcRect l="3035"/>
          <a:stretch>
            <a:fillRect/>
          </a:stretch>
        </p:blipFill>
        <p:spPr>
          <a:xfrm>
            <a:off x="2718517" y="2119001"/>
            <a:ext cx="3706965" cy="370436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BF6E38EE-675C-723F-27FC-DC6580DDFCB6}"/>
            </a:ext>
          </a:extLst>
        </p:cNvPr>
        <p:cNvGrpSpPr/>
        <p:nvPr/>
      </p:nvGrpSpPr>
      <p:grpSpPr>
        <a:xfrm>
          <a:off x="0" y="0"/>
          <a:ext cx="0" cy="0"/>
          <a:chOff x="0" y="0"/>
          <a:chExt cx="0" cy="0"/>
        </a:xfrm>
      </p:grpSpPr>
      <p:pic>
        <p:nvPicPr>
          <p:cNvPr id="408" name="Google Shape;408;g3ad8ce5045d_0_0">
            <a:extLst>
              <a:ext uri="{FF2B5EF4-FFF2-40B4-BE49-F238E27FC236}">
                <a16:creationId xmlns:a16="http://schemas.microsoft.com/office/drawing/2014/main" id="{C6B80E92-84CF-B24F-2845-50B547CB74B4}"/>
              </a:ext>
            </a:extLst>
          </p:cNvPr>
          <p:cNvPicPr preferRelativeResize="0"/>
          <p:nvPr/>
        </p:nvPicPr>
        <p:blipFill rotWithShape="1">
          <a:blip r:embed="rId3">
            <a:alphaModFix/>
          </a:blip>
          <a:srcRect/>
          <a:stretch/>
        </p:blipFill>
        <p:spPr>
          <a:xfrm>
            <a:off x="350524" y="195205"/>
            <a:ext cx="1097280" cy="1097280"/>
          </a:xfrm>
          <a:prstGeom prst="rect">
            <a:avLst/>
          </a:prstGeom>
          <a:noFill/>
          <a:ln>
            <a:noFill/>
          </a:ln>
        </p:spPr>
      </p:pic>
      <p:sp>
        <p:nvSpPr>
          <p:cNvPr id="409" name="Google Shape;409;g3ad8ce5045d_0_0">
            <a:extLst>
              <a:ext uri="{FF2B5EF4-FFF2-40B4-BE49-F238E27FC236}">
                <a16:creationId xmlns:a16="http://schemas.microsoft.com/office/drawing/2014/main" id="{771C592E-1B0B-F2B0-7E43-81EC5091EAF4}"/>
              </a:ext>
            </a:extLst>
          </p:cNvPr>
          <p:cNvSpPr txBox="1">
            <a:spLocks noGrp="1"/>
          </p:cNvSpPr>
          <p:nvPr>
            <p:ph type="sldNum" idx="12"/>
          </p:nvPr>
        </p:nvSpPr>
        <p:spPr>
          <a:xfrm>
            <a:off x="8204396" y="6476999"/>
            <a:ext cx="733800" cy="27420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36</a:t>
            </a:fld>
            <a:endParaRPr>
              <a:latin typeface="Times New Roman"/>
              <a:ea typeface="Times New Roman"/>
              <a:cs typeface="Times New Roman"/>
              <a:sym typeface="Times New Roman"/>
            </a:endParaRPr>
          </a:p>
        </p:txBody>
      </p:sp>
      <p:sp>
        <p:nvSpPr>
          <p:cNvPr id="410" name="Google Shape;410;g3ad8ce5045d_0_0">
            <a:extLst>
              <a:ext uri="{FF2B5EF4-FFF2-40B4-BE49-F238E27FC236}">
                <a16:creationId xmlns:a16="http://schemas.microsoft.com/office/drawing/2014/main" id="{73B22B65-1D23-AD20-59B2-6F0A6197CE86}"/>
              </a:ext>
            </a:extLst>
          </p:cNvPr>
          <p:cNvSpPr txBox="1">
            <a:spLocks noGrp="1"/>
          </p:cNvSpPr>
          <p:nvPr>
            <p:ph type="title"/>
          </p:nvPr>
        </p:nvSpPr>
        <p:spPr>
          <a:xfrm>
            <a:off x="1447804" y="-74555"/>
            <a:ext cx="6860700" cy="16368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200" dirty="0"/>
              <a:t>Resources</a:t>
            </a:r>
            <a:endParaRPr sz="3200" dirty="0"/>
          </a:p>
        </p:txBody>
      </p:sp>
      <p:sp>
        <p:nvSpPr>
          <p:cNvPr id="411" name="Google Shape;411;g3ad8ce5045d_0_0">
            <a:extLst>
              <a:ext uri="{FF2B5EF4-FFF2-40B4-BE49-F238E27FC236}">
                <a16:creationId xmlns:a16="http://schemas.microsoft.com/office/drawing/2014/main" id="{649898F1-9C38-73FA-AF52-68DDBCCF8137}"/>
              </a:ext>
            </a:extLst>
          </p:cNvPr>
          <p:cNvSpPr txBox="1"/>
          <p:nvPr/>
        </p:nvSpPr>
        <p:spPr>
          <a:xfrm>
            <a:off x="205740" y="1683687"/>
            <a:ext cx="8862000" cy="5098200"/>
          </a:xfrm>
          <a:prstGeom prst="rect">
            <a:avLst/>
          </a:prstGeom>
          <a:noFill/>
          <a:ln>
            <a:noFill/>
          </a:ln>
        </p:spPr>
        <p:txBody>
          <a:bodyPr spcFirstLastPara="1" wrap="square" lIns="54850" tIns="91425" rIns="91425" bIns="45700" anchor="t" anchorCtr="0">
            <a:normAutofit/>
          </a:bodyPr>
          <a:lstStyle/>
          <a:p>
            <a:pPr marL="438912" marR="0" lvl="0" indent="-198120" algn="l" rtl="0">
              <a:spcBef>
                <a:spcPts val="0"/>
              </a:spcBef>
              <a:spcAft>
                <a:spcPts val="0"/>
              </a:spcAft>
              <a:buClr>
                <a:schemeClr val="accent1"/>
              </a:buClr>
              <a:buSzPts val="1920"/>
              <a:buFont typeface="Noto Sans Symbols"/>
              <a:buNone/>
            </a:pPr>
            <a:endParaRPr sz="2400">
              <a:solidFill>
                <a:schemeClr val="dk1"/>
              </a:solidFill>
              <a:latin typeface="Times New Roman"/>
              <a:ea typeface="Times New Roman"/>
              <a:cs typeface="Times New Roman"/>
              <a:sym typeface="Times New Roman"/>
            </a:endParaRPr>
          </a:p>
        </p:txBody>
      </p:sp>
      <p:sp>
        <p:nvSpPr>
          <p:cNvPr id="412" name="Google Shape;412;g3ad8ce5045d_0_0">
            <a:extLst>
              <a:ext uri="{FF2B5EF4-FFF2-40B4-BE49-F238E27FC236}">
                <a16:creationId xmlns:a16="http://schemas.microsoft.com/office/drawing/2014/main" id="{402D841B-7BFA-394B-96E5-03ACC8C6317F}"/>
              </a:ext>
            </a:extLst>
          </p:cNvPr>
          <p:cNvSpPr txBox="1"/>
          <p:nvPr/>
        </p:nvSpPr>
        <p:spPr>
          <a:xfrm>
            <a:off x="0" y="1531950"/>
            <a:ext cx="9144000" cy="5326200"/>
          </a:xfrm>
          <a:prstGeom prst="rect">
            <a:avLst/>
          </a:prstGeom>
          <a:noFill/>
          <a:ln>
            <a:noFill/>
          </a:ln>
        </p:spPr>
        <p:txBody>
          <a:bodyPr spcFirstLastPara="1" wrap="square" lIns="54850" tIns="91425" rIns="91425" bIns="45700" anchor="t" anchorCtr="0">
            <a:normAutofit/>
          </a:bodyPr>
          <a:lstStyle/>
          <a:p>
            <a:pPr marL="438912" marR="0" lvl="0" indent="-339090" algn="l" rtl="0">
              <a:lnSpc>
                <a:spcPct val="115000"/>
              </a:lnSpc>
              <a:spcBef>
                <a:spcPts val="0"/>
              </a:spcBef>
              <a:spcAft>
                <a:spcPts val="1200"/>
              </a:spcAft>
              <a:buClr>
                <a:schemeClr val="accent1"/>
              </a:buClr>
              <a:buSzPts val="1900"/>
              <a:buFont typeface="Noto Sans Symbols"/>
              <a:buChar char="◼"/>
            </a:pPr>
            <a:endParaRPr sz="1900" dirty="0">
              <a:solidFill>
                <a:schemeClr val="dk1"/>
              </a:solidFill>
              <a:latin typeface="Times New Roman"/>
              <a:ea typeface="Times New Roman"/>
              <a:cs typeface="Times New Roman"/>
              <a:sym typeface="Times New Roman"/>
            </a:endParaRPr>
          </a:p>
        </p:txBody>
      </p:sp>
      <p:sp>
        <p:nvSpPr>
          <p:cNvPr id="5" name="Google Shape;422;p30">
            <a:extLst>
              <a:ext uri="{FF2B5EF4-FFF2-40B4-BE49-F238E27FC236}">
                <a16:creationId xmlns:a16="http://schemas.microsoft.com/office/drawing/2014/main" id="{C82085C5-9D21-0ECB-5141-7CEACB33873D}"/>
              </a:ext>
            </a:extLst>
          </p:cNvPr>
          <p:cNvSpPr txBox="1"/>
          <p:nvPr/>
        </p:nvSpPr>
        <p:spPr>
          <a:xfrm>
            <a:off x="0" y="2031376"/>
            <a:ext cx="9144000" cy="3008320"/>
          </a:xfrm>
          <a:prstGeom prst="rect">
            <a:avLst/>
          </a:prstGeom>
          <a:noFill/>
          <a:ln>
            <a:noFill/>
          </a:ln>
        </p:spPr>
        <p:txBody>
          <a:bodyPr spcFirstLastPara="1" wrap="square" lIns="54850" tIns="91425" rIns="91425" bIns="45700" anchor="t" anchorCtr="0">
            <a:normAutofit/>
          </a:bodyPr>
          <a:lstStyle/>
          <a:p>
            <a:pPr marL="438912" lvl="0" indent="-320040">
              <a:lnSpc>
                <a:spcPct val="115000"/>
              </a:lnSpc>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.talk about on-campus resources and link online resources</a:t>
            </a:r>
            <a:endParaRPr sz="2400" dirty="0"/>
          </a:p>
          <a:p>
            <a:pPr marL="438912" lvl="0" indent="-320040">
              <a:lnSpc>
                <a:spcPct val="115000"/>
              </a:lnSpc>
              <a:spcBef>
                <a:spcPts val="1200"/>
              </a:spcBef>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a:t>
            </a:r>
            <a:endParaRPr lang="en-US" sz="2400" dirty="0"/>
          </a:p>
          <a:p>
            <a:pPr marL="438912" lvl="0" indent="-320040">
              <a:lnSpc>
                <a:spcPct val="115000"/>
              </a:lnSpc>
              <a:spcBef>
                <a:spcPts val="1200"/>
              </a:spcBef>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a:t>
            </a:r>
          </a:p>
          <a:p>
            <a:pPr marL="438912" lvl="0" indent="-320040">
              <a:lnSpc>
                <a:spcPct val="115000"/>
              </a:lnSpc>
              <a:spcBef>
                <a:spcPts val="1200"/>
              </a:spcBef>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a:t>
            </a:r>
            <a:endParaRPr sz="2400" dirty="0"/>
          </a:p>
          <a:p>
            <a:pPr marL="438912" lvl="0" indent="-320040">
              <a:lnSpc>
                <a:spcPct val="115000"/>
              </a:lnSpc>
              <a:spcBef>
                <a:spcPts val="1200"/>
              </a:spcBef>
              <a:spcAft>
                <a:spcPts val="1200"/>
              </a:spcAft>
              <a:buClr>
                <a:schemeClr val="accent1"/>
              </a:buClr>
              <a:buSzPts val="1600"/>
              <a:buFont typeface="Noto Sans Symbols"/>
              <a:buChar char="◼"/>
            </a:pP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74536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pic>
        <p:nvPicPr>
          <p:cNvPr id="437" name="Google Shape;437;p31"/>
          <p:cNvPicPr preferRelativeResize="0"/>
          <p:nvPr/>
        </p:nvPicPr>
        <p:blipFill rotWithShape="1">
          <a:blip r:embed="rId3">
            <a:alphaModFix/>
          </a:blip>
          <a:srcRect/>
          <a:stretch/>
        </p:blipFill>
        <p:spPr>
          <a:xfrm>
            <a:off x="7696200" y="152400"/>
            <a:ext cx="1097280" cy="1097280"/>
          </a:xfrm>
          <a:prstGeom prst="rect">
            <a:avLst/>
          </a:prstGeom>
          <a:noFill/>
          <a:ln>
            <a:noFill/>
          </a:ln>
        </p:spPr>
      </p:pic>
      <p:sp>
        <p:nvSpPr>
          <p:cNvPr id="438" name="Google Shape;438;p31"/>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37</a:t>
            </a:fld>
            <a:endParaRPr>
              <a:latin typeface="Times New Roman"/>
              <a:ea typeface="Times New Roman"/>
              <a:cs typeface="Times New Roman"/>
              <a:sym typeface="Times New Roman"/>
            </a:endParaRPr>
          </a:p>
        </p:txBody>
      </p:sp>
      <p:sp>
        <p:nvSpPr>
          <p:cNvPr id="439" name="Google Shape;439;p31"/>
          <p:cNvSpPr txBox="1">
            <a:spLocks noGrp="1"/>
          </p:cNvSpPr>
          <p:nvPr>
            <p:ph type="title"/>
          </p:nvPr>
        </p:nvSpPr>
        <p:spPr>
          <a:xfrm>
            <a:off x="60960" y="152400"/>
            <a:ext cx="9144000" cy="12954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4500"/>
              <a:buFont typeface="Times New Roman"/>
              <a:buNone/>
            </a:pPr>
            <a:r>
              <a:rPr lang="en-US"/>
              <a:t>References</a:t>
            </a:r>
            <a:endParaRPr/>
          </a:p>
        </p:txBody>
      </p:sp>
      <p:sp>
        <p:nvSpPr>
          <p:cNvPr id="440" name="Google Shape;440;p31"/>
          <p:cNvSpPr txBox="1"/>
          <p:nvPr/>
        </p:nvSpPr>
        <p:spPr>
          <a:xfrm>
            <a:off x="188512" y="2365512"/>
            <a:ext cx="8915400" cy="3352800"/>
          </a:xfrm>
          <a:prstGeom prst="rect">
            <a:avLst/>
          </a:prstGeom>
          <a:noFill/>
          <a:ln>
            <a:noFill/>
          </a:ln>
        </p:spPr>
        <p:txBody>
          <a:bodyPr spcFirstLastPara="1" wrap="square" lIns="54850" tIns="91425" rIns="91425" bIns="45700" anchor="t" anchorCtr="0">
            <a:normAutofit/>
          </a:bodyPr>
          <a:lstStyle/>
          <a:p>
            <a:pPr marL="457200" marR="0" lvl="0" indent="-314960" algn="l" rtl="0">
              <a:spcBef>
                <a:spcPts val="0"/>
              </a:spcBef>
              <a:spcAft>
                <a:spcPts val="0"/>
              </a:spcAft>
              <a:buClr>
                <a:schemeClr val="accent1"/>
              </a:buClr>
              <a:buSzPts val="2240"/>
              <a:buFont typeface="Arial"/>
              <a:buNone/>
            </a:pPr>
            <a:endParaRPr sz="2800">
              <a:solidFill>
                <a:schemeClr val="dk1"/>
              </a:solidFill>
              <a:latin typeface="Arial"/>
              <a:ea typeface="Arial"/>
              <a:cs typeface="Arial"/>
              <a:sym typeface="Arial"/>
            </a:endParaRPr>
          </a:p>
        </p:txBody>
      </p:sp>
      <p:sp>
        <p:nvSpPr>
          <p:cNvPr id="441" name="Google Shape;441;p31"/>
          <p:cNvSpPr txBox="1"/>
          <p:nvPr/>
        </p:nvSpPr>
        <p:spPr>
          <a:xfrm>
            <a:off x="226557" y="1581066"/>
            <a:ext cx="8573362" cy="5124533"/>
          </a:xfrm>
          <a:prstGeom prst="rect">
            <a:avLst/>
          </a:prstGeom>
          <a:noFill/>
          <a:ln>
            <a:noFill/>
          </a:ln>
        </p:spPr>
        <p:txBody>
          <a:bodyPr spcFirstLastPara="1" wrap="square" lIns="54850" tIns="91425" rIns="91425" bIns="45700" anchor="t" anchorCtr="0">
            <a:normAutofit lnSpcReduction="10000"/>
          </a:bodyPr>
          <a:lstStyle/>
          <a:p>
            <a:pPr marL="438912" lvl="0" indent="-320040">
              <a:lnSpc>
                <a:spcPct val="105000"/>
              </a:lnSpc>
              <a:buClr>
                <a:schemeClr val="accent1"/>
              </a:buClr>
              <a:buSzPts val="1440"/>
              <a:buFont typeface="Noto Sans Symbols"/>
              <a:buChar char="◼"/>
            </a:pPr>
            <a:r>
              <a:rPr lang="en-US" sz="1800" dirty="0">
                <a:solidFill>
                  <a:schemeClr val="dk1"/>
                </a:solidFill>
                <a:latin typeface="Times New Roman"/>
                <a:ea typeface="Times New Roman"/>
                <a:cs typeface="Times New Roman"/>
                <a:sym typeface="Times New Roman"/>
              </a:rPr>
              <a:t> S. R. Kenney, G. T. DiGuiseppi, M. K. Meisel, S. G. Balestrieri, and N. P. Barnett, “Poor mental health, peer drinking norms, and alcohol risk in a social network of first-year college students,” Addictive Behaviors, vol. 84, pp. 151–159, 2018</a:t>
            </a:r>
          </a:p>
          <a:p>
            <a:pPr marL="438912" lvl="0" indent="-320040">
              <a:lnSpc>
                <a:spcPct val="105000"/>
              </a:lnSpc>
              <a:buClr>
                <a:schemeClr val="accent1"/>
              </a:buClr>
              <a:buSzPts val="1440"/>
              <a:buFont typeface="Noto Sans Symbols"/>
              <a:buChar char="◼"/>
            </a:pPr>
            <a:endParaRPr lang="en-US" sz="1800" dirty="0">
              <a:solidFill>
                <a:schemeClr val="dk1"/>
              </a:solidFill>
              <a:latin typeface="Times New Roman"/>
              <a:ea typeface="Times New Roman"/>
              <a:cs typeface="Times New Roman"/>
              <a:sym typeface="Times New Roman"/>
            </a:endParaRPr>
          </a:p>
          <a:p>
            <a:pPr marL="438912" lvl="0" indent="-320040">
              <a:lnSpc>
                <a:spcPct val="105000"/>
              </a:lnSpc>
              <a:buClr>
                <a:schemeClr val="accent1"/>
              </a:buClr>
              <a:buSzPts val="1440"/>
              <a:buFont typeface="Noto Sans Symbols"/>
              <a:buChar char="◼"/>
            </a:pPr>
            <a:r>
              <a:rPr lang="en-US" sz="1800" dirty="0">
                <a:solidFill>
                  <a:schemeClr val="dk1"/>
                </a:solidFill>
                <a:latin typeface="Times New Roman"/>
                <a:ea typeface="Times New Roman"/>
                <a:cs typeface="Times New Roman"/>
                <a:sym typeface="Times New Roman"/>
              </a:rPr>
              <a:t>M. Rooney, A. Chronis-Tuscano, and Y. Yoon, “Substance use in college students with </a:t>
            </a:r>
            <a:r>
              <a:rPr lang="en-US" sz="1800" dirty="0" err="1">
                <a:solidFill>
                  <a:schemeClr val="dk1"/>
                </a:solidFill>
                <a:latin typeface="Times New Roman"/>
                <a:ea typeface="Times New Roman"/>
                <a:cs typeface="Times New Roman"/>
                <a:sym typeface="Times New Roman"/>
              </a:rPr>
              <a:t>adhd</a:t>
            </a:r>
            <a:r>
              <a:rPr lang="en-US" sz="1800" dirty="0">
                <a:solidFill>
                  <a:schemeClr val="dk1"/>
                </a:solidFill>
                <a:latin typeface="Times New Roman"/>
                <a:ea typeface="Times New Roman"/>
                <a:cs typeface="Times New Roman"/>
                <a:sym typeface="Times New Roman"/>
              </a:rPr>
              <a:t>,” Journal of attention disorders, vol. 16, no. 3, pp. 221–234, 2012.</a:t>
            </a:r>
          </a:p>
          <a:p>
            <a:pPr marL="438912" lvl="0" indent="-320040">
              <a:lnSpc>
                <a:spcPct val="105000"/>
              </a:lnSpc>
              <a:buClr>
                <a:schemeClr val="accent1"/>
              </a:buClr>
              <a:buSzPts val="1440"/>
              <a:buFont typeface="Noto Sans Symbols"/>
              <a:buChar char="◼"/>
            </a:pPr>
            <a:endParaRPr lang="en-US" sz="1800" dirty="0">
              <a:solidFill>
                <a:schemeClr val="dk1"/>
              </a:solidFill>
              <a:latin typeface="Times New Roman"/>
              <a:ea typeface="Times New Roman"/>
              <a:cs typeface="Times New Roman"/>
              <a:sym typeface="Times New Roman"/>
            </a:endParaRPr>
          </a:p>
          <a:p>
            <a:pPr marL="438912" lvl="0" indent="-320040">
              <a:lnSpc>
                <a:spcPct val="105000"/>
              </a:lnSpc>
              <a:buClr>
                <a:schemeClr val="accent1"/>
              </a:buClr>
              <a:buSzPts val="1440"/>
              <a:buFont typeface="Noto Sans Symbols"/>
              <a:buChar char="◼"/>
            </a:pPr>
            <a:r>
              <a:rPr lang="en-US" sz="1800" dirty="0">
                <a:solidFill>
                  <a:schemeClr val="dk1"/>
                </a:solidFill>
                <a:latin typeface="Times New Roman"/>
                <a:ea typeface="Times New Roman"/>
                <a:cs typeface="Times New Roman"/>
                <a:sym typeface="Times New Roman"/>
              </a:rPr>
              <a:t>A. Ay, C. C¸ am, A. </a:t>
            </a:r>
            <a:r>
              <a:rPr lang="en-US" sz="1800" dirty="0" err="1">
                <a:solidFill>
                  <a:schemeClr val="dk1"/>
                </a:solidFill>
                <a:latin typeface="Times New Roman"/>
                <a:ea typeface="Times New Roman"/>
                <a:cs typeface="Times New Roman"/>
                <a:sym typeface="Times New Roman"/>
              </a:rPr>
              <a:t>Kılın¸c</a:t>
            </a:r>
            <a:r>
              <a:rPr lang="en-US" sz="1800" dirty="0">
                <a:solidFill>
                  <a:schemeClr val="dk1"/>
                </a:solidFill>
                <a:latin typeface="Times New Roman"/>
                <a:ea typeface="Times New Roman"/>
                <a:cs typeface="Times New Roman"/>
                <a:sym typeface="Times New Roman"/>
              </a:rPr>
              <a:t>, M. F. ¨</a:t>
            </a:r>
            <a:r>
              <a:rPr lang="en-US" sz="1800" dirty="0" err="1">
                <a:solidFill>
                  <a:schemeClr val="dk1"/>
                </a:solidFill>
                <a:latin typeface="Times New Roman"/>
                <a:ea typeface="Times New Roman"/>
                <a:cs typeface="Times New Roman"/>
                <a:sym typeface="Times New Roman"/>
              </a:rPr>
              <a:t>Ons¨uz</a:t>
            </a:r>
            <a:r>
              <a:rPr lang="en-US" sz="1800" dirty="0">
                <a:solidFill>
                  <a:schemeClr val="dk1"/>
                </a:solidFill>
                <a:latin typeface="Times New Roman"/>
                <a:ea typeface="Times New Roman"/>
                <a:cs typeface="Times New Roman"/>
                <a:sym typeface="Times New Roman"/>
              </a:rPr>
              <a:t>, and S. </a:t>
            </a:r>
            <a:r>
              <a:rPr lang="en-US" sz="1800" dirty="0" err="1">
                <a:solidFill>
                  <a:schemeClr val="dk1"/>
                </a:solidFill>
                <a:latin typeface="Times New Roman"/>
                <a:ea typeface="Times New Roman"/>
                <a:cs typeface="Times New Roman"/>
                <a:sym typeface="Times New Roman"/>
              </a:rPr>
              <a:t>Metinta¸s</a:t>
            </a:r>
            <a:r>
              <a:rPr lang="en-US" sz="1800" dirty="0">
                <a:solidFill>
                  <a:schemeClr val="dk1"/>
                </a:solidFill>
                <a:latin typeface="Times New Roman"/>
                <a:ea typeface="Times New Roman"/>
                <a:cs typeface="Times New Roman"/>
                <a:sym typeface="Times New Roman"/>
              </a:rPr>
              <a:t>, “Prevalence of hazardous alcohol consumption and evaluation of associated factors in university students,” Social Psychiatry and Psychiatric Epidemiology, vol. 60, no. 2, pp. 223–233, 2025.</a:t>
            </a:r>
          </a:p>
          <a:p>
            <a:pPr marL="438912" lvl="0" indent="-320040">
              <a:lnSpc>
                <a:spcPct val="105000"/>
              </a:lnSpc>
              <a:buClr>
                <a:schemeClr val="accent1"/>
              </a:buClr>
              <a:buSzPts val="1440"/>
              <a:buFont typeface="Noto Sans Symbols"/>
              <a:buChar char="◼"/>
            </a:pPr>
            <a:endParaRPr lang="en-US" sz="1800" dirty="0">
              <a:solidFill>
                <a:schemeClr val="dk1"/>
              </a:solidFill>
              <a:latin typeface="Times New Roman"/>
              <a:ea typeface="Times New Roman"/>
              <a:cs typeface="Times New Roman"/>
              <a:sym typeface="Times New Roman"/>
            </a:endParaRPr>
          </a:p>
          <a:p>
            <a:pPr marL="438912" lvl="0" indent="-320040">
              <a:lnSpc>
                <a:spcPct val="105000"/>
              </a:lnSpc>
              <a:buClr>
                <a:schemeClr val="accent1"/>
              </a:buClr>
              <a:buSzPts val="1440"/>
              <a:buFont typeface="Noto Sans Symbols"/>
              <a:buChar char="◼"/>
            </a:pPr>
            <a:r>
              <a:rPr lang="en-US" sz="1800" dirty="0">
                <a:solidFill>
                  <a:schemeClr val="dk1"/>
                </a:solidFill>
                <a:latin typeface="Times New Roman"/>
                <a:ea typeface="Times New Roman"/>
                <a:cs typeface="Times New Roman"/>
                <a:sym typeface="Times New Roman"/>
              </a:rPr>
              <a:t>V. Lorant, P. Nicaise, V. E. Soto, and W. </a:t>
            </a:r>
            <a:r>
              <a:rPr lang="en-US" sz="1800" dirty="0" err="1">
                <a:solidFill>
                  <a:schemeClr val="dk1"/>
                </a:solidFill>
                <a:latin typeface="Times New Roman"/>
                <a:ea typeface="Times New Roman"/>
                <a:cs typeface="Times New Roman"/>
                <a:sym typeface="Times New Roman"/>
              </a:rPr>
              <a:t>d’Hoore</a:t>
            </a:r>
            <a:r>
              <a:rPr lang="en-US" sz="1800" dirty="0">
                <a:solidFill>
                  <a:schemeClr val="dk1"/>
                </a:solidFill>
                <a:latin typeface="Times New Roman"/>
                <a:ea typeface="Times New Roman"/>
                <a:cs typeface="Times New Roman"/>
                <a:sym typeface="Times New Roman"/>
              </a:rPr>
              <a:t>, “Alcohol drinking among college students: college responsibility for personal troubles,” BMC Public Health, vol. 13, pp. 1–9, 2013.</a:t>
            </a:r>
          </a:p>
          <a:p>
            <a:pPr marL="438912" lvl="0" indent="-320040">
              <a:lnSpc>
                <a:spcPct val="105000"/>
              </a:lnSpc>
              <a:buClr>
                <a:schemeClr val="accent1"/>
              </a:buClr>
              <a:buSzPts val="1440"/>
              <a:buFont typeface="Noto Sans Symbols"/>
              <a:buChar char="◼"/>
            </a:pPr>
            <a:endParaRPr lang="en-US" sz="1800" dirty="0">
              <a:solidFill>
                <a:schemeClr val="dk1"/>
              </a:solidFill>
              <a:latin typeface="Times New Roman"/>
              <a:ea typeface="Times New Roman"/>
              <a:cs typeface="Times New Roman"/>
              <a:sym typeface="Times New Roman"/>
            </a:endParaRPr>
          </a:p>
          <a:p>
            <a:pPr marL="438912" lvl="0" indent="-320040">
              <a:lnSpc>
                <a:spcPct val="105000"/>
              </a:lnSpc>
              <a:buClr>
                <a:schemeClr val="accent1"/>
              </a:buClr>
              <a:buSzPts val="1440"/>
              <a:buFont typeface="Noto Sans Symbols"/>
              <a:buChar char="◼"/>
            </a:pPr>
            <a:r>
              <a:rPr lang="en-US" sz="1800" dirty="0">
                <a:solidFill>
                  <a:schemeClr val="dk1"/>
                </a:solidFill>
                <a:latin typeface="Times New Roman"/>
                <a:ea typeface="Times New Roman"/>
                <a:cs typeface="Times New Roman"/>
                <a:sym typeface="Times New Roman"/>
              </a:rPr>
              <a:t>A. White and R. Hingson, “The burden of alcohol use: Excessive alcohol consumption and related consequences among college students,” Alcohol Research: Current Reviews, vol. 35, no. 2, p. 201, 2014.</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2"/>
          <p:cNvSpPr txBox="1">
            <a:spLocks noGrp="1"/>
          </p:cNvSpPr>
          <p:nvPr>
            <p:ph type="sldNum" idx="12"/>
          </p:nvPr>
        </p:nvSpPr>
        <p:spPr>
          <a:xfrm>
            <a:off x="8204396" y="6476999"/>
            <a:ext cx="733864" cy="274320"/>
          </a:xfrm>
          <a:prstGeom prst="rect">
            <a:avLst/>
          </a:prstGeom>
          <a:noFill/>
          <a:ln>
            <a:noFill/>
          </a:ln>
        </p:spPr>
        <p:txBody>
          <a:bodyPr spcFirstLastPara="1" wrap="square" lIns="91425" tIns="45700" rIns="91425" bIns="0" anchor="b"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38</a:t>
            </a:fld>
            <a:endParaRPr>
              <a:latin typeface="Times New Roman"/>
              <a:ea typeface="Times New Roman"/>
              <a:cs typeface="Times New Roman"/>
              <a:sym typeface="Times New Roman"/>
            </a:endParaRPr>
          </a:p>
        </p:txBody>
      </p:sp>
      <p:sp>
        <p:nvSpPr>
          <p:cNvPr id="429" name="Google Shape;429;p32"/>
          <p:cNvSpPr txBox="1">
            <a:spLocks noGrp="1"/>
          </p:cNvSpPr>
          <p:nvPr>
            <p:ph type="title"/>
          </p:nvPr>
        </p:nvSpPr>
        <p:spPr>
          <a:xfrm>
            <a:off x="-46714" y="-99060"/>
            <a:ext cx="9144000" cy="1600200"/>
          </a:xfrm>
          <a:prstGeom prst="rect">
            <a:avLst/>
          </a:prstGeom>
          <a:noFill/>
          <a:ln>
            <a:noFill/>
          </a:ln>
        </p:spPr>
        <p:txBody>
          <a:bodyPr spcFirstLastPara="1" wrap="square" lIns="91425" tIns="45700" rIns="45700" bIns="45700" anchor="ctr" anchorCtr="0">
            <a:normAutofit/>
          </a:bodyPr>
          <a:lstStyle/>
          <a:p>
            <a:pPr marL="0" lvl="0" indent="0" algn="ctr" rtl="0">
              <a:spcBef>
                <a:spcPts val="0"/>
              </a:spcBef>
              <a:spcAft>
                <a:spcPts val="0"/>
              </a:spcAft>
              <a:buClr>
                <a:srgbClr val="FFC700"/>
              </a:buClr>
              <a:buSzPts val="3600"/>
              <a:buFont typeface="Times New Roman"/>
              <a:buNone/>
            </a:pPr>
            <a:r>
              <a:rPr lang="en-US" sz="3600"/>
              <a:t>Acknowledgements</a:t>
            </a:r>
            <a:endParaRPr/>
          </a:p>
        </p:txBody>
      </p:sp>
      <p:sp>
        <p:nvSpPr>
          <p:cNvPr id="430" name="Google Shape;430;p32"/>
          <p:cNvSpPr txBox="1"/>
          <p:nvPr/>
        </p:nvSpPr>
        <p:spPr>
          <a:xfrm>
            <a:off x="285319" y="1798983"/>
            <a:ext cx="8573362" cy="4502756"/>
          </a:xfrm>
          <a:prstGeom prst="rect">
            <a:avLst/>
          </a:prstGeom>
          <a:noFill/>
          <a:ln>
            <a:noFill/>
          </a:ln>
        </p:spPr>
        <p:txBody>
          <a:bodyPr spcFirstLastPara="1" wrap="square" lIns="54850" tIns="91425" rIns="91425" bIns="45700" anchor="t" anchorCtr="0">
            <a:normAutofit/>
          </a:bodyPr>
          <a:lstStyle/>
          <a:p>
            <a:pPr marL="118871" marR="0" lvl="0" indent="0" algn="l" rtl="0">
              <a:lnSpc>
                <a:spcPct val="115000"/>
              </a:lnSpc>
              <a:spcBef>
                <a:spcPts val="0"/>
              </a:spcBef>
              <a:spcAft>
                <a:spcPts val="0"/>
              </a:spcAft>
              <a:buClr>
                <a:schemeClr val="accent1"/>
              </a:buClr>
              <a:buSzPts val="1920"/>
              <a:buFont typeface="Noto Sans Symbols"/>
              <a:buNone/>
            </a:pPr>
            <a:r>
              <a:rPr lang="en-US" sz="2400" dirty="0">
                <a:solidFill>
                  <a:schemeClr val="dk1"/>
                </a:solidFill>
                <a:latin typeface="Times New Roman"/>
                <a:ea typeface="Times New Roman"/>
                <a:cs typeface="Times New Roman"/>
                <a:sym typeface="Times New Roman"/>
              </a:rPr>
              <a:t>I would like to thank...</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My parents, Mike and Leslie Watson, for always supporting me and pushing me to strive for excellence</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Dr. Yasser Alginahi, my project supervisor, for his mentorship, time, and support throughout this process</a:t>
            </a:r>
            <a:endParaRPr dirty="0"/>
          </a:p>
          <a:p>
            <a:pPr marL="438912" marR="0" lvl="0" indent="-320040" algn="l" rtl="0">
              <a:lnSpc>
                <a:spcPct val="115000"/>
              </a:lnSpc>
              <a:spcBef>
                <a:spcPts val="1200"/>
              </a:spcBef>
              <a:spcAft>
                <a:spcPts val="0"/>
              </a:spcAft>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Adrian College, for providing research opportunities to </a:t>
            </a:r>
            <a:r>
              <a:rPr lang="en-US" sz="2400" dirty="0" err="1">
                <a:solidFill>
                  <a:schemeClr val="dk1"/>
                </a:solidFill>
                <a:latin typeface="Times New Roman"/>
                <a:ea typeface="Times New Roman"/>
                <a:cs typeface="Times New Roman"/>
                <a:sym typeface="Times New Roman"/>
              </a:rPr>
              <a:t>inquisitve</a:t>
            </a:r>
            <a:r>
              <a:rPr lang="en-US" sz="2400" dirty="0">
                <a:solidFill>
                  <a:schemeClr val="dk1"/>
                </a:solidFill>
                <a:latin typeface="Times New Roman"/>
                <a:ea typeface="Times New Roman"/>
                <a:cs typeface="Times New Roman"/>
                <a:sym typeface="Times New Roman"/>
              </a:rPr>
              <a:t> students</a:t>
            </a:r>
            <a:endParaRPr dirty="0"/>
          </a:p>
          <a:p>
            <a:pPr marL="438912" lvl="0" indent="-320040">
              <a:lnSpc>
                <a:spcPct val="115000"/>
              </a:lnSpc>
              <a:spcBef>
                <a:spcPts val="1200"/>
              </a:spcBef>
              <a:buClr>
                <a:schemeClr val="accent1"/>
              </a:buClr>
              <a:buSzPts val="1920"/>
              <a:buFont typeface="Noto Sans Symbols"/>
              <a:buChar char="◼"/>
            </a:pPr>
            <a:r>
              <a:rPr lang="en-US" sz="2400" dirty="0">
                <a:solidFill>
                  <a:schemeClr val="dk1"/>
                </a:solidFill>
                <a:latin typeface="Times New Roman"/>
                <a:ea typeface="Times New Roman"/>
                <a:cs typeface="Times New Roman"/>
                <a:sym typeface="Times New Roman"/>
              </a:rPr>
              <a:t>The ACHA, for providing the dataset used in this study</a:t>
            </a:r>
            <a:endParaRPr lang="en-US" sz="2400" dirty="0"/>
          </a:p>
          <a:p>
            <a:pPr marL="438912" marR="0" lvl="0" indent="-320040" algn="l" rtl="0">
              <a:lnSpc>
                <a:spcPct val="115000"/>
              </a:lnSpc>
              <a:spcBef>
                <a:spcPts val="1200"/>
              </a:spcBef>
              <a:spcAft>
                <a:spcPts val="1200"/>
              </a:spcAft>
              <a:buClr>
                <a:schemeClr val="accent1"/>
              </a:buClr>
              <a:buSzPts val="1920"/>
              <a:buFont typeface="Noto Sans Symbols"/>
              <a:buChar char="◼"/>
            </a:pPr>
            <a:endParaRPr dirty="0"/>
          </a:p>
        </p:txBody>
      </p:sp>
      <p:pic>
        <p:nvPicPr>
          <p:cNvPr id="431" name="Google Shape;431;p32"/>
          <p:cNvPicPr preferRelativeResize="0"/>
          <p:nvPr/>
        </p:nvPicPr>
        <p:blipFill rotWithShape="1">
          <a:blip r:embed="rId3">
            <a:alphaModFix/>
          </a:blip>
          <a:srcRect/>
          <a:stretch/>
        </p:blipFill>
        <p:spPr>
          <a:xfrm>
            <a:off x="579120" y="228600"/>
            <a:ext cx="1097280" cy="1097280"/>
          </a:xfrm>
          <a:prstGeom prst="rect">
            <a:avLst/>
          </a:prstGeom>
          <a:noFill/>
          <a:ln>
            <a:noFill/>
          </a:ln>
        </p:spPr>
      </p:pic>
    </p:spTree>
  </p:cSld>
  <p:clrMapOvr>
    <a:masterClrMapping/>
  </p:clrMapOvr>
</p:sld>
</file>

<file path=ppt/theme/theme1.xml><?xml version="1.0" encoding="utf-8"?>
<a:theme xmlns:a="http://schemas.openxmlformats.org/drawingml/2006/main"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3625</TotalTime>
  <Words>3785</Words>
  <Application>Microsoft Macintosh PowerPoint</Application>
  <PresentationFormat>On-screen Show (4:3)</PresentationFormat>
  <Paragraphs>455</Paragraphs>
  <Slides>38</Slides>
  <Notes>38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38</vt:i4>
      </vt:variant>
    </vt:vector>
  </HeadingPairs>
  <TitlesOfParts>
    <vt:vector size="44" baseType="lpstr">
      <vt:lpstr>Arial</vt:lpstr>
      <vt:lpstr>Calibri</vt:lpstr>
      <vt:lpstr>Noto Sans Symbols</vt:lpstr>
      <vt:lpstr>Times New Roman</vt:lpstr>
      <vt:lpstr>Module</vt:lpstr>
      <vt:lpstr>Module</vt:lpstr>
      <vt:lpstr>Investigating and Predicting Alcohol Misuse Risk Among American College Students</vt:lpstr>
      <vt:lpstr>Presentation Content</vt:lpstr>
      <vt:lpstr>PowerPoint Presentation</vt:lpstr>
      <vt:lpstr>Introduction &amp; Motivation</vt:lpstr>
      <vt:lpstr>Introduction &amp; Motivation</vt:lpstr>
      <vt:lpstr>Introduction &amp; Motivation</vt:lpstr>
      <vt:lpstr>PowerPoint Presentation</vt:lpstr>
      <vt:lpstr>Methodology</vt:lpstr>
      <vt:lpstr>Methodology (Pipeline)</vt:lpstr>
      <vt:lpstr>Methodology (Data Collection &amp; Profiling)</vt:lpstr>
      <vt:lpstr>Methodology (List of Most Important Variables)</vt:lpstr>
      <vt:lpstr>PowerPoint Presentation</vt:lpstr>
      <vt:lpstr>Methodology (Data Cleaning &amp; Preprocessing)</vt:lpstr>
      <vt:lpstr>Methodology  (Key Demographics)</vt:lpstr>
      <vt:lpstr>Methodology (Key Demographics Cont’d)</vt:lpstr>
      <vt:lpstr>Methodology  (Alcohol-Related Questions)</vt:lpstr>
      <vt:lpstr>Methodology  (Alcohol-Related Questions)</vt:lpstr>
      <vt:lpstr>Methodology (Data Analysis &amp; Visualization)</vt:lpstr>
      <vt:lpstr>Methodology (Data Analysis &amp; Visualization)</vt:lpstr>
      <vt:lpstr>Methodology (Data Analysis &amp; Visualization)</vt:lpstr>
      <vt:lpstr>Methodology (Data Analysis &amp; Visualization)</vt:lpstr>
      <vt:lpstr>Methodology (Data Analysis &amp; Visualization)</vt:lpstr>
      <vt:lpstr>Methodology (Data Analysis &amp; Visualization)</vt:lpstr>
      <vt:lpstr>Model Building &amp; Testing</vt:lpstr>
      <vt:lpstr>Model Building &amp; Testing</vt:lpstr>
      <vt:lpstr>Model Building &amp; Testing</vt:lpstr>
      <vt:lpstr>Model Building &amp; Testing</vt:lpstr>
      <vt:lpstr>PowerPoint Presentation</vt:lpstr>
      <vt:lpstr>PowerPoint Presentation</vt:lpstr>
      <vt:lpstr>PowerPoint Presentation</vt:lpstr>
      <vt:lpstr>Model Building &amp; Testing (Logistic Regression)</vt:lpstr>
      <vt:lpstr>Results &amp; Discussion</vt:lpstr>
      <vt:lpstr>Results &amp; Discussion</vt:lpstr>
      <vt:lpstr>Conclusion</vt:lpstr>
      <vt:lpstr>Connection to Ribbons of Excellence</vt:lpstr>
      <vt:lpstr>Resources</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Massey</dc:creator>
  <cp:lastModifiedBy>Jonah Watson</cp:lastModifiedBy>
  <cp:revision>84</cp:revision>
  <dcterms:created xsi:type="dcterms:W3CDTF">2015-06-03T15:26:42Z</dcterms:created>
  <dcterms:modified xsi:type="dcterms:W3CDTF">2026-01-14T21:11:08Z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12137DB5-308D-4FE9-8EAD-70AB8F3E8035</vt:lpwstr>
  </property>
  <property fmtid="{D5CDD505-2E9C-101B-9397-08002B2CF9AE}" pid="3" name="ArticulatePath">
    <vt:lpwstr>Advising Session Presentation 2021</vt:lpwstr>
  </property>
</Properties>
</file>